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18374D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8374D"/>
                </a:solidFill>
                <a:latin typeface="Open Sans Light"/>
                <a:cs typeface="Open Sans Ligh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18374D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8374D"/>
                </a:solidFill>
                <a:latin typeface="Open Sans Light"/>
                <a:cs typeface="Open Sans Ligh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5E7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18374D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5E7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4682351" y="0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0" y="1171930"/>
                </a:moveTo>
                <a:lnTo>
                  <a:pt x="0" y="0"/>
                </a:lnTo>
                <a:lnTo>
                  <a:pt x="972481" y="585978"/>
                </a:lnTo>
                <a:lnTo>
                  <a:pt x="0" y="1171930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4682351" y="1172413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0" y="1171930"/>
                </a:moveTo>
                <a:lnTo>
                  <a:pt x="0" y="0"/>
                </a:lnTo>
                <a:lnTo>
                  <a:pt x="972481" y="585978"/>
                </a:lnTo>
                <a:lnTo>
                  <a:pt x="0" y="1171930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4682351" y="2344826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0" y="1171956"/>
                </a:moveTo>
                <a:lnTo>
                  <a:pt x="0" y="0"/>
                </a:lnTo>
                <a:lnTo>
                  <a:pt x="972481" y="585978"/>
                </a:lnTo>
                <a:lnTo>
                  <a:pt x="0" y="1171956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4682351" y="3517265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0" y="1171930"/>
                </a:moveTo>
                <a:lnTo>
                  <a:pt x="0" y="0"/>
                </a:lnTo>
                <a:lnTo>
                  <a:pt x="972481" y="585952"/>
                </a:lnTo>
                <a:lnTo>
                  <a:pt x="0" y="1171930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4682351" y="4689678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0" y="1171930"/>
                </a:moveTo>
                <a:lnTo>
                  <a:pt x="0" y="0"/>
                </a:lnTo>
                <a:lnTo>
                  <a:pt x="972481" y="585978"/>
                </a:lnTo>
                <a:lnTo>
                  <a:pt x="0" y="1171930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4682351" y="5862091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09">
                <a:moveTo>
                  <a:pt x="0" y="1171930"/>
                </a:moveTo>
                <a:lnTo>
                  <a:pt x="0" y="0"/>
                </a:lnTo>
                <a:lnTo>
                  <a:pt x="972481" y="585978"/>
                </a:lnTo>
                <a:lnTo>
                  <a:pt x="0" y="1171930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4682351" y="6448069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09">
                <a:moveTo>
                  <a:pt x="972481" y="1171930"/>
                </a:moveTo>
                <a:lnTo>
                  <a:pt x="0" y="585952"/>
                </a:lnTo>
                <a:lnTo>
                  <a:pt x="972481" y="0"/>
                </a:lnTo>
                <a:lnTo>
                  <a:pt x="972481" y="1171930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4682351" y="4103217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972481" y="1171956"/>
                </a:moveTo>
                <a:lnTo>
                  <a:pt x="0" y="585978"/>
                </a:lnTo>
                <a:lnTo>
                  <a:pt x="972481" y="0"/>
                </a:lnTo>
                <a:lnTo>
                  <a:pt x="972481" y="1171956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5654833" y="585989"/>
            <a:ext cx="972819" cy="2344420"/>
          </a:xfrm>
          <a:custGeom>
            <a:avLst/>
            <a:gdLst/>
            <a:ahLst/>
            <a:cxnLst/>
            <a:rect l="l" t="t" r="r" b="b"/>
            <a:pathLst>
              <a:path w="972819" h="2344420">
                <a:moveTo>
                  <a:pt x="972477" y="1758365"/>
                </a:moveTo>
                <a:lnTo>
                  <a:pt x="0" y="1172413"/>
                </a:lnTo>
                <a:lnTo>
                  <a:pt x="0" y="2344343"/>
                </a:lnTo>
                <a:lnTo>
                  <a:pt x="972477" y="1758365"/>
                </a:lnTo>
                <a:close/>
              </a:path>
              <a:path w="972819" h="2344420">
                <a:moveTo>
                  <a:pt x="972477" y="585952"/>
                </a:moveTo>
                <a:lnTo>
                  <a:pt x="0" y="0"/>
                </a:lnTo>
                <a:lnTo>
                  <a:pt x="0" y="1171930"/>
                </a:lnTo>
                <a:lnTo>
                  <a:pt x="972477" y="585952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5654833" y="2344826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972481" y="1171956"/>
                </a:moveTo>
                <a:lnTo>
                  <a:pt x="0" y="585978"/>
                </a:lnTo>
                <a:lnTo>
                  <a:pt x="972481" y="0"/>
                </a:lnTo>
                <a:lnTo>
                  <a:pt x="972481" y="1171956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5654833" y="3517265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972481" y="1171930"/>
                </a:moveTo>
                <a:lnTo>
                  <a:pt x="0" y="585952"/>
                </a:lnTo>
                <a:lnTo>
                  <a:pt x="972481" y="0"/>
                </a:lnTo>
                <a:lnTo>
                  <a:pt x="972481" y="1171930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15654833" y="11"/>
            <a:ext cx="1945005" cy="5861685"/>
          </a:xfrm>
          <a:custGeom>
            <a:avLst/>
            <a:gdLst/>
            <a:ahLst/>
            <a:cxnLst/>
            <a:rect l="l" t="t" r="r" b="b"/>
            <a:pathLst>
              <a:path w="1945005" h="5861685">
                <a:moveTo>
                  <a:pt x="972477" y="4689678"/>
                </a:moveTo>
                <a:lnTo>
                  <a:pt x="0" y="5275656"/>
                </a:lnTo>
                <a:lnTo>
                  <a:pt x="972477" y="5861609"/>
                </a:lnTo>
                <a:lnTo>
                  <a:pt x="972477" y="4689678"/>
                </a:lnTo>
                <a:close/>
              </a:path>
              <a:path w="1945005" h="5861685">
                <a:moveTo>
                  <a:pt x="1944954" y="585978"/>
                </a:moveTo>
                <a:lnTo>
                  <a:pt x="972477" y="0"/>
                </a:lnTo>
                <a:lnTo>
                  <a:pt x="972477" y="1171930"/>
                </a:lnTo>
                <a:lnTo>
                  <a:pt x="1944954" y="585978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16627315" y="2344826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0" y="1171956"/>
                </a:moveTo>
                <a:lnTo>
                  <a:pt x="0" y="0"/>
                </a:lnTo>
                <a:lnTo>
                  <a:pt x="972481" y="585978"/>
                </a:lnTo>
                <a:lnTo>
                  <a:pt x="0" y="1171956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16627310" y="585989"/>
            <a:ext cx="972819" cy="3517265"/>
          </a:xfrm>
          <a:custGeom>
            <a:avLst/>
            <a:gdLst/>
            <a:ahLst/>
            <a:cxnLst/>
            <a:rect l="l" t="t" r="r" b="b"/>
            <a:pathLst>
              <a:path w="972819" h="3517265">
                <a:moveTo>
                  <a:pt x="972477" y="2344826"/>
                </a:moveTo>
                <a:lnTo>
                  <a:pt x="0" y="2930804"/>
                </a:lnTo>
                <a:lnTo>
                  <a:pt x="972477" y="3516757"/>
                </a:lnTo>
                <a:lnTo>
                  <a:pt x="972477" y="2344826"/>
                </a:lnTo>
                <a:close/>
              </a:path>
              <a:path w="972819" h="3517265">
                <a:moveTo>
                  <a:pt x="972477" y="0"/>
                </a:moveTo>
                <a:lnTo>
                  <a:pt x="0" y="585952"/>
                </a:lnTo>
                <a:lnTo>
                  <a:pt x="972477" y="1171930"/>
                </a:lnTo>
                <a:lnTo>
                  <a:pt x="972477" y="0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17599787" y="171296"/>
            <a:ext cx="688340" cy="2759075"/>
          </a:xfrm>
          <a:custGeom>
            <a:avLst/>
            <a:gdLst/>
            <a:ahLst/>
            <a:cxnLst/>
            <a:rect l="l" t="t" r="r" b="b"/>
            <a:pathLst>
              <a:path w="688340" h="2759075">
                <a:moveTo>
                  <a:pt x="688200" y="2001761"/>
                </a:moveTo>
                <a:lnTo>
                  <a:pt x="0" y="1587093"/>
                </a:lnTo>
                <a:lnTo>
                  <a:pt x="0" y="2759024"/>
                </a:lnTo>
                <a:lnTo>
                  <a:pt x="688200" y="2344343"/>
                </a:lnTo>
                <a:lnTo>
                  <a:pt x="688200" y="2001761"/>
                </a:lnTo>
                <a:close/>
              </a:path>
              <a:path w="688340" h="2759075">
                <a:moveTo>
                  <a:pt x="688200" y="0"/>
                </a:moveTo>
                <a:lnTo>
                  <a:pt x="0" y="414680"/>
                </a:lnTo>
                <a:lnTo>
                  <a:pt x="688200" y="829348"/>
                </a:lnTo>
                <a:lnTo>
                  <a:pt x="688200" y="0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7599797" y="1343707"/>
            <a:ext cx="688340" cy="829944"/>
          </a:xfrm>
          <a:custGeom>
            <a:avLst/>
            <a:gdLst/>
            <a:ahLst/>
            <a:cxnLst/>
            <a:rect l="l" t="t" r="r" b="b"/>
            <a:pathLst>
              <a:path w="688340" h="829944">
                <a:moveTo>
                  <a:pt x="688202" y="829347"/>
                </a:moveTo>
                <a:lnTo>
                  <a:pt x="0" y="414682"/>
                </a:lnTo>
                <a:lnTo>
                  <a:pt x="688202" y="0"/>
                </a:lnTo>
                <a:lnTo>
                  <a:pt x="688202" y="829347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bg 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0590" y="8806876"/>
            <a:ext cx="3667124" cy="9048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18374D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5E7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4682351" y="0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0" y="1171930"/>
                </a:moveTo>
                <a:lnTo>
                  <a:pt x="0" y="0"/>
                </a:lnTo>
                <a:lnTo>
                  <a:pt x="972481" y="585978"/>
                </a:lnTo>
                <a:lnTo>
                  <a:pt x="0" y="1171930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4682351" y="1172413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0" y="1171930"/>
                </a:moveTo>
                <a:lnTo>
                  <a:pt x="0" y="0"/>
                </a:lnTo>
                <a:lnTo>
                  <a:pt x="972481" y="585978"/>
                </a:lnTo>
                <a:lnTo>
                  <a:pt x="0" y="1171930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4682351" y="2344826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0" y="1171956"/>
                </a:moveTo>
                <a:lnTo>
                  <a:pt x="0" y="0"/>
                </a:lnTo>
                <a:lnTo>
                  <a:pt x="972481" y="585978"/>
                </a:lnTo>
                <a:lnTo>
                  <a:pt x="0" y="1171956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4682351" y="3517265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0" y="1171930"/>
                </a:moveTo>
                <a:lnTo>
                  <a:pt x="0" y="0"/>
                </a:lnTo>
                <a:lnTo>
                  <a:pt x="972481" y="585952"/>
                </a:lnTo>
                <a:lnTo>
                  <a:pt x="0" y="1171930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4682351" y="4689678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0" y="1171930"/>
                </a:moveTo>
                <a:lnTo>
                  <a:pt x="0" y="0"/>
                </a:lnTo>
                <a:lnTo>
                  <a:pt x="972481" y="585978"/>
                </a:lnTo>
                <a:lnTo>
                  <a:pt x="0" y="1171930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4682351" y="5862091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09">
                <a:moveTo>
                  <a:pt x="0" y="1171930"/>
                </a:moveTo>
                <a:lnTo>
                  <a:pt x="0" y="0"/>
                </a:lnTo>
                <a:lnTo>
                  <a:pt x="972481" y="585978"/>
                </a:lnTo>
                <a:lnTo>
                  <a:pt x="0" y="1171930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4682351" y="6448069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09">
                <a:moveTo>
                  <a:pt x="972481" y="1171930"/>
                </a:moveTo>
                <a:lnTo>
                  <a:pt x="0" y="585952"/>
                </a:lnTo>
                <a:lnTo>
                  <a:pt x="972481" y="0"/>
                </a:lnTo>
                <a:lnTo>
                  <a:pt x="972481" y="1171930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4682351" y="4103217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972481" y="1171956"/>
                </a:moveTo>
                <a:lnTo>
                  <a:pt x="0" y="585978"/>
                </a:lnTo>
                <a:lnTo>
                  <a:pt x="972481" y="0"/>
                </a:lnTo>
                <a:lnTo>
                  <a:pt x="972481" y="1171956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5654833" y="585989"/>
            <a:ext cx="972819" cy="2344420"/>
          </a:xfrm>
          <a:custGeom>
            <a:avLst/>
            <a:gdLst/>
            <a:ahLst/>
            <a:cxnLst/>
            <a:rect l="l" t="t" r="r" b="b"/>
            <a:pathLst>
              <a:path w="972819" h="2344420">
                <a:moveTo>
                  <a:pt x="972477" y="1758365"/>
                </a:moveTo>
                <a:lnTo>
                  <a:pt x="0" y="1172413"/>
                </a:lnTo>
                <a:lnTo>
                  <a:pt x="0" y="2344343"/>
                </a:lnTo>
                <a:lnTo>
                  <a:pt x="972477" y="1758365"/>
                </a:lnTo>
                <a:close/>
              </a:path>
              <a:path w="972819" h="2344420">
                <a:moveTo>
                  <a:pt x="972477" y="585952"/>
                </a:moveTo>
                <a:lnTo>
                  <a:pt x="0" y="0"/>
                </a:lnTo>
                <a:lnTo>
                  <a:pt x="0" y="1171930"/>
                </a:lnTo>
                <a:lnTo>
                  <a:pt x="972477" y="585952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5654833" y="2344826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972481" y="1171956"/>
                </a:moveTo>
                <a:lnTo>
                  <a:pt x="0" y="585978"/>
                </a:lnTo>
                <a:lnTo>
                  <a:pt x="972481" y="0"/>
                </a:lnTo>
                <a:lnTo>
                  <a:pt x="972481" y="1171956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5654833" y="3517265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972481" y="1171930"/>
                </a:moveTo>
                <a:lnTo>
                  <a:pt x="0" y="585952"/>
                </a:lnTo>
                <a:lnTo>
                  <a:pt x="972481" y="0"/>
                </a:lnTo>
                <a:lnTo>
                  <a:pt x="972481" y="1171930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15654833" y="11"/>
            <a:ext cx="1945005" cy="5861685"/>
          </a:xfrm>
          <a:custGeom>
            <a:avLst/>
            <a:gdLst/>
            <a:ahLst/>
            <a:cxnLst/>
            <a:rect l="l" t="t" r="r" b="b"/>
            <a:pathLst>
              <a:path w="1945005" h="5861685">
                <a:moveTo>
                  <a:pt x="972477" y="4689678"/>
                </a:moveTo>
                <a:lnTo>
                  <a:pt x="0" y="5275656"/>
                </a:lnTo>
                <a:lnTo>
                  <a:pt x="972477" y="5861609"/>
                </a:lnTo>
                <a:lnTo>
                  <a:pt x="972477" y="4689678"/>
                </a:lnTo>
                <a:close/>
              </a:path>
              <a:path w="1945005" h="5861685">
                <a:moveTo>
                  <a:pt x="1944954" y="585978"/>
                </a:moveTo>
                <a:lnTo>
                  <a:pt x="972477" y="0"/>
                </a:lnTo>
                <a:lnTo>
                  <a:pt x="972477" y="1171930"/>
                </a:lnTo>
                <a:lnTo>
                  <a:pt x="1944954" y="585978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16627315" y="2344826"/>
            <a:ext cx="972819" cy="1172210"/>
          </a:xfrm>
          <a:custGeom>
            <a:avLst/>
            <a:gdLst/>
            <a:ahLst/>
            <a:cxnLst/>
            <a:rect l="l" t="t" r="r" b="b"/>
            <a:pathLst>
              <a:path w="972819" h="1172210">
                <a:moveTo>
                  <a:pt x="0" y="1171956"/>
                </a:moveTo>
                <a:lnTo>
                  <a:pt x="0" y="0"/>
                </a:lnTo>
                <a:lnTo>
                  <a:pt x="972481" y="585978"/>
                </a:lnTo>
                <a:lnTo>
                  <a:pt x="0" y="1171956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16627310" y="585989"/>
            <a:ext cx="972819" cy="3517265"/>
          </a:xfrm>
          <a:custGeom>
            <a:avLst/>
            <a:gdLst/>
            <a:ahLst/>
            <a:cxnLst/>
            <a:rect l="l" t="t" r="r" b="b"/>
            <a:pathLst>
              <a:path w="972819" h="3517265">
                <a:moveTo>
                  <a:pt x="972477" y="2344826"/>
                </a:moveTo>
                <a:lnTo>
                  <a:pt x="0" y="2930804"/>
                </a:lnTo>
                <a:lnTo>
                  <a:pt x="972477" y="3516757"/>
                </a:lnTo>
                <a:lnTo>
                  <a:pt x="972477" y="2344826"/>
                </a:lnTo>
                <a:close/>
              </a:path>
              <a:path w="972819" h="3517265">
                <a:moveTo>
                  <a:pt x="972477" y="0"/>
                </a:moveTo>
                <a:lnTo>
                  <a:pt x="0" y="585952"/>
                </a:lnTo>
                <a:lnTo>
                  <a:pt x="972477" y="1171930"/>
                </a:lnTo>
                <a:lnTo>
                  <a:pt x="972477" y="0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17599787" y="171296"/>
            <a:ext cx="688340" cy="2759075"/>
          </a:xfrm>
          <a:custGeom>
            <a:avLst/>
            <a:gdLst/>
            <a:ahLst/>
            <a:cxnLst/>
            <a:rect l="l" t="t" r="r" b="b"/>
            <a:pathLst>
              <a:path w="688340" h="2759075">
                <a:moveTo>
                  <a:pt x="688200" y="2001761"/>
                </a:moveTo>
                <a:lnTo>
                  <a:pt x="0" y="1587093"/>
                </a:lnTo>
                <a:lnTo>
                  <a:pt x="0" y="2759024"/>
                </a:lnTo>
                <a:lnTo>
                  <a:pt x="688200" y="2344343"/>
                </a:lnTo>
                <a:lnTo>
                  <a:pt x="688200" y="2001761"/>
                </a:lnTo>
                <a:close/>
              </a:path>
              <a:path w="688340" h="2759075">
                <a:moveTo>
                  <a:pt x="688200" y="0"/>
                </a:moveTo>
                <a:lnTo>
                  <a:pt x="0" y="414680"/>
                </a:lnTo>
                <a:lnTo>
                  <a:pt x="688200" y="829348"/>
                </a:lnTo>
                <a:lnTo>
                  <a:pt x="688200" y="0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7599797" y="1343707"/>
            <a:ext cx="688340" cy="829944"/>
          </a:xfrm>
          <a:custGeom>
            <a:avLst/>
            <a:gdLst/>
            <a:ahLst/>
            <a:cxnLst/>
            <a:rect l="l" t="t" r="r" b="b"/>
            <a:pathLst>
              <a:path w="688340" h="829944">
                <a:moveTo>
                  <a:pt x="688202" y="829347"/>
                </a:moveTo>
                <a:lnTo>
                  <a:pt x="0" y="414682"/>
                </a:lnTo>
                <a:lnTo>
                  <a:pt x="688202" y="0"/>
                </a:lnTo>
                <a:lnTo>
                  <a:pt x="688202" y="829347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966469"/>
            <a:ext cx="16256000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18374D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653167"/>
            <a:ext cx="12637135" cy="414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8374D"/>
                </a:solidFill>
                <a:latin typeface="Open Sans Light"/>
                <a:cs typeface="Open Sans Ligh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png"/><Relationship Id="rId3" Type="http://schemas.openxmlformats.org/officeDocument/2006/relationships/image" Target="../media/image37.jpg"/><Relationship Id="rId4" Type="http://schemas.openxmlformats.org/officeDocument/2006/relationships/image" Target="../media/image38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hyperlink" Target="mailto:warehouses@khepri.com" TargetMode="External"/><Relationship Id="rId4" Type="http://schemas.openxmlformats.org/officeDocument/2006/relationships/hyperlink" Target="https://wms-frontend-production-296e.up.railway.app/" TargetMode="External"/><Relationship Id="rId5" Type="http://schemas.openxmlformats.org/officeDocument/2006/relationships/image" Target="../media/image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5E7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857885" cy="882015"/>
          </a:xfrm>
          <a:custGeom>
            <a:avLst/>
            <a:gdLst/>
            <a:ahLst/>
            <a:cxnLst/>
            <a:rect l="l" t="t" r="r" b="b"/>
            <a:pathLst>
              <a:path w="857885" h="882015">
                <a:moveTo>
                  <a:pt x="0" y="881552"/>
                </a:moveTo>
                <a:lnTo>
                  <a:pt x="0" y="0"/>
                </a:lnTo>
                <a:lnTo>
                  <a:pt x="251926" y="0"/>
                </a:lnTo>
                <a:lnTo>
                  <a:pt x="857412" y="364879"/>
                </a:lnTo>
                <a:lnTo>
                  <a:pt x="0" y="881552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4811355"/>
            <a:ext cx="857885" cy="1033780"/>
          </a:xfrm>
          <a:custGeom>
            <a:avLst/>
            <a:gdLst/>
            <a:ahLst/>
            <a:cxnLst/>
            <a:rect l="l" t="t" r="r" b="b"/>
            <a:pathLst>
              <a:path w="857885" h="1033779">
                <a:moveTo>
                  <a:pt x="0" y="1033368"/>
                </a:moveTo>
                <a:lnTo>
                  <a:pt x="0" y="0"/>
                </a:lnTo>
                <a:lnTo>
                  <a:pt x="857412" y="516673"/>
                </a:lnTo>
                <a:lnTo>
                  <a:pt x="0" y="1033368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0" y="364879"/>
            <a:ext cx="857885" cy="4963160"/>
            <a:chOff x="0" y="364879"/>
            <a:chExt cx="857885" cy="4963160"/>
          </a:xfrm>
        </p:grpSpPr>
        <p:sp>
          <p:nvSpPr>
            <p:cNvPr id="8" name="object 8"/>
            <p:cNvSpPr/>
            <p:nvPr/>
          </p:nvSpPr>
          <p:spPr>
            <a:xfrm>
              <a:off x="0" y="364879"/>
              <a:ext cx="857885" cy="1654810"/>
            </a:xfrm>
            <a:custGeom>
              <a:avLst/>
              <a:gdLst/>
              <a:ahLst/>
              <a:cxnLst/>
              <a:rect l="l" t="t" r="r" b="b"/>
              <a:pathLst>
                <a:path w="857885" h="1654810">
                  <a:moveTo>
                    <a:pt x="857412" y="1654383"/>
                  </a:moveTo>
                  <a:lnTo>
                    <a:pt x="0" y="1137687"/>
                  </a:lnTo>
                  <a:lnTo>
                    <a:pt x="0" y="516673"/>
                  </a:lnTo>
                  <a:lnTo>
                    <a:pt x="857412" y="0"/>
                  </a:lnTo>
                  <a:lnTo>
                    <a:pt x="857412" y="1654383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2019262"/>
              <a:ext cx="857885" cy="1654810"/>
            </a:xfrm>
            <a:custGeom>
              <a:avLst/>
              <a:gdLst/>
              <a:ahLst/>
              <a:cxnLst/>
              <a:rect l="l" t="t" r="r" b="b"/>
              <a:pathLst>
                <a:path w="857885" h="1654810">
                  <a:moveTo>
                    <a:pt x="857412" y="1654382"/>
                  </a:moveTo>
                  <a:lnTo>
                    <a:pt x="0" y="1137687"/>
                  </a:lnTo>
                  <a:lnTo>
                    <a:pt x="0" y="516673"/>
                  </a:lnTo>
                  <a:lnTo>
                    <a:pt x="857412" y="0"/>
                  </a:lnTo>
                  <a:lnTo>
                    <a:pt x="857412" y="165438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673645"/>
              <a:ext cx="857885" cy="1654810"/>
            </a:xfrm>
            <a:custGeom>
              <a:avLst/>
              <a:gdLst/>
              <a:ahLst/>
              <a:cxnLst/>
              <a:rect l="l" t="t" r="r" b="b"/>
              <a:pathLst>
                <a:path w="857885" h="1654810">
                  <a:moveTo>
                    <a:pt x="857412" y="1654383"/>
                  </a:moveTo>
                  <a:lnTo>
                    <a:pt x="0" y="1137710"/>
                  </a:lnTo>
                  <a:lnTo>
                    <a:pt x="0" y="516695"/>
                  </a:lnTo>
                  <a:lnTo>
                    <a:pt x="857412" y="0"/>
                  </a:lnTo>
                  <a:lnTo>
                    <a:pt x="857412" y="1654383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857412" y="1192052"/>
            <a:ext cx="1372870" cy="1654810"/>
          </a:xfrm>
          <a:custGeom>
            <a:avLst/>
            <a:gdLst/>
            <a:ahLst/>
            <a:cxnLst/>
            <a:rect l="l" t="t" r="r" b="b"/>
            <a:pathLst>
              <a:path w="1372870" h="1654810">
                <a:moveTo>
                  <a:pt x="1372683" y="1654383"/>
                </a:moveTo>
                <a:lnTo>
                  <a:pt x="0" y="827209"/>
                </a:lnTo>
                <a:lnTo>
                  <a:pt x="1372683" y="0"/>
                </a:lnTo>
                <a:lnTo>
                  <a:pt x="1372683" y="1654383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857412" y="0"/>
            <a:ext cx="2745740" cy="3674110"/>
            <a:chOff x="857412" y="0"/>
            <a:chExt cx="2745740" cy="3674110"/>
          </a:xfrm>
        </p:grpSpPr>
        <p:sp>
          <p:nvSpPr>
            <p:cNvPr id="17" name="object 17"/>
            <p:cNvSpPr/>
            <p:nvPr/>
          </p:nvSpPr>
          <p:spPr>
            <a:xfrm>
              <a:off x="857412" y="364879"/>
              <a:ext cx="1372870" cy="1654810"/>
            </a:xfrm>
            <a:custGeom>
              <a:avLst/>
              <a:gdLst/>
              <a:ahLst/>
              <a:cxnLst/>
              <a:rect l="l" t="t" r="r" b="b"/>
              <a:pathLst>
                <a:path w="1372870" h="1654810">
                  <a:moveTo>
                    <a:pt x="0" y="1654383"/>
                  </a:moveTo>
                  <a:lnTo>
                    <a:pt x="0" y="0"/>
                  </a:lnTo>
                  <a:lnTo>
                    <a:pt x="1372683" y="827173"/>
                  </a:lnTo>
                  <a:lnTo>
                    <a:pt x="0" y="1654383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57412" y="2019262"/>
              <a:ext cx="1372870" cy="1654810"/>
            </a:xfrm>
            <a:custGeom>
              <a:avLst/>
              <a:gdLst/>
              <a:ahLst/>
              <a:cxnLst/>
              <a:rect l="l" t="t" r="r" b="b"/>
              <a:pathLst>
                <a:path w="1372870" h="1654810">
                  <a:moveTo>
                    <a:pt x="0" y="1654382"/>
                  </a:moveTo>
                  <a:lnTo>
                    <a:pt x="0" y="0"/>
                  </a:lnTo>
                  <a:lnTo>
                    <a:pt x="1372683" y="827173"/>
                  </a:lnTo>
                  <a:lnTo>
                    <a:pt x="0" y="1654382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230131" y="0"/>
              <a:ext cx="1372870" cy="1192530"/>
            </a:xfrm>
            <a:custGeom>
              <a:avLst/>
              <a:gdLst/>
              <a:ahLst/>
              <a:cxnLst/>
              <a:rect l="l" t="t" r="r" b="b"/>
              <a:pathLst>
                <a:path w="1372870" h="1192530">
                  <a:moveTo>
                    <a:pt x="0" y="1192052"/>
                  </a:moveTo>
                  <a:lnTo>
                    <a:pt x="0" y="0"/>
                  </a:lnTo>
                  <a:lnTo>
                    <a:pt x="767197" y="0"/>
                  </a:lnTo>
                  <a:lnTo>
                    <a:pt x="1372683" y="364879"/>
                  </a:lnTo>
                  <a:lnTo>
                    <a:pt x="0" y="1192052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/>
          <p:nvPr/>
        </p:nvSpPr>
        <p:spPr>
          <a:xfrm>
            <a:off x="3602815" y="0"/>
            <a:ext cx="1372870" cy="1192530"/>
          </a:xfrm>
          <a:custGeom>
            <a:avLst/>
            <a:gdLst/>
            <a:ahLst/>
            <a:cxnLst/>
            <a:rect l="l" t="t" r="r" b="b"/>
            <a:pathLst>
              <a:path w="1372870" h="1192530">
                <a:moveTo>
                  <a:pt x="1372683" y="1192052"/>
                </a:moveTo>
                <a:lnTo>
                  <a:pt x="0" y="364879"/>
                </a:lnTo>
                <a:lnTo>
                  <a:pt x="605485" y="0"/>
                </a:lnTo>
                <a:lnTo>
                  <a:pt x="1372683" y="0"/>
                </a:lnTo>
                <a:lnTo>
                  <a:pt x="1372683" y="1192052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6465738"/>
            <a:ext cx="857885" cy="1033780"/>
          </a:xfrm>
          <a:custGeom>
            <a:avLst/>
            <a:gdLst/>
            <a:ahLst/>
            <a:cxnLst/>
            <a:rect l="l" t="t" r="r" b="b"/>
            <a:pathLst>
              <a:path w="857885" h="1033779">
                <a:moveTo>
                  <a:pt x="0" y="1033368"/>
                </a:moveTo>
                <a:lnTo>
                  <a:pt x="0" y="0"/>
                </a:lnTo>
                <a:lnTo>
                  <a:pt x="857412" y="516673"/>
                </a:lnTo>
                <a:lnTo>
                  <a:pt x="0" y="1033368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8120135"/>
            <a:ext cx="857885" cy="1033780"/>
          </a:xfrm>
          <a:custGeom>
            <a:avLst/>
            <a:gdLst/>
            <a:ahLst/>
            <a:cxnLst/>
            <a:rect l="l" t="t" r="r" b="b"/>
            <a:pathLst>
              <a:path w="857885" h="1033779">
                <a:moveTo>
                  <a:pt x="0" y="1033368"/>
                </a:moveTo>
                <a:lnTo>
                  <a:pt x="0" y="0"/>
                </a:lnTo>
                <a:lnTo>
                  <a:pt x="857412" y="516695"/>
                </a:lnTo>
                <a:lnTo>
                  <a:pt x="0" y="1033368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8636830"/>
            <a:ext cx="857885" cy="1650364"/>
          </a:xfrm>
          <a:custGeom>
            <a:avLst/>
            <a:gdLst/>
            <a:ahLst/>
            <a:cxnLst/>
            <a:rect l="l" t="t" r="r" b="b"/>
            <a:pathLst>
              <a:path w="857885" h="1650365">
                <a:moveTo>
                  <a:pt x="857412" y="1650169"/>
                </a:moveTo>
                <a:lnTo>
                  <a:pt x="850419" y="1650169"/>
                </a:lnTo>
                <a:lnTo>
                  <a:pt x="0" y="1137688"/>
                </a:lnTo>
                <a:lnTo>
                  <a:pt x="0" y="516673"/>
                </a:lnTo>
                <a:lnTo>
                  <a:pt x="857412" y="0"/>
                </a:lnTo>
                <a:lnTo>
                  <a:pt x="857412" y="1650169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857412" y="4500855"/>
            <a:ext cx="1372870" cy="4963160"/>
            <a:chOff x="857412" y="4500855"/>
            <a:chExt cx="1372870" cy="4963160"/>
          </a:xfrm>
        </p:grpSpPr>
        <p:sp>
          <p:nvSpPr>
            <p:cNvPr id="14" name="object 14"/>
            <p:cNvSpPr/>
            <p:nvPr/>
          </p:nvSpPr>
          <p:spPr>
            <a:xfrm>
              <a:off x="857412" y="4500855"/>
              <a:ext cx="1372870" cy="1654810"/>
            </a:xfrm>
            <a:custGeom>
              <a:avLst/>
              <a:gdLst/>
              <a:ahLst/>
              <a:cxnLst/>
              <a:rect l="l" t="t" r="r" b="b"/>
              <a:pathLst>
                <a:path w="1372870" h="1654810">
                  <a:moveTo>
                    <a:pt x="1372683" y="1654382"/>
                  </a:moveTo>
                  <a:lnTo>
                    <a:pt x="0" y="827173"/>
                  </a:lnTo>
                  <a:lnTo>
                    <a:pt x="1372683" y="0"/>
                  </a:lnTo>
                  <a:lnTo>
                    <a:pt x="1372683" y="165438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57402" y="6155245"/>
              <a:ext cx="1372870" cy="3308985"/>
            </a:xfrm>
            <a:custGeom>
              <a:avLst/>
              <a:gdLst/>
              <a:ahLst/>
              <a:cxnLst/>
              <a:rect l="l" t="t" r="r" b="b"/>
              <a:pathLst>
                <a:path w="1372870" h="3308984">
                  <a:moveTo>
                    <a:pt x="1372692" y="1654378"/>
                  </a:moveTo>
                  <a:lnTo>
                    <a:pt x="0" y="2481592"/>
                  </a:lnTo>
                  <a:lnTo>
                    <a:pt x="1372692" y="3308769"/>
                  </a:lnTo>
                  <a:lnTo>
                    <a:pt x="1372692" y="1654378"/>
                  </a:lnTo>
                  <a:close/>
                </a:path>
                <a:path w="1372870" h="3308984">
                  <a:moveTo>
                    <a:pt x="1372692" y="0"/>
                  </a:moveTo>
                  <a:lnTo>
                    <a:pt x="0" y="827176"/>
                  </a:lnTo>
                  <a:lnTo>
                    <a:pt x="1372692" y="1654378"/>
                  </a:lnTo>
                  <a:lnTo>
                    <a:pt x="1372692" y="0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2230131" y="4500855"/>
            <a:ext cx="1372870" cy="1654810"/>
          </a:xfrm>
          <a:custGeom>
            <a:avLst/>
            <a:gdLst/>
            <a:ahLst/>
            <a:cxnLst/>
            <a:rect l="l" t="t" r="r" b="b"/>
            <a:pathLst>
              <a:path w="1372870" h="1654810">
                <a:moveTo>
                  <a:pt x="0" y="1654382"/>
                </a:moveTo>
                <a:lnTo>
                  <a:pt x="0" y="0"/>
                </a:lnTo>
                <a:lnTo>
                  <a:pt x="1372683" y="827173"/>
                </a:lnTo>
                <a:lnTo>
                  <a:pt x="0" y="1654382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2230131" y="2019262"/>
            <a:ext cx="1372870" cy="3308985"/>
            <a:chOff x="2230131" y="2019262"/>
            <a:chExt cx="1372870" cy="3308985"/>
          </a:xfrm>
        </p:grpSpPr>
        <p:sp>
          <p:nvSpPr>
            <p:cNvPr id="23" name="object 23"/>
            <p:cNvSpPr/>
            <p:nvPr/>
          </p:nvSpPr>
          <p:spPr>
            <a:xfrm>
              <a:off x="2230131" y="2019262"/>
              <a:ext cx="1372870" cy="1654810"/>
            </a:xfrm>
            <a:custGeom>
              <a:avLst/>
              <a:gdLst/>
              <a:ahLst/>
              <a:cxnLst/>
              <a:rect l="l" t="t" r="r" b="b"/>
              <a:pathLst>
                <a:path w="1372870" h="1654810">
                  <a:moveTo>
                    <a:pt x="1372683" y="1654382"/>
                  </a:moveTo>
                  <a:lnTo>
                    <a:pt x="0" y="827173"/>
                  </a:lnTo>
                  <a:lnTo>
                    <a:pt x="1372683" y="0"/>
                  </a:lnTo>
                  <a:lnTo>
                    <a:pt x="1372683" y="165438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230131" y="3673645"/>
              <a:ext cx="1372870" cy="1654810"/>
            </a:xfrm>
            <a:custGeom>
              <a:avLst/>
              <a:gdLst/>
              <a:ahLst/>
              <a:cxnLst/>
              <a:rect l="l" t="t" r="r" b="b"/>
              <a:pathLst>
                <a:path w="1372870" h="1654810">
                  <a:moveTo>
                    <a:pt x="1372683" y="1654383"/>
                  </a:moveTo>
                  <a:lnTo>
                    <a:pt x="0" y="827209"/>
                  </a:lnTo>
                  <a:lnTo>
                    <a:pt x="1372683" y="0"/>
                  </a:lnTo>
                  <a:lnTo>
                    <a:pt x="1372683" y="1654383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/>
          <p:nvPr/>
        </p:nvSpPr>
        <p:spPr>
          <a:xfrm>
            <a:off x="3602815" y="2846435"/>
            <a:ext cx="1372870" cy="1654810"/>
          </a:xfrm>
          <a:custGeom>
            <a:avLst/>
            <a:gdLst/>
            <a:ahLst/>
            <a:cxnLst/>
            <a:rect l="l" t="t" r="r" b="b"/>
            <a:pathLst>
              <a:path w="1372870" h="1654810">
                <a:moveTo>
                  <a:pt x="1372683" y="1654419"/>
                </a:moveTo>
                <a:lnTo>
                  <a:pt x="0" y="827209"/>
                </a:lnTo>
                <a:lnTo>
                  <a:pt x="1372683" y="0"/>
                </a:lnTo>
                <a:lnTo>
                  <a:pt x="1372683" y="1654419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3602815" y="0"/>
            <a:ext cx="4118610" cy="4500880"/>
            <a:chOff x="3602815" y="0"/>
            <a:chExt cx="4118610" cy="4500880"/>
          </a:xfrm>
        </p:grpSpPr>
        <p:sp>
          <p:nvSpPr>
            <p:cNvPr id="28" name="object 28"/>
            <p:cNvSpPr/>
            <p:nvPr/>
          </p:nvSpPr>
          <p:spPr>
            <a:xfrm>
              <a:off x="3602815" y="364879"/>
              <a:ext cx="1372870" cy="1654810"/>
            </a:xfrm>
            <a:custGeom>
              <a:avLst/>
              <a:gdLst/>
              <a:ahLst/>
              <a:cxnLst/>
              <a:rect l="l" t="t" r="r" b="b"/>
              <a:pathLst>
                <a:path w="1372870" h="1654810">
                  <a:moveTo>
                    <a:pt x="0" y="1654383"/>
                  </a:moveTo>
                  <a:lnTo>
                    <a:pt x="0" y="0"/>
                  </a:lnTo>
                  <a:lnTo>
                    <a:pt x="1372683" y="827173"/>
                  </a:lnTo>
                  <a:lnTo>
                    <a:pt x="0" y="1654383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02815" y="2019262"/>
              <a:ext cx="1372870" cy="1654810"/>
            </a:xfrm>
            <a:custGeom>
              <a:avLst/>
              <a:gdLst/>
              <a:ahLst/>
              <a:cxnLst/>
              <a:rect l="l" t="t" r="r" b="b"/>
              <a:pathLst>
                <a:path w="1372870" h="1654810">
                  <a:moveTo>
                    <a:pt x="0" y="1654382"/>
                  </a:moveTo>
                  <a:lnTo>
                    <a:pt x="0" y="0"/>
                  </a:lnTo>
                  <a:lnTo>
                    <a:pt x="1372683" y="827173"/>
                  </a:lnTo>
                  <a:lnTo>
                    <a:pt x="0" y="1654382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975491" y="1192059"/>
              <a:ext cx="1372870" cy="3308985"/>
            </a:xfrm>
            <a:custGeom>
              <a:avLst/>
              <a:gdLst/>
              <a:ahLst/>
              <a:cxnLst/>
              <a:rect l="l" t="t" r="r" b="b"/>
              <a:pathLst>
                <a:path w="1372870" h="3308985">
                  <a:moveTo>
                    <a:pt x="1372679" y="2481592"/>
                  </a:moveTo>
                  <a:lnTo>
                    <a:pt x="0" y="1654378"/>
                  </a:lnTo>
                  <a:lnTo>
                    <a:pt x="0" y="3308807"/>
                  </a:lnTo>
                  <a:lnTo>
                    <a:pt x="1372679" y="2481592"/>
                  </a:lnTo>
                  <a:close/>
                </a:path>
                <a:path w="1372870" h="3308985">
                  <a:moveTo>
                    <a:pt x="1372679" y="827214"/>
                  </a:moveTo>
                  <a:lnTo>
                    <a:pt x="0" y="0"/>
                  </a:lnTo>
                  <a:lnTo>
                    <a:pt x="0" y="1654378"/>
                  </a:lnTo>
                  <a:lnTo>
                    <a:pt x="1372679" y="827214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975499" y="364879"/>
              <a:ext cx="1372870" cy="1654810"/>
            </a:xfrm>
            <a:custGeom>
              <a:avLst/>
              <a:gdLst/>
              <a:ahLst/>
              <a:cxnLst/>
              <a:rect l="l" t="t" r="r" b="b"/>
              <a:pathLst>
                <a:path w="1372870" h="1654810">
                  <a:moveTo>
                    <a:pt x="1372683" y="1654383"/>
                  </a:moveTo>
                  <a:lnTo>
                    <a:pt x="0" y="827173"/>
                  </a:lnTo>
                  <a:lnTo>
                    <a:pt x="1372683" y="0"/>
                  </a:lnTo>
                  <a:lnTo>
                    <a:pt x="1372683" y="1654383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348182" y="0"/>
              <a:ext cx="1372870" cy="1192530"/>
            </a:xfrm>
            <a:custGeom>
              <a:avLst/>
              <a:gdLst/>
              <a:ahLst/>
              <a:cxnLst/>
              <a:rect l="l" t="t" r="r" b="b"/>
              <a:pathLst>
                <a:path w="1372870" h="1192530">
                  <a:moveTo>
                    <a:pt x="1372683" y="1192052"/>
                  </a:moveTo>
                  <a:lnTo>
                    <a:pt x="0" y="364879"/>
                  </a:lnTo>
                  <a:lnTo>
                    <a:pt x="605485" y="0"/>
                  </a:lnTo>
                  <a:lnTo>
                    <a:pt x="1372683" y="0"/>
                  </a:lnTo>
                  <a:lnTo>
                    <a:pt x="1372683" y="1192052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348182" y="1192052"/>
              <a:ext cx="1372870" cy="1654810"/>
            </a:xfrm>
            <a:custGeom>
              <a:avLst/>
              <a:gdLst/>
              <a:ahLst/>
              <a:cxnLst/>
              <a:rect l="l" t="t" r="r" b="b"/>
              <a:pathLst>
                <a:path w="1372870" h="1654810">
                  <a:moveTo>
                    <a:pt x="1372683" y="1654383"/>
                  </a:moveTo>
                  <a:lnTo>
                    <a:pt x="0" y="827209"/>
                  </a:lnTo>
                  <a:lnTo>
                    <a:pt x="1372683" y="0"/>
                  </a:lnTo>
                  <a:lnTo>
                    <a:pt x="1372683" y="1654383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0590" y="577276"/>
            <a:ext cx="3667124" cy="904874"/>
          </a:xfrm>
          <a:prstGeom prst="rect">
            <a:avLst/>
          </a:prstGeom>
        </p:spPr>
      </p:pic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xfrm>
            <a:off x="9697245" y="3564718"/>
            <a:ext cx="1536700" cy="6394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000" spc="385" b="0" i="1">
                <a:latin typeface="Arial Narrow"/>
                <a:cs typeface="Arial Narrow"/>
              </a:rPr>
              <a:t>Khepri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38386" y="4423364"/>
            <a:ext cx="11254740" cy="4122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5000" spc="305" b="1">
                <a:solidFill>
                  <a:srgbClr val="18374D"/>
                </a:solidFill>
                <a:latin typeface="Century Gothic"/>
                <a:cs typeface="Century Gothic"/>
              </a:rPr>
              <a:t>P</a:t>
            </a:r>
            <a:r>
              <a:rPr dirty="0" sz="5000" spc="-650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405" b="1">
                <a:solidFill>
                  <a:srgbClr val="18374D"/>
                </a:solidFill>
                <a:latin typeface="Century Gothic"/>
                <a:cs typeface="Century Gothic"/>
              </a:rPr>
              <a:t>R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180" b="1">
                <a:solidFill>
                  <a:srgbClr val="18374D"/>
                </a:solidFill>
                <a:latin typeface="Century Gothic"/>
                <a:cs typeface="Century Gothic"/>
              </a:rPr>
              <a:t>E</a:t>
            </a:r>
            <a:r>
              <a:rPr dirty="0" sz="5000" spc="-650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545" b="1">
                <a:solidFill>
                  <a:srgbClr val="18374D"/>
                </a:solidFill>
                <a:latin typeface="Century Gothic"/>
                <a:cs typeface="Century Gothic"/>
              </a:rPr>
              <a:t>S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180" b="1">
                <a:solidFill>
                  <a:srgbClr val="18374D"/>
                </a:solidFill>
                <a:latin typeface="Century Gothic"/>
                <a:cs typeface="Century Gothic"/>
              </a:rPr>
              <a:t>E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330" b="1">
                <a:solidFill>
                  <a:srgbClr val="18374D"/>
                </a:solidFill>
                <a:latin typeface="Century Gothic"/>
                <a:cs typeface="Century Gothic"/>
              </a:rPr>
              <a:t>N</a:t>
            </a:r>
            <a:r>
              <a:rPr dirty="0" sz="5000" spc="-650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480" b="1">
                <a:solidFill>
                  <a:srgbClr val="18374D"/>
                </a:solidFill>
                <a:latin typeface="Century Gothic"/>
                <a:cs typeface="Century Gothic"/>
              </a:rPr>
              <a:t>T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-80" b="1">
                <a:solidFill>
                  <a:srgbClr val="18374D"/>
                </a:solidFill>
                <a:latin typeface="Century Gothic"/>
                <a:cs typeface="Century Gothic"/>
              </a:rPr>
              <a:t>A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-85" b="1">
                <a:solidFill>
                  <a:srgbClr val="18374D"/>
                </a:solidFill>
                <a:latin typeface="Century Gothic"/>
                <a:cs typeface="Century Gothic"/>
              </a:rPr>
              <a:t>C</a:t>
            </a:r>
            <a:r>
              <a:rPr dirty="0" sz="5000" spc="-650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235" b="1">
                <a:solidFill>
                  <a:srgbClr val="18374D"/>
                </a:solidFill>
                <a:latin typeface="Century Gothic"/>
                <a:cs typeface="Century Gothic"/>
              </a:rPr>
              <a:t>I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-175" b="1">
                <a:solidFill>
                  <a:srgbClr val="18374D"/>
                </a:solidFill>
                <a:latin typeface="Century Gothic"/>
                <a:cs typeface="Century Gothic"/>
              </a:rPr>
              <a:t>Ó</a:t>
            </a:r>
            <a:r>
              <a:rPr dirty="0" sz="5000" spc="-650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330" b="1">
                <a:solidFill>
                  <a:srgbClr val="18374D"/>
                </a:solidFill>
                <a:latin typeface="Century Gothic"/>
                <a:cs typeface="Century Gothic"/>
              </a:rPr>
              <a:t>N</a:t>
            </a:r>
            <a:r>
              <a:rPr dirty="0" sz="5000" spc="5" b="1">
                <a:solidFill>
                  <a:srgbClr val="18374D"/>
                </a:solidFill>
                <a:latin typeface="Century Gothic"/>
                <a:cs typeface="Century Gothic"/>
              </a:rPr>
              <a:t>  </a:t>
            </a:r>
            <a:r>
              <a:rPr dirty="0" sz="5000" spc="305" b="1">
                <a:solidFill>
                  <a:srgbClr val="18374D"/>
                </a:solidFill>
                <a:latin typeface="Century Gothic"/>
                <a:cs typeface="Century Gothic"/>
              </a:rPr>
              <a:t>P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-175" b="1">
                <a:solidFill>
                  <a:srgbClr val="18374D"/>
                </a:solidFill>
                <a:latin typeface="Century Gothic"/>
                <a:cs typeface="Century Gothic"/>
              </a:rPr>
              <a:t>O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405" b="1">
                <a:solidFill>
                  <a:srgbClr val="18374D"/>
                </a:solidFill>
                <a:latin typeface="Century Gothic"/>
                <a:cs typeface="Century Gothic"/>
              </a:rPr>
              <a:t>R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480" b="1">
                <a:solidFill>
                  <a:srgbClr val="18374D"/>
                </a:solidFill>
                <a:latin typeface="Century Gothic"/>
                <a:cs typeface="Century Gothic"/>
              </a:rPr>
              <a:t>T</a:t>
            </a:r>
            <a:r>
              <a:rPr dirty="0" sz="5000" spc="-650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-80" b="1">
                <a:solidFill>
                  <a:srgbClr val="18374D"/>
                </a:solidFill>
                <a:latin typeface="Century Gothic"/>
                <a:cs typeface="Century Gothic"/>
              </a:rPr>
              <a:t>A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285" b="1">
                <a:solidFill>
                  <a:srgbClr val="18374D"/>
                </a:solidFill>
                <a:latin typeface="Century Gothic"/>
                <a:cs typeface="Century Gothic"/>
              </a:rPr>
              <a:t>F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-175" b="1">
                <a:solidFill>
                  <a:srgbClr val="18374D"/>
                </a:solidFill>
                <a:latin typeface="Century Gothic"/>
                <a:cs typeface="Century Gothic"/>
              </a:rPr>
              <a:t>O</a:t>
            </a:r>
            <a:r>
              <a:rPr dirty="0" sz="5000" spc="-650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175" b="1">
                <a:solidFill>
                  <a:srgbClr val="18374D"/>
                </a:solidFill>
                <a:latin typeface="Century Gothic"/>
                <a:cs typeface="Century Gothic"/>
              </a:rPr>
              <a:t>L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235" b="1">
                <a:solidFill>
                  <a:srgbClr val="18374D"/>
                </a:solidFill>
                <a:latin typeface="Century Gothic"/>
                <a:cs typeface="Century Gothic"/>
              </a:rPr>
              <a:t>I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-50" b="1">
                <a:solidFill>
                  <a:srgbClr val="18374D"/>
                </a:solidFill>
                <a:latin typeface="Century Gothic"/>
                <a:cs typeface="Century Gothic"/>
              </a:rPr>
              <a:t>O </a:t>
            </a:r>
            <a:r>
              <a:rPr dirty="0" sz="5000" spc="480" b="1">
                <a:solidFill>
                  <a:srgbClr val="18374D"/>
                </a:solidFill>
                <a:latin typeface="Century Gothic"/>
                <a:cs typeface="Century Gothic"/>
              </a:rPr>
              <a:t>T</a:t>
            </a:r>
            <a:r>
              <a:rPr dirty="0" sz="5000" spc="-650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235" b="1">
                <a:solidFill>
                  <a:srgbClr val="18374D"/>
                </a:solidFill>
                <a:latin typeface="Century Gothic"/>
                <a:cs typeface="Century Gothic"/>
              </a:rPr>
              <a:t>I</a:t>
            </a:r>
            <a:r>
              <a:rPr dirty="0" sz="5000" spc="-650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480" b="1">
                <a:solidFill>
                  <a:srgbClr val="18374D"/>
                </a:solidFill>
                <a:latin typeface="Century Gothic"/>
                <a:cs typeface="Century Gothic"/>
              </a:rPr>
              <a:t>T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320" b="1">
                <a:solidFill>
                  <a:srgbClr val="18374D"/>
                </a:solidFill>
                <a:latin typeface="Century Gothic"/>
                <a:cs typeface="Century Gothic"/>
              </a:rPr>
              <a:t>U</a:t>
            </a:r>
            <a:r>
              <a:rPr dirty="0" sz="5000" spc="-650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175" b="1">
                <a:solidFill>
                  <a:srgbClr val="18374D"/>
                </a:solidFill>
                <a:latin typeface="Century Gothic"/>
                <a:cs typeface="Century Gothic"/>
              </a:rPr>
              <a:t>L</a:t>
            </a:r>
            <a:r>
              <a:rPr dirty="0" sz="5000" spc="-645" b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-50" b="1">
                <a:solidFill>
                  <a:srgbClr val="18374D"/>
                </a:solidFill>
                <a:latin typeface="Century Gothic"/>
                <a:cs typeface="Century Gothic"/>
              </a:rPr>
              <a:t>O</a:t>
            </a:r>
            <a:endParaRPr sz="50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dirty="0" sz="5000" spc="780" b="1" i="1">
                <a:solidFill>
                  <a:srgbClr val="18374D"/>
                </a:solidFill>
                <a:latin typeface="Century Gothic"/>
                <a:cs typeface="Century Gothic"/>
              </a:rPr>
              <a:t>IN</a:t>
            </a:r>
            <a:r>
              <a:rPr dirty="0" sz="5000" spc="35" b="1" i="1">
                <a:solidFill>
                  <a:srgbClr val="18374D"/>
                </a:solidFill>
                <a:latin typeface="Century Gothic"/>
                <a:cs typeface="Century Gothic"/>
              </a:rPr>
              <a:t>G</a:t>
            </a:r>
            <a:r>
              <a:rPr dirty="0" sz="5000" spc="-640" b="1" i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890" b="1" i="1">
                <a:solidFill>
                  <a:srgbClr val="18374D"/>
                </a:solidFill>
                <a:latin typeface="Century Gothic"/>
                <a:cs typeface="Century Gothic"/>
              </a:rPr>
              <a:t>ENIERÍ</a:t>
            </a:r>
            <a:r>
              <a:rPr dirty="0" sz="5000" spc="145" b="1" i="1">
                <a:solidFill>
                  <a:srgbClr val="18374D"/>
                </a:solidFill>
                <a:latin typeface="Century Gothic"/>
                <a:cs typeface="Century Gothic"/>
              </a:rPr>
              <a:t>A</a:t>
            </a:r>
            <a:r>
              <a:rPr dirty="0" sz="5000" spc="25" b="1" i="1">
                <a:solidFill>
                  <a:srgbClr val="18374D"/>
                </a:solidFill>
                <a:latin typeface="Century Gothic"/>
                <a:cs typeface="Century Gothic"/>
              </a:rPr>
              <a:t>  </a:t>
            </a:r>
            <a:r>
              <a:rPr dirty="0" sz="5000" spc="840" b="1" i="1">
                <a:solidFill>
                  <a:srgbClr val="18374D"/>
                </a:solidFill>
                <a:latin typeface="Century Gothic"/>
                <a:cs typeface="Century Gothic"/>
              </a:rPr>
              <a:t>INF</a:t>
            </a:r>
            <a:r>
              <a:rPr dirty="0" sz="5000" spc="95" b="1" i="1">
                <a:solidFill>
                  <a:srgbClr val="18374D"/>
                </a:solidFill>
                <a:latin typeface="Century Gothic"/>
                <a:cs typeface="Century Gothic"/>
              </a:rPr>
              <a:t>O</a:t>
            </a:r>
            <a:r>
              <a:rPr dirty="0" sz="5000" spc="-635" b="1" i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850" b="1" i="1">
                <a:solidFill>
                  <a:srgbClr val="18374D"/>
                </a:solidFill>
                <a:latin typeface="Century Gothic"/>
                <a:cs typeface="Century Gothic"/>
              </a:rPr>
              <a:t>RM</a:t>
            </a:r>
            <a:r>
              <a:rPr dirty="0" sz="5000" spc="105" b="1" i="1">
                <a:solidFill>
                  <a:srgbClr val="18374D"/>
                </a:solidFill>
                <a:latin typeface="Century Gothic"/>
                <a:cs typeface="Century Gothic"/>
              </a:rPr>
              <a:t>Á</a:t>
            </a:r>
            <a:r>
              <a:rPr dirty="0" sz="5000" spc="-640" b="1" i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880" b="1" i="1">
                <a:solidFill>
                  <a:srgbClr val="18374D"/>
                </a:solidFill>
                <a:latin typeface="Century Gothic"/>
                <a:cs typeface="Century Gothic"/>
              </a:rPr>
              <a:t>TI</a:t>
            </a:r>
            <a:r>
              <a:rPr dirty="0" sz="5000" spc="135" b="1" i="1">
                <a:solidFill>
                  <a:srgbClr val="18374D"/>
                </a:solidFill>
                <a:latin typeface="Century Gothic"/>
                <a:cs typeface="Century Gothic"/>
              </a:rPr>
              <a:t>C</a:t>
            </a:r>
            <a:r>
              <a:rPr dirty="0" sz="5000" spc="-640" b="1" i="1">
                <a:solidFill>
                  <a:srgbClr val="18374D"/>
                </a:solidFill>
                <a:latin typeface="Century Gothic"/>
                <a:cs typeface="Century Gothic"/>
              </a:rPr>
              <a:t> </a:t>
            </a:r>
            <a:r>
              <a:rPr dirty="0" sz="5000" spc="-50" b="1" i="1">
                <a:solidFill>
                  <a:srgbClr val="18374D"/>
                </a:solidFill>
                <a:latin typeface="Century Gothic"/>
                <a:cs typeface="Century Gothic"/>
              </a:rPr>
              <a:t>A</a:t>
            </a:r>
            <a:endParaRPr sz="5000">
              <a:latin typeface="Century Gothic"/>
              <a:cs typeface="Century Gothic"/>
            </a:endParaRPr>
          </a:p>
          <a:p>
            <a:pPr algn="ctr" marL="2424430" marR="2416810">
              <a:lnSpc>
                <a:spcPct val="114599"/>
              </a:lnSpc>
              <a:spcBef>
                <a:spcPts val="2090"/>
              </a:spcBef>
            </a:pPr>
            <a:r>
              <a:rPr dirty="0" sz="2400" b="0">
                <a:solidFill>
                  <a:srgbClr val="18374D"/>
                </a:solidFill>
                <a:latin typeface="Open Sans Light"/>
                <a:cs typeface="Open Sans Light"/>
              </a:rPr>
              <a:t>Escuela</a:t>
            </a:r>
            <a:r>
              <a:rPr dirty="0" sz="2400" spc="7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400" b="0">
                <a:solidFill>
                  <a:srgbClr val="18374D"/>
                </a:solidFill>
                <a:latin typeface="Open Sans Light"/>
                <a:cs typeface="Open Sans Light"/>
              </a:rPr>
              <a:t>de</a:t>
            </a:r>
            <a:r>
              <a:rPr dirty="0" sz="2400" spc="7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400" spc="55" b="0">
                <a:solidFill>
                  <a:srgbClr val="18374D"/>
                </a:solidFill>
                <a:latin typeface="Open Sans Light"/>
                <a:cs typeface="Open Sans Light"/>
              </a:rPr>
              <a:t>Informática</a:t>
            </a:r>
            <a:r>
              <a:rPr dirty="0" sz="2400" spc="8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400" spc="95" b="0">
                <a:solidFill>
                  <a:srgbClr val="18374D"/>
                </a:solidFill>
                <a:latin typeface="Open Sans Light"/>
                <a:cs typeface="Open Sans Light"/>
              </a:rPr>
              <a:t>y</a:t>
            </a:r>
            <a:r>
              <a:rPr dirty="0" sz="2400" spc="7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400" spc="-10" b="0">
                <a:solidFill>
                  <a:srgbClr val="18374D"/>
                </a:solidFill>
                <a:latin typeface="Open Sans Light"/>
                <a:cs typeface="Open Sans Light"/>
              </a:rPr>
              <a:t>Telecomunicaciones </a:t>
            </a:r>
            <a:r>
              <a:rPr dirty="0" sz="2400" b="0">
                <a:solidFill>
                  <a:srgbClr val="18374D"/>
                </a:solidFill>
                <a:latin typeface="Open Sans Light"/>
                <a:cs typeface="Open Sans Light"/>
              </a:rPr>
              <a:t>Sede</a:t>
            </a:r>
            <a:r>
              <a:rPr dirty="0" sz="2400" spc="16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400" b="0">
                <a:solidFill>
                  <a:srgbClr val="18374D"/>
                </a:solidFill>
                <a:latin typeface="Open Sans Light"/>
                <a:cs typeface="Open Sans Light"/>
              </a:rPr>
              <a:t>Puente</a:t>
            </a:r>
            <a:r>
              <a:rPr dirty="0" sz="2400" spc="1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400" spc="30" b="0">
                <a:solidFill>
                  <a:srgbClr val="18374D"/>
                </a:solidFill>
                <a:latin typeface="Open Sans Light"/>
                <a:cs typeface="Open Sans Light"/>
              </a:rPr>
              <a:t>Alto</a:t>
            </a:r>
            <a:endParaRPr sz="2400">
              <a:latin typeface="Open Sans Light"/>
              <a:cs typeface="Open Sans Light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2400" spc="-20" b="0">
                <a:solidFill>
                  <a:srgbClr val="18374D"/>
                </a:solidFill>
                <a:latin typeface="Open Sans Light"/>
                <a:cs typeface="Open Sans Light"/>
              </a:rPr>
              <a:t>2026</a:t>
            </a:r>
            <a:endParaRPr sz="2400">
              <a:latin typeface="Open Sans Light"/>
              <a:cs typeface="Open Sans Ligh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30131" y="7809620"/>
            <a:ext cx="1372870" cy="1654810"/>
          </a:xfrm>
          <a:custGeom>
            <a:avLst/>
            <a:gdLst/>
            <a:ahLst/>
            <a:cxnLst/>
            <a:rect l="l" t="t" r="r" b="b"/>
            <a:pathLst>
              <a:path w="1372870" h="1654809">
                <a:moveTo>
                  <a:pt x="0" y="1654383"/>
                </a:moveTo>
                <a:lnTo>
                  <a:pt x="0" y="0"/>
                </a:lnTo>
                <a:lnTo>
                  <a:pt x="1372683" y="827209"/>
                </a:lnTo>
                <a:lnTo>
                  <a:pt x="0" y="1654383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5E7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869951"/>
            <a:ext cx="277495" cy="334645"/>
          </a:xfrm>
          <a:custGeom>
            <a:avLst/>
            <a:gdLst/>
            <a:ahLst/>
            <a:cxnLst/>
            <a:rect l="l" t="t" r="r" b="b"/>
            <a:pathLst>
              <a:path w="277495" h="334644">
                <a:moveTo>
                  <a:pt x="0" y="334040"/>
                </a:moveTo>
                <a:lnTo>
                  <a:pt x="0" y="0"/>
                </a:lnTo>
                <a:lnTo>
                  <a:pt x="277180" y="167024"/>
                </a:lnTo>
                <a:lnTo>
                  <a:pt x="0" y="334040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3136016"/>
            <a:ext cx="277495" cy="334645"/>
          </a:xfrm>
          <a:custGeom>
            <a:avLst/>
            <a:gdLst/>
            <a:ahLst/>
            <a:cxnLst/>
            <a:rect l="l" t="t" r="r" b="b"/>
            <a:pathLst>
              <a:path w="277495" h="334645">
                <a:moveTo>
                  <a:pt x="0" y="334048"/>
                </a:moveTo>
                <a:lnTo>
                  <a:pt x="0" y="0"/>
                </a:lnTo>
                <a:lnTo>
                  <a:pt x="277180" y="167024"/>
                </a:lnTo>
                <a:lnTo>
                  <a:pt x="0" y="334048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035126"/>
            <a:ext cx="277495" cy="334645"/>
          </a:xfrm>
          <a:custGeom>
            <a:avLst/>
            <a:gdLst/>
            <a:ahLst/>
            <a:cxnLst/>
            <a:rect l="l" t="t" r="r" b="b"/>
            <a:pathLst>
              <a:path w="277495" h="334645">
                <a:moveTo>
                  <a:pt x="0" y="334040"/>
                </a:moveTo>
                <a:lnTo>
                  <a:pt x="0" y="0"/>
                </a:lnTo>
                <a:lnTo>
                  <a:pt x="277180" y="167023"/>
                </a:lnTo>
                <a:lnTo>
                  <a:pt x="0" y="334040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0" y="1720452"/>
            <a:ext cx="4193540" cy="4114800"/>
            <a:chOff x="0" y="1720452"/>
            <a:chExt cx="4193540" cy="4114800"/>
          </a:xfrm>
        </p:grpSpPr>
        <p:sp>
          <p:nvSpPr>
            <p:cNvPr id="7" name="object 7"/>
            <p:cNvSpPr/>
            <p:nvPr/>
          </p:nvSpPr>
          <p:spPr>
            <a:xfrm>
              <a:off x="0" y="2036975"/>
              <a:ext cx="277495" cy="633095"/>
            </a:xfrm>
            <a:custGeom>
              <a:avLst/>
              <a:gdLst/>
              <a:ahLst/>
              <a:cxnLst/>
              <a:rect l="l" t="t" r="r" b="b"/>
              <a:pathLst>
                <a:path w="277495" h="633094">
                  <a:moveTo>
                    <a:pt x="277180" y="633032"/>
                  </a:moveTo>
                  <a:lnTo>
                    <a:pt x="0" y="466008"/>
                  </a:lnTo>
                  <a:lnTo>
                    <a:pt x="0" y="167016"/>
                  </a:lnTo>
                  <a:lnTo>
                    <a:pt x="277180" y="0"/>
                  </a:lnTo>
                  <a:lnTo>
                    <a:pt x="277180" y="633032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2670008"/>
              <a:ext cx="277495" cy="633095"/>
            </a:xfrm>
            <a:custGeom>
              <a:avLst/>
              <a:gdLst/>
              <a:ahLst/>
              <a:cxnLst/>
              <a:rect l="l" t="t" r="r" b="b"/>
              <a:pathLst>
                <a:path w="277495" h="633095">
                  <a:moveTo>
                    <a:pt x="277180" y="633032"/>
                  </a:moveTo>
                  <a:lnTo>
                    <a:pt x="0" y="466008"/>
                  </a:lnTo>
                  <a:lnTo>
                    <a:pt x="0" y="167016"/>
                  </a:lnTo>
                  <a:lnTo>
                    <a:pt x="277180" y="0"/>
                  </a:lnTo>
                  <a:lnTo>
                    <a:pt x="277180" y="63303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3303040"/>
              <a:ext cx="277495" cy="633095"/>
            </a:xfrm>
            <a:custGeom>
              <a:avLst/>
              <a:gdLst/>
              <a:ahLst/>
              <a:cxnLst/>
              <a:rect l="l" t="t" r="r" b="b"/>
              <a:pathLst>
                <a:path w="277495" h="633095">
                  <a:moveTo>
                    <a:pt x="277180" y="633032"/>
                  </a:moveTo>
                  <a:lnTo>
                    <a:pt x="0" y="466015"/>
                  </a:lnTo>
                  <a:lnTo>
                    <a:pt x="0" y="167024"/>
                  </a:lnTo>
                  <a:lnTo>
                    <a:pt x="277180" y="0"/>
                  </a:lnTo>
                  <a:lnTo>
                    <a:pt x="277180" y="633032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936072"/>
              <a:ext cx="277495" cy="633095"/>
            </a:xfrm>
            <a:custGeom>
              <a:avLst/>
              <a:gdLst/>
              <a:ahLst/>
              <a:cxnLst/>
              <a:rect l="l" t="t" r="r" b="b"/>
              <a:pathLst>
                <a:path w="277495" h="633095">
                  <a:moveTo>
                    <a:pt x="277180" y="633032"/>
                  </a:moveTo>
                  <a:lnTo>
                    <a:pt x="0" y="466015"/>
                  </a:lnTo>
                  <a:lnTo>
                    <a:pt x="0" y="167023"/>
                  </a:lnTo>
                  <a:lnTo>
                    <a:pt x="277180" y="0"/>
                  </a:lnTo>
                  <a:lnTo>
                    <a:pt x="277180" y="63303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4569105"/>
              <a:ext cx="277495" cy="633095"/>
            </a:xfrm>
            <a:custGeom>
              <a:avLst/>
              <a:gdLst/>
              <a:ahLst/>
              <a:cxnLst/>
              <a:rect l="l" t="t" r="r" b="b"/>
              <a:pathLst>
                <a:path w="277495" h="633095">
                  <a:moveTo>
                    <a:pt x="277180" y="633045"/>
                  </a:moveTo>
                  <a:lnTo>
                    <a:pt x="0" y="466021"/>
                  </a:lnTo>
                  <a:lnTo>
                    <a:pt x="0" y="167024"/>
                  </a:lnTo>
                  <a:lnTo>
                    <a:pt x="277180" y="0"/>
                  </a:lnTo>
                  <a:lnTo>
                    <a:pt x="277180" y="633045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77177" y="1720455"/>
              <a:ext cx="525780" cy="1266190"/>
            </a:xfrm>
            <a:custGeom>
              <a:avLst/>
              <a:gdLst/>
              <a:ahLst/>
              <a:cxnLst/>
              <a:rect l="l" t="t" r="r" b="b"/>
              <a:pathLst>
                <a:path w="525780" h="1266189">
                  <a:moveTo>
                    <a:pt x="525272" y="633031"/>
                  </a:moveTo>
                  <a:lnTo>
                    <a:pt x="0" y="949553"/>
                  </a:lnTo>
                  <a:lnTo>
                    <a:pt x="525272" y="1266063"/>
                  </a:lnTo>
                  <a:lnTo>
                    <a:pt x="525272" y="633031"/>
                  </a:lnTo>
                  <a:close/>
                </a:path>
                <a:path w="525780" h="1266189">
                  <a:moveTo>
                    <a:pt x="525272" y="0"/>
                  </a:moveTo>
                  <a:lnTo>
                    <a:pt x="0" y="316522"/>
                  </a:lnTo>
                  <a:lnTo>
                    <a:pt x="525272" y="633031"/>
                  </a:lnTo>
                  <a:lnTo>
                    <a:pt x="525272" y="0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77180" y="2986517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5">
                  <a:moveTo>
                    <a:pt x="525277" y="633046"/>
                  </a:moveTo>
                  <a:lnTo>
                    <a:pt x="0" y="316522"/>
                  </a:lnTo>
                  <a:lnTo>
                    <a:pt x="525277" y="0"/>
                  </a:lnTo>
                  <a:lnTo>
                    <a:pt x="525277" y="633046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77180" y="3619563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5">
                  <a:moveTo>
                    <a:pt x="525277" y="633032"/>
                  </a:moveTo>
                  <a:lnTo>
                    <a:pt x="0" y="316509"/>
                  </a:lnTo>
                  <a:lnTo>
                    <a:pt x="525277" y="0"/>
                  </a:lnTo>
                  <a:lnTo>
                    <a:pt x="525277" y="633032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77177" y="4252607"/>
              <a:ext cx="525780" cy="1266190"/>
            </a:xfrm>
            <a:custGeom>
              <a:avLst/>
              <a:gdLst/>
              <a:ahLst/>
              <a:cxnLst/>
              <a:rect l="l" t="t" r="r" b="b"/>
              <a:pathLst>
                <a:path w="525780" h="1266189">
                  <a:moveTo>
                    <a:pt x="525272" y="633031"/>
                  </a:moveTo>
                  <a:lnTo>
                    <a:pt x="0" y="949553"/>
                  </a:lnTo>
                  <a:lnTo>
                    <a:pt x="525272" y="1266063"/>
                  </a:lnTo>
                  <a:lnTo>
                    <a:pt x="525272" y="633031"/>
                  </a:lnTo>
                  <a:close/>
                </a:path>
                <a:path w="525780" h="1266189">
                  <a:moveTo>
                    <a:pt x="525272" y="0"/>
                  </a:moveTo>
                  <a:lnTo>
                    <a:pt x="0" y="316509"/>
                  </a:lnTo>
                  <a:lnTo>
                    <a:pt x="525272" y="633031"/>
                  </a:lnTo>
                  <a:lnTo>
                    <a:pt x="525272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7180" y="5202150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5">
                  <a:moveTo>
                    <a:pt x="0" y="633032"/>
                  </a:moveTo>
                  <a:lnTo>
                    <a:pt x="0" y="0"/>
                  </a:lnTo>
                  <a:lnTo>
                    <a:pt x="525277" y="316509"/>
                  </a:lnTo>
                  <a:lnTo>
                    <a:pt x="0" y="633032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02471" y="1720452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4">
                  <a:moveTo>
                    <a:pt x="0" y="633032"/>
                  </a:moveTo>
                  <a:lnTo>
                    <a:pt x="0" y="0"/>
                  </a:lnTo>
                  <a:lnTo>
                    <a:pt x="525277" y="316523"/>
                  </a:lnTo>
                  <a:lnTo>
                    <a:pt x="0" y="633032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02462" y="2670009"/>
              <a:ext cx="525780" cy="1583055"/>
            </a:xfrm>
            <a:custGeom>
              <a:avLst/>
              <a:gdLst/>
              <a:ahLst/>
              <a:cxnLst/>
              <a:rect l="l" t="t" r="r" b="b"/>
              <a:pathLst>
                <a:path w="525780" h="1583054">
                  <a:moveTo>
                    <a:pt x="525284" y="1266063"/>
                  </a:moveTo>
                  <a:lnTo>
                    <a:pt x="0" y="949566"/>
                  </a:lnTo>
                  <a:lnTo>
                    <a:pt x="0" y="1582597"/>
                  </a:lnTo>
                  <a:lnTo>
                    <a:pt x="525284" y="1266063"/>
                  </a:lnTo>
                  <a:close/>
                </a:path>
                <a:path w="525780" h="1583054">
                  <a:moveTo>
                    <a:pt x="525284" y="0"/>
                  </a:moveTo>
                  <a:lnTo>
                    <a:pt x="0" y="316509"/>
                  </a:lnTo>
                  <a:lnTo>
                    <a:pt x="525284" y="633031"/>
                  </a:lnTo>
                  <a:lnTo>
                    <a:pt x="525284" y="0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02462" y="1720455"/>
              <a:ext cx="1050925" cy="3481704"/>
            </a:xfrm>
            <a:custGeom>
              <a:avLst/>
              <a:gdLst/>
              <a:ahLst/>
              <a:cxnLst/>
              <a:rect l="l" t="t" r="r" b="b"/>
              <a:pathLst>
                <a:path w="1050925" h="3481704">
                  <a:moveTo>
                    <a:pt x="525284" y="2848660"/>
                  </a:moveTo>
                  <a:lnTo>
                    <a:pt x="0" y="3165183"/>
                  </a:lnTo>
                  <a:lnTo>
                    <a:pt x="525284" y="3481705"/>
                  </a:lnTo>
                  <a:lnTo>
                    <a:pt x="525284" y="2848660"/>
                  </a:lnTo>
                  <a:close/>
                </a:path>
                <a:path w="1050925" h="3481704">
                  <a:moveTo>
                    <a:pt x="525284" y="1582585"/>
                  </a:moveTo>
                  <a:lnTo>
                    <a:pt x="0" y="1899119"/>
                  </a:lnTo>
                  <a:lnTo>
                    <a:pt x="525284" y="2215616"/>
                  </a:lnTo>
                  <a:lnTo>
                    <a:pt x="525284" y="1582585"/>
                  </a:lnTo>
                  <a:close/>
                </a:path>
                <a:path w="1050925" h="3481704">
                  <a:moveTo>
                    <a:pt x="1050556" y="2532151"/>
                  </a:moveTo>
                  <a:lnTo>
                    <a:pt x="525284" y="2848660"/>
                  </a:lnTo>
                  <a:lnTo>
                    <a:pt x="1050556" y="3165183"/>
                  </a:lnTo>
                  <a:lnTo>
                    <a:pt x="1050556" y="2532151"/>
                  </a:lnTo>
                  <a:close/>
                </a:path>
                <a:path w="1050925" h="3481704">
                  <a:moveTo>
                    <a:pt x="1050556" y="1266063"/>
                  </a:moveTo>
                  <a:lnTo>
                    <a:pt x="525284" y="1582585"/>
                  </a:lnTo>
                  <a:lnTo>
                    <a:pt x="1050556" y="1899119"/>
                  </a:lnTo>
                  <a:lnTo>
                    <a:pt x="1050556" y="1266063"/>
                  </a:lnTo>
                  <a:close/>
                </a:path>
                <a:path w="1050925" h="3481704">
                  <a:moveTo>
                    <a:pt x="1050556" y="633031"/>
                  </a:moveTo>
                  <a:lnTo>
                    <a:pt x="525284" y="949553"/>
                  </a:lnTo>
                  <a:lnTo>
                    <a:pt x="1050556" y="1266063"/>
                  </a:lnTo>
                  <a:lnTo>
                    <a:pt x="1050556" y="633031"/>
                  </a:lnTo>
                  <a:close/>
                </a:path>
                <a:path w="1050925" h="3481704">
                  <a:moveTo>
                    <a:pt x="1050556" y="0"/>
                  </a:moveTo>
                  <a:lnTo>
                    <a:pt x="525284" y="316522"/>
                  </a:lnTo>
                  <a:lnTo>
                    <a:pt x="1050556" y="633031"/>
                  </a:lnTo>
                  <a:lnTo>
                    <a:pt x="1050556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327748" y="2036975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4">
                  <a:moveTo>
                    <a:pt x="0" y="633032"/>
                  </a:moveTo>
                  <a:lnTo>
                    <a:pt x="0" y="0"/>
                  </a:lnTo>
                  <a:lnTo>
                    <a:pt x="525277" y="316509"/>
                  </a:lnTo>
                  <a:lnTo>
                    <a:pt x="0" y="633032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327746" y="3619575"/>
              <a:ext cx="1050925" cy="2216150"/>
            </a:xfrm>
            <a:custGeom>
              <a:avLst/>
              <a:gdLst/>
              <a:ahLst/>
              <a:cxnLst/>
              <a:rect l="l" t="t" r="r" b="b"/>
              <a:pathLst>
                <a:path w="1050925" h="2216150">
                  <a:moveTo>
                    <a:pt x="525272" y="1899094"/>
                  </a:moveTo>
                  <a:lnTo>
                    <a:pt x="0" y="1582585"/>
                  </a:lnTo>
                  <a:lnTo>
                    <a:pt x="0" y="2215616"/>
                  </a:lnTo>
                  <a:lnTo>
                    <a:pt x="525272" y="1899094"/>
                  </a:lnTo>
                  <a:close/>
                </a:path>
                <a:path w="1050925" h="2216150">
                  <a:moveTo>
                    <a:pt x="525272" y="633031"/>
                  </a:moveTo>
                  <a:lnTo>
                    <a:pt x="0" y="316496"/>
                  </a:lnTo>
                  <a:lnTo>
                    <a:pt x="0" y="949540"/>
                  </a:lnTo>
                  <a:lnTo>
                    <a:pt x="525272" y="633031"/>
                  </a:lnTo>
                  <a:close/>
                </a:path>
                <a:path w="1050925" h="2216150">
                  <a:moveTo>
                    <a:pt x="1050544" y="316496"/>
                  </a:moveTo>
                  <a:lnTo>
                    <a:pt x="525272" y="0"/>
                  </a:lnTo>
                  <a:lnTo>
                    <a:pt x="525272" y="633031"/>
                  </a:lnTo>
                  <a:lnTo>
                    <a:pt x="1050544" y="316496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53025" y="4252595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5">
                  <a:moveTo>
                    <a:pt x="0" y="633032"/>
                  </a:moveTo>
                  <a:lnTo>
                    <a:pt x="0" y="0"/>
                  </a:lnTo>
                  <a:lnTo>
                    <a:pt x="525277" y="316509"/>
                  </a:lnTo>
                  <a:lnTo>
                    <a:pt x="0" y="633032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853019" y="2036977"/>
              <a:ext cx="525780" cy="3481704"/>
            </a:xfrm>
            <a:custGeom>
              <a:avLst/>
              <a:gdLst/>
              <a:ahLst/>
              <a:cxnLst/>
              <a:rect l="l" t="t" r="r" b="b"/>
              <a:pathLst>
                <a:path w="525780" h="3481704">
                  <a:moveTo>
                    <a:pt x="525272" y="3165183"/>
                  </a:moveTo>
                  <a:lnTo>
                    <a:pt x="0" y="2848660"/>
                  </a:lnTo>
                  <a:lnTo>
                    <a:pt x="0" y="3481692"/>
                  </a:lnTo>
                  <a:lnTo>
                    <a:pt x="525272" y="3165183"/>
                  </a:lnTo>
                  <a:close/>
                </a:path>
                <a:path w="525780" h="3481704">
                  <a:moveTo>
                    <a:pt x="525272" y="0"/>
                  </a:moveTo>
                  <a:lnTo>
                    <a:pt x="0" y="316509"/>
                  </a:lnTo>
                  <a:lnTo>
                    <a:pt x="525272" y="633031"/>
                  </a:lnTo>
                  <a:lnTo>
                    <a:pt x="525272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853025" y="2670007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5">
                  <a:moveTo>
                    <a:pt x="525277" y="633032"/>
                  </a:moveTo>
                  <a:lnTo>
                    <a:pt x="0" y="316509"/>
                  </a:lnTo>
                  <a:lnTo>
                    <a:pt x="525277" y="0"/>
                  </a:lnTo>
                  <a:lnTo>
                    <a:pt x="525277" y="63303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53025" y="3303040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5">
                  <a:moveTo>
                    <a:pt x="525277" y="633032"/>
                  </a:moveTo>
                  <a:lnTo>
                    <a:pt x="0" y="316523"/>
                  </a:lnTo>
                  <a:lnTo>
                    <a:pt x="525277" y="0"/>
                  </a:lnTo>
                  <a:lnTo>
                    <a:pt x="525277" y="633032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78303" y="3619563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5">
                  <a:moveTo>
                    <a:pt x="525277" y="633032"/>
                  </a:moveTo>
                  <a:lnTo>
                    <a:pt x="0" y="316509"/>
                  </a:lnTo>
                  <a:lnTo>
                    <a:pt x="525277" y="0"/>
                  </a:lnTo>
                  <a:lnTo>
                    <a:pt x="525277" y="63303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378291" y="2670009"/>
              <a:ext cx="525780" cy="2216150"/>
            </a:xfrm>
            <a:custGeom>
              <a:avLst/>
              <a:gdLst/>
              <a:ahLst/>
              <a:cxnLst/>
              <a:rect l="l" t="t" r="r" b="b"/>
              <a:pathLst>
                <a:path w="525780" h="2216150">
                  <a:moveTo>
                    <a:pt x="525284" y="1582597"/>
                  </a:moveTo>
                  <a:lnTo>
                    <a:pt x="0" y="1899107"/>
                  </a:lnTo>
                  <a:lnTo>
                    <a:pt x="525284" y="2215629"/>
                  </a:lnTo>
                  <a:lnTo>
                    <a:pt x="525284" y="1582597"/>
                  </a:lnTo>
                  <a:close/>
                </a:path>
                <a:path w="525780" h="2216150">
                  <a:moveTo>
                    <a:pt x="525284" y="316509"/>
                  </a:moveTo>
                  <a:lnTo>
                    <a:pt x="0" y="0"/>
                  </a:lnTo>
                  <a:lnTo>
                    <a:pt x="0" y="633031"/>
                  </a:lnTo>
                  <a:lnTo>
                    <a:pt x="525284" y="316509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378303" y="3936072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5">
                  <a:moveTo>
                    <a:pt x="0" y="633032"/>
                  </a:moveTo>
                  <a:lnTo>
                    <a:pt x="0" y="0"/>
                  </a:lnTo>
                  <a:lnTo>
                    <a:pt x="525277" y="316522"/>
                  </a:lnTo>
                  <a:lnTo>
                    <a:pt x="0" y="633032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8379" y="2988837"/>
              <a:ext cx="2634536" cy="2634536"/>
            </a:xfrm>
            <a:prstGeom prst="rect">
              <a:avLst/>
            </a:prstGeom>
          </p:spPr>
        </p:pic>
      </p:grp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14830">
              <a:lnSpc>
                <a:spcPct val="100000"/>
              </a:lnSpc>
              <a:spcBef>
                <a:spcPts val="100"/>
              </a:spcBef>
            </a:pPr>
            <a:r>
              <a:rPr dirty="0" spc="260"/>
              <a:t>E</a:t>
            </a:r>
            <a:r>
              <a:rPr dirty="0" spc="-935"/>
              <a:t> </a:t>
            </a:r>
            <a:r>
              <a:rPr dirty="0" spc="-190"/>
              <a:t>Q</a:t>
            </a:r>
            <a:r>
              <a:rPr dirty="0" spc="-935"/>
              <a:t> </a:t>
            </a:r>
            <a:r>
              <a:rPr dirty="0" spc="459"/>
              <a:t>U</a:t>
            </a:r>
            <a:r>
              <a:rPr dirty="0" spc="-935"/>
              <a:t> </a:t>
            </a:r>
            <a:r>
              <a:rPr dirty="0" spc="340"/>
              <a:t>I</a:t>
            </a:r>
            <a:r>
              <a:rPr dirty="0" spc="-935"/>
              <a:t> </a:t>
            </a:r>
            <a:r>
              <a:rPr dirty="0" spc="440"/>
              <a:t>P</a:t>
            </a:r>
            <a:r>
              <a:rPr dirty="0" spc="-935"/>
              <a:t> </a:t>
            </a:r>
            <a:r>
              <a:rPr dirty="0"/>
              <a:t>O</a:t>
            </a:r>
            <a:r>
              <a:rPr dirty="0" spc="-90"/>
              <a:t>  </a:t>
            </a:r>
            <a:r>
              <a:rPr dirty="0" spc="580"/>
              <a:t>R</a:t>
            </a:r>
            <a:r>
              <a:rPr dirty="0" spc="-935"/>
              <a:t> </a:t>
            </a:r>
            <a:r>
              <a:rPr dirty="0" spc="260"/>
              <a:t>E</a:t>
            </a:r>
            <a:r>
              <a:rPr dirty="0" spc="-935"/>
              <a:t> </a:t>
            </a:r>
            <a:r>
              <a:rPr dirty="0" spc="785"/>
              <a:t>S</a:t>
            </a:r>
            <a:r>
              <a:rPr dirty="0" spc="-935"/>
              <a:t> </a:t>
            </a:r>
            <a:r>
              <a:rPr dirty="0" spc="440"/>
              <a:t>P</a:t>
            </a:r>
            <a:r>
              <a:rPr dirty="0" spc="-935"/>
              <a:t> </a:t>
            </a:r>
            <a:r>
              <a:rPr dirty="0" spc="-250"/>
              <a:t>O</a:t>
            </a:r>
            <a:r>
              <a:rPr dirty="0" spc="-935"/>
              <a:t> </a:t>
            </a:r>
            <a:r>
              <a:rPr dirty="0" spc="475"/>
              <a:t>N</a:t>
            </a:r>
            <a:r>
              <a:rPr dirty="0" spc="-935"/>
              <a:t> </a:t>
            </a:r>
            <a:r>
              <a:rPr dirty="0" spc="785"/>
              <a:t>S</a:t>
            </a:r>
            <a:r>
              <a:rPr dirty="0" spc="-935"/>
              <a:t> </a:t>
            </a:r>
            <a:r>
              <a:rPr dirty="0" spc="-114"/>
              <a:t>A</a:t>
            </a:r>
            <a:r>
              <a:rPr dirty="0" spc="-935"/>
              <a:t> </a:t>
            </a:r>
            <a:r>
              <a:rPr dirty="0" spc="415"/>
              <a:t>B</a:t>
            </a:r>
            <a:r>
              <a:rPr dirty="0" spc="-935"/>
              <a:t> </a:t>
            </a:r>
            <a:r>
              <a:rPr dirty="0" spc="280"/>
              <a:t>L</a:t>
            </a:r>
            <a:r>
              <a:rPr dirty="0" spc="-935"/>
              <a:t> </a:t>
            </a:r>
            <a:r>
              <a:rPr dirty="0" spc="210"/>
              <a:t>E</a:t>
            </a:r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3560" y="3777852"/>
            <a:ext cx="1547858" cy="1547858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1736744" y="4053521"/>
            <a:ext cx="2789555" cy="85661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800" spc="235" i="1">
                <a:solidFill>
                  <a:srgbClr val="18374D"/>
                </a:solidFill>
                <a:latin typeface="Arial Narrow"/>
                <a:cs typeface="Arial Narrow"/>
              </a:rPr>
              <a:t>Néstor</a:t>
            </a:r>
            <a:r>
              <a:rPr dirty="0" sz="2800" spc="70" i="1">
                <a:solidFill>
                  <a:srgbClr val="18374D"/>
                </a:solidFill>
                <a:latin typeface="Arial Narrow"/>
                <a:cs typeface="Arial Narrow"/>
              </a:rPr>
              <a:t> </a:t>
            </a:r>
            <a:r>
              <a:rPr dirty="0" sz="2800" spc="190" i="1">
                <a:solidFill>
                  <a:srgbClr val="18374D"/>
                </a:solidFill>
                <a:latin typeface="Arial Narrow"/>
                <a:cs typeface="Arial Narrow"/>
              </a:rPr>
              <a:t>Carvacho</a:t>
            </a:r>
            <a:endParaRPr sz="28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Desarrollador</a:t>
            </a:r>
            <a:r>
              <a:rPr dirty="0" sz="2100" spc="14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frontend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16000" y="5974506"/>
            <a:ext cx="3641090" cy="1289050"/>
          </a:xfrm>
          <a:prstGeom prst="rect">
            <a:avLst/>
          </a:prstGeom>
        </p:spPr>
        <p:txBody>
          <a:bodyPr wrap="square" lIns="0" tIns="232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dirty="0" sz="4000" spc="345" i="1">
                <a:solidFill>
                  <a:srgbClr val="18374D"/>
                </a:solidFill>
                <a:latin typeface="Arial Narrow"/>
                <a:cs typeface="Arial Narrow"/>
              </a:rPr>
              <a:t>Líder</a:t>
            </a:r>
            <a:r>
              <a:rPr dirty="0" sz="4000" spc="100" i="1">
                <a:solidFill>
                  <a:srgbClr val="18374D"/>
                </a:solidFill>
                <a:latin typeface="Arial Narrow"/>
                <a:cs typeface="Arial Narrow"/>
              </a:rPr>
              <a:t> </a:t>
            </a:r>
            <a:r>
              <a:rPr dirty="0" sz="4000" spc="300" i="1">
                <a:solidFill>
                  <a:srgbClr val="18374D"/>
                </a:solidFill>
                <a:latin typeface="Arial Narrow"/>
                <a:cs typeface="Arial Narrow"/>
              </a:rPr>
              <a:t>del</a:t>
            </a:r>
            <a:r>
              <a:rPr dirty="0" sz="4000" spc="100" i="1">
                <a:solidFill>
                  <a:srgbClr val="18374D"/>
                </a:solidFill>
                <a:latin typeface="Arial Narrow"/>
                <a:cs typeface="Arial Narrow"/>
              </a:rPr>
              <a:t> </a:t>
            </a:r>
            <a:r>
              <a:rPr dirty="0" sz="4000" spc="315" i="1">
                <a:solidFill>
                  <a:srgbClr val="18374D"/>
                </a:solidFill>
                <a:latin typeface="Arial Narrow"/>
                <a:cs typeface="Arial Narrow"/>
              </a:rPr>
              <a:t>equipo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sz="2100" spc="135">
                <a:solidFill>
                  <a:srgbClr val="18374D"/>
                </a:solidFill>
                <a:latin typeface="Calibri"/>
                <a:cs typeface="Calibri"/>
              </a:rPr>
              <a:t>Deyse</a:t>
            </a:r>
            <a:r>
              <a:rPr dirty="0" sz="2100" spc="13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00">
                <a:solidFill>
                  <a:srgbClr val="18374D"/>
                </a:solidFill>
                <a:latin typeface="Calibri"/>
                <a:cs typeface="Calibri"/>
              </a:rPr>
              <a:t>Henriquéz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53560" y="5623374"/>
            <a:ext cx="1547858" cy="1547858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1736744" y="5949846"/>
            <a:ext cx="2843530" cy="85661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800" spc="270" i="1">
                <a:solidFill>
                  <a:srgbClr val="18374D"/>
                </a:solidFill>
                <a:latin typeface="Arial Narrow"/>
                <a:cs typeface="Arial Narrow"/>
              </a:rPr>
              <a:t>Gary</a:t>
            </a:r>
            <a:r>
              <a:rPr dirty="0" sz="2800" spc="65" i="1">
                <a:solidFill>
                  <a:srgbClr val="18374D"/>
                </a:solidFill>
                <a:latin typeface="Arial Narrow"/>
                <a:cs typeface="Arial Narrow"/>
              </a:rPr>
              <a:t> </a:t>
            </a:r>
            <a:r>
              <a:rPr dirty="0" sz="2800" spc="204" i="1">
                <a:solidFill>
                  <a:srgbClr val="18374D"/>
                </a:solidFill>
                <a:latin typeface="Arial Narrow"/>
                <a:cs typeface="Arial Narrow"/>
              </a:rPr>
              <a:t>Villegas</a:t>
            </a:r>
            <a:endParaRPr sz="28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dirty="0" sz="2100" spc="105">
                <a:solidFill>
                  <a:srgbClr val="18374D"/>
                </a:solidFill>
                <a:latin typeface="Calibri"/>
                <a:cs typeface="Calibri"/>
              </a:rPr>
              <a:t>Arquitecto</a:t>
            </a:r>
            <a:r>
              <a:rPr dirty="0" sz="2100" spc="1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1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75">
                <a:solidFill>
                  <a:srgbClr val="18374D"/>
                </a:solidFill>
                <a:latin typeface="Calibri"/>
                <a:cs typeface="Calibri"/>
              </a:rPr>
              <a:t>software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90590" y="8806876"/>
            <a:ext cx="3667124" cy="9048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5E7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56964"/>
            <a:ext cx="946150" cy="1139190"/>
          </a:xfrm>
          <a:custGeom>
            <a:avLst/>
            <a:gdLst/>
            <a:ahLst/>
            <a:cxnLst/>
            <a:rect l="l" t="t" r="r" b="b"/>
            <a:pathLst>
              <a:path w="946150" h="1139189">
                <a:moveTo>
                  <a:pt x="0" y="1139098"/>
                </a:moveTo>
                <a:lnTo>
                  <a:pt x="0" y="0"/>
                </a:lnTo>
                <a:lnTo>
                  <a:pt x="945522" y="569561"/>
                </a:lnTo>
                <a:lnTo>
                  <a:pt x="0" y="1139098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3505610"/>
            <a:ext cx="946150" cy="1139190"/>
          </a:xfrm>
          <a:custGeom>
            <a:avLst/>
            <a:gdLst/>
            <a:ahLst/>
            <a:cxnLst/>
            <a:rect l="l" t="t" r="r" b="b"/>
            <a:pathLst>
              <a:path w="946150" h="1139189">
                <a:moveTo>
                  <a:pt x="0" y="1139123"/>
                </a:moveTo>
                <a:lnTo>
                  <a:pt x="0" y="0"/>
                </a:lnTo>
                <a:lnTo>
                  <a:pt x="945522" y="569561"/>
                </a:lnTo>
                <a:lnTo>
                  <a:pt x="0" y="1139123"/>
                </a:lnTo>
                <a:close/>
              </a:path>
            </a:pathLst>
          </a:custGeom>
          <a:solidFill>
            <a:srgbClr val="406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7778609"/>
            <a:ext cx="946150" cy="1139190"/>
          </a:xfrm>
          <a:custGeom>
            <a:avLst/>
            <a:gdLst/>
            <a:ahLst/>
            <a:cxnLst/>
            <a:rect l="l" t="t" r="r" b="b"/>
            <a:pathLst>
              <a:path w="946150" h="1139190">
                <a:moveTo>
                  <a:pt x="0" y="1139098"/>
                </a:moveTo>
                <a:lnTo>
                  <a:pt x="0" y="0"/>
                </a:lnTo>
                <a:lnTo>
                  <a:pt x="945522" y="569561"/>
                </a:lnTo>
                <a:lnTo>
                  <a:pt x="0" y="1139098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0" y="514350"/>
            <a:ext cx="6857365" cy="9258300"/>
            <a:chOff x="0" y="514350"/>
            <a:chExt cx="6857365" cy="9258300"/>
          </a:xfrm>
        </p:grpSpPr>
        <p:sp>
          <p:nvSpPr>
            <p:cNvPr id="7" name="object 7"/>
            <p:cNvSpPr/>
            <p:nvPr/>
          </p:nvSpPr>
          <p:spPr>
            <a:xfrm>
              <a:off x="0" y="1226526"/>
              <a:ext cx="946150" cy="1424940"/>
            </a:xfrm>
            <a:custGeom>
              <a:avLst/>
              <a:gdLst/>
              <a:ahLst/>
              <a:cxnLst/>
              <a:rect l="l" t="t" r="r" b="b"/>
              <a:pathLst>
                <a:path w="946150" h="1424939">
                  <a:moveTo>
                    <a:pt x="945522" y="1424322"/>
                  </a:moveTo>
                  <a:lnTo>
                    <a:pt x="0" y="854761"/>
                  </a:lnTo>
                  <a:lnTo>
                    <a:pt x="0" y="569536"/>
                  </a:lnTo>
                  <a:lnTo>
                    <a:pt x="945522" y="0"/>
                  </a:lnTo>
                  <a:lnTo>
                    <a:pt x="945522" y="1424322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2650849"/>
              <a:ext cx="946150" cy="1424940"/>
            </a:xfrm>
            <a:custGeom>
              <a:avLst/>
              <a:gdLst/>
              <a:ahLst/>
              <a:cxnLst/>
              <a:rect l="l" t="t" r="r" b="b"/>
              <a:pathLst>
                <a:path w="946150" h="1424939">
                  <a:moveTo>
                    <a:pt x="945522" y="1424322"/>
                  </a:moveTo>
                  <a:lnTo>
                    <a:pt x="0" y="854761"/>
                  </a:lnTo>
                  <a:lnTo>
                    <a:pt x="0" y="569536"/>
                  </a:lnTo>
                  <a:lnTo>
                    <a:pt x="945522" y="0"/>
                  </a:lnTo>
                  <a:lnTo>
                    <a:pt x="945522" y="142432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4075172"/>
              <a:ext cx="946150" cy="1424940"/>
            </a:xfrm>
            <a:custGeom>
              <a:avLst/>
              <a:gdLst/>
              <a:ahLst/>
              <a:cxnLst/>
              <a:rect l="l" t="t" r="r" b="b"/>
              <a:pathLst>
                <a:path w="946150" h="1424939">
                  <a:moveTo>
                    <a:pt x="945522" y="1424322"/>
                  </a:moveTo>
                  <a:lnTo>
                    <a:pt x="0" y="854786"/>
                  </a:lnTo>
                  <a:lnTo>
                    <a:pt x="0" y="569561"/>
                  </a:lnTo>
                  <a:lnTo>
                    <a:pt x="945522" y="0"/>
                  </a:lnTo>
                  <a:lnTo>
                    <a:pt x="945522" y="1424322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5499494"/>
              <a:ext cx="946150" cy="1424940"/>
            </a:xfrm>
            <a:custGeom>
              <a:avLst/>
              <a:gdLst/>
              <a:ahLst/>
              <a:cxnLst/>
              <a:rect l="l" t="t" r="r" b="b"/>
              <a:pathLst>
                <a:path w="946150" h="1424940">
                  <a:moveTo>
                    <a:pt x="945522" y="1424322"/>
                  </a:moveTo>
                  <a:lnTo>
                    <a:pt x="0" y="854785"/>
                  </a:lnTo>
                  <a:lnTo>
                    <a:pt x="0" y="569561"/>
                  </a:lnTo>
                  <a:lnTo>
                    <a:pt x="945522" y="0"/>
                  </a:lnTo>
                  <a:lnTo>
                    <a:pt x="945522" y="142432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6923818"/>
              <a:ext cx="946150" cy="1424940"/>
            </a:xfrm>
            <a:custGeom>
              <a:avLst/>
              <a:gdLst/>
              <a:ahLst/>
              <a:cxnLst/>
              <a:rect l="l" t="t" r="r" b="b"/>
              <a:pathLst>
                <a:path w="946150" h="1424940">
                  <a:moveTo>
                    <a:pt x="945522" y="1424353"/>
                  </a:moveTo>
                  <a:lnTo>
                    <a:pt x="0" y="854792"/>
                  </a:lnTo>
                  <a:lnTo>
                    <a:pt x="0" y="569561"/>
                  </a:lnTo>
                  <a:lnTo>
                    <a:pt x="945522" y="0"/>
                  </a:lnTo>
                  <a:lnTo>
                    <a:pt x="945522" y="1424353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45515" y="514361"/>
              <a:ext cx="1182370" cy="2849245"/>
            </a:xfrm>
            <a:custGeom>
              <a:avLst/>
              <a:gdLst/>
              <a:ahLst/>
              <a:cxnLst/>
              <a:rect l="l" t="t" r="r" b="b"/>
              <a:pathLst>
                <a:path w="1182370" h="2849245">
                  <a:moveTo>
                    <a:pt x="1182281" y="1424317"/>
                  </a:moveTo>
                  <a:lnTo>
                    <a:pt x="0" y="2136495"/>
                  </a:lnTo>
                  <a:lnTo>
                    <a:pt x="1182281" y="2848635"/>
                  </a:lnTo>
                  <a:lnTo>
                    <a:pt x="1182281" y="1424317"/>
                  </a:lnTo>
                  <a:close/>
                </a:path>
                <a:path w="1182370" h="2849245">
                  <a:moveTo>
                    <a:pt x="1182281" y="0"/>
                  </a:moveTo>
                  <a:lnTo>
                    <a:pt x="0" y="712165"/>
                  </a:lnTo>
                  <a:lnTo>
                    <a:pt x="1182281" y="1424317"/>
                  </a:lnTo>
                  <a:lnTo>
                    <a:pt x="1182281" y="0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45522" y="3362995"/>
              <a:ext cx="1182370" cy="1424940"/>
            </a:xfrm>
            <a:custGeom>
              <a:avLst/>
              <a:gdLst/>
              <a:ahLst/>
              <a:cxnLst/>
              <a:rect l="l" t="t" r="r" b="b"/>
              <a:pathLst>
                <a:path w="1182370" h="1424939">
                  <a:moveTo>
                    <a:pt x="1182276" y="1424353"/>
                  </a:moveTo>
                  <a:lnTo>
                    <a:pt x="0" y="712176"/>
                  </a:lnTo>
                  <a:lnTo>
                    <a:pt x="1182276" y="0"/>
                  </a:lnTo>
                  <a:lnTo>
                    <a:pt x="1182276" y="1424353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45522" y="4787349"/>
              <a:ext cx="1182370" cy="1424940"/>
            </a:xfrm>
            <a:custGeom>
              <a:avLst/>
              <a:gdLst/>
              <a:ahLst/>
              <a:cxnLst/>
              <a:rect l="l" t="t" r="r" b="b"/>
              <a:pathLst>
                <a:path w="1182370" h="1424939">
                  <a:moveTo>
                    <a:pt x="1182276" y="1424322"/>
                  </a:moveTo>
                  <a:lnTo>
                    <a:pt x="0" y="712145"/>
                  </a:lnTo>
                  <a:lnTo>
                    <a:pt x="1182276" y="0"/>
                  </a:lnTo>
                  <a:lnTo>
                    <a:pt x="1182276" y="1424322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45515" y="6211684"/>
              <a:ext cx="1182370" cy="2849245"/>
            </a:xfrm>
            <a:custGeom>
              <a:avLst/>
              <a:gdLst/>
              <a:ahLst/>
              <a:cxnLst/>
              <a:rect l="l" t="t" r="r" b="b"/>
              <a:pathLst>
                <a:path w="1182370" h="2849245">
                  <a:moveTo>
                    <a:pt x="1182281" y="1424317"/>
                  </a:moveTo>
                  <a:lnTo>
                    <a:pt x="0" y="2136495"/>
                  </a:lnTo>
                  <a:lnTo>
                    <a:pt x="1182281" y="2848635"/>
                  </a:lnTo>
                  <a:lnTo>
                    <a:pt x="1182281" y="1424317"/>
                  </a:lnTo>
                  <a:close/>
                </a:path>
                <a:path w="1182370" h="2849245">
                  <a:moveTo>
                    <a:pt x="1182281" y="0"/>
                  </a:moveTo>
                  <a:lnTo>
                    <a:pt x="0" y="712139"/>
                  </a:lnTo>
                  <a:lnTo>
                    <a:pt x="1182281" y="1424317"/>
                  </a:lnTo>
                  <a:lnTo>
                    <a:pt x="1182281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45522" y="8348171"/>
              <a:ext cx="1182370" cy="1424940"/>
            </a:xfrm>
            <a:custGeom>
              <a:avLst/>
              <a:gdLst/>
              <a:ahLst/>
              <a:cxnLst/>
              <a:rect l="l" t="t" r="r" b="b"/>
              <a:pathLst>
                <a:path w="1182370" h="1424940">
                  <a:moveTo>
                    <a:pt x="0" y="1424323"/>
                  </a:moveTo>
                  <a:lnTo>
                    <a:pt x="0" y="0"/>
                  </a:lnTo>
                  <a:lnTo>
                    <a:pt x="1182276" y="712146"/>
                  </a:lnTo>
                  <a:lnTo>
                    <a:pt x="0" y="1424323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127830" y="514350"/>
              <a:ext cx="1182370" cy="1424940"/>
            </a:xfrm>
            <a:custGeom>
              <a:avLst/>
              <a:gdLst/>
              <a:ahLst/>
              <a:cxnLst/>
              <a:rect l="l" t="t" r="r" b="b"/>
              <a:pathLst>
                <a:path w="1182370" h="1424939">
                  <a:moveTo>
                    <a:pt x="0" y="1424322"/>
                  </a:moveTo>
                  <a:lnTo>
                    <a:pt x="0" y="0"/>
                  </a:lnTo>
                  <a:lnTo>
                    <a:pt x="1182276" y="712176"/>
                  </a:lnTo>
                  <a:lnTo>
                    <a:pt x="0" y="1424322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127821" y="2650857"/>
              <a:ext cx="1182370" cy="3561079"/>
            </a:xfrm>
            <a:custGeom>
              <a:avLst/>
              <a:gdLst/>
              <a:ahLst/>
              <a:cxnLst/>
              <a:rect l="l" t="t" r="r" b="b"/>
              <a:pathLst>
                <a:path w="1182370" h="3561079">
                  <a:moveTo>
                    <a:pt x="1182281" y="2848648"/>
                  </a:moveTo>
                  <a:lnTo>
                    <a:pt x="0" y="2136495"/>
                  </a:lnTo>
                  <a:lnTo>
                    <a:pt x="0" y="3560826"/>
                  </a:lnTo>
                  <a:lnTo>
                    <a:pt x="1182281" y="2848648"/>
                  </a:lnTo>
                  <a:close/>
                </a:path>
                <a:path w="1182370" h="3561079">
                  <a:moveTo>
                    <a:pt x="1182281" y="0"/>
                  </a:moveTo>
                  <a:lnTo>
                    <a:pt x="0" y="712139"/>
                  </a:lnTo>
                  <a:lnTo>
                    <a:pt x="1182281" y="1424317"/>
                  </a:lnTo>
                  <a:lnTo>
                    <a:pt x="1182281" y="0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127821" y="514361"/>
              <a:ext cx="2364740" cy="7833995"/>
            </a:xfrm>
            <a:custGeom>
              <a:avLst/>
              <a:gdLst/>
              <a:ahLst/>
              <a:cxnLst/>
              <a:rect l="l" t="t" r="r" b="b"/>
              <a:pathLst>
                <a:path w="2364740" h="7833995">
                  <a:moveTo>
                    <a:pt x="1182281" y="6409461"/>
                  </a:moveTo>
                  <a:lnTo>
                    <a:pt x="0" y="7121639"/>
                  </a:lnTo>
                  <a:lnTo>
                    <a:pt x="1182281" y="7833817"/>
                  </a:lnTo>
                  <a:lnTo>
                    <a:pt x="1182281" y="6409461"/>
                  </a:lnTo>
                  <a:close/>
                </a:path>
                <a:path w="2364740" h="7833995">
                  <a:moveTo>
                    <a:pt x="1182281" y="3560813"/>
                  </a:moveTo>
                  <a:lnTo>
                    <a:pt x="0" y="4272991"/>
                  </a:lnTo>
                  <a:lnTo>
                    <a:pt x="1182281" y="4985143"/>
                  </a:lnTo>
                  <a:lnTo>
                    <a:pt x="1182281" y="3560813"/>
                  </a:lnTo>
                  <a:close/>
                </a:path>
                <a:path w="2364740" h="7833995">
                  <a:moveTo>
                    <a:pt x="2364562" y="5697321"/>
                  </a:moveTo>
                  <a:lnTo>
                    <a:pt x="1182281" y="6409461"/>
                  </a:lnTo>
                  <a:lnTo>
                    <a:pt x="2364562" y="7121639"/>
                  </a:lnTo>
                  <a:lnTo>
                    <a:pt x="2364562" y="5697321"/>
                  </a:lnTo>
                  <a:close/>
                </a:path>
                <a:path w="2364740" h="7833995">
                  <a:moveTo>
                    <a:pt x="2364562" y="2848635"/>
                  </a:moveTo>
                  <a:lnTo>
                    <a:pt x="1182281" y="3560813"/>
                  </a:lnTo>
                  <a:lnTo>
                    <a:pt x="2364562" y="4272991"/>
                  </a:lnTo>
                  <a:lnTo>
                    <a:pt x="2364562" y="2848635"/>
                  </a:lnTo>
                  <a:close/>
                </a:path>
                <a:path w="2364740" h="7833995">
                  <a:moveTo>
                    <a:pt x="2364562" y="1424317"/>
                  </a:moveTo>
                  <a:lnTo>
                    <a:pt x="1182281" y="2136495"/>
                  </a:lnTo>
                  <a:lnTo>
                    <a:pt x="2364562" y="2848635"/>
                  </a:lnTo>
                  <a:lnTo>
                    <a:pt x="2364562" y="1424317"/>
                  </a:lnTo>
                  <a:close/>
                </a:path>
                <a:path w="2364740" h="7833995">
                  <a:moveTo>
                    <a:pt x="2364562" y="0"/>
                  </a:moveTo>
                  <a:lnTo>
                    <a:pt x="1182281" y="712165"/>
                  </a:lnTo>
                  <a:lnTo>
                    <a:pt x="2364562" y="1424317"/>
                  </a:lnTo>
                  <a:lnTo>
                    <a:pt x="2364562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310107" y="1226526"/>
              <a:ext cx="1182370" cy="1424940"/>
            </a:xfrm>
            <a:custGeom>
              <a:avLst/>
              <a:gdLst/>
              <a:ahLst/>
              <a:cxnLst/>
              <a:rect l="l" t="t" r="r" b="b"/>
              <a:pathLst>
                <a:path w="1182370" h="1424939">
                  <a:moveTo>
                    <a:pt x="0" y="1424322"/>
                  </a:moveTo>
                  <a:lnTo>
                    <a:pt x="0" y="0"/>
                  </a:lnTo>
                  <a:lnTo>
                    <a:pt x="1182276" y="712146"/>
                  </a:lnTo>
                  <a:lnTo>
                    <a:pt x="0" y="1424322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310102" y="4787353"/>
              <a:ext cx="2364740" cy="4985385"/>
            </a:xfrm>
            <a:custGeom>
              <a:avLst/>
              <a:gdLst/>
              <a:ahLst/>
              <a:cxnLst/>
              <a:rect l="l" t="t" r="r" b="b"/>
              <a:pathLst>
                <a:path w="2364740" h="4985384">
                  <a:moveTo>
                    <a:pt x="1182281" y="4272966"/>
                  </a:moveTo>
                  <a:lnTo>
                    <a:pt x="0" y="3560826"/>
                  </a:lnTo>
                  <a:lnTo>
                    <a:pt x="0" y="4985143"/>
                  </a:lnTo>
                  <a:lnTo>
                    <a:pt x="1182281" y="4272966"/>
                  </a:lnTo>
                  <a:close/>
                </a:path>
                <a:path w="2364740" h="4985384">
                  <a:moveTo>
                    <a:pt x="1182281" y="1424330"/>
                  </a:moveTo>
                  <a:lnTo>
                    <a:pt x="0" y="712152"/>
                  </a:lnTo>
                  <a:lnTo>
                    <a:pt x="0" y="2136470"/>
                  </a:lnTo>
                  <a:lnTo>
                    <a:pt x="1182281" y="1424330"/>
                  </a:lnTo>
                  <a:close/>
                </a:path>
                <a:path w="2364740" h="4985384">
                  <a:moveTo>
                    <a:pt x="2364549" y="712152"/>
                  </a:moveTo>
                  <a:lnTo>
                    <a:pt x="1182281" y="0"/>
                  </a:lnTo>
                  <a:lnTo>
                    <a:pt x="1182281" y="1424330"/>
                  </a:lnTo>
                  <a:lnTo>
                    <a:pt x="2364549" y="71215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92383" y="6211672"/>
              <a:ext cx="1182370" cy="1424940"/>
            </a:xfrm>
            <a:custGeom>
              <a:avLst/>
              <a:gdLst/>
              <a:ahLst/>
              <a:cxnLst/>
              <a:rect l="l" t="t" r="r" b="b"/>
              <a:pathLst>
                <a:path w="1182370" h="1424940">
                  <a:moveTo>
                    <a:pt x="0" y="1424323"/>
                  </a:moveTo>
                  <a:lnTo>
                    <a:pt x="0" y="0"/>
                  </a:lnTo>
                  <a:lnTo>
                    <a:pt x="1182276" y="712146"/>
                  </a:lnTo>
                  <a:lnTo>
                    <a:pt x="0" y="1424323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92383" y="1226527"/>
              <a:ext cx="1182370" cy="7833995"/>
            </a:xfrm>
            <a:custGeom>
              <a:avLst/>
              <a:gdLst/>
              <a:ahLst/>
              <a:cxnLst/>
              <a:rect l="l" t="t" r="r" b="b"/>
              <a:pathLst>
                <a:path w="1182370" h="7833995">
                  <a:moveTo>
                    <a:pt x="1182268" y="7121652"/>
                  </a:moveTo>
                  <a:lnTo>
                    <a:pt x="0" y="6409474"/>
                  </a:lnTo>
                  <a:lnTo>
                    <a:pt x="0" y="7833792"/>
                  </a:lnTo>
                  <a:lnTo>
                    <a:pt x="1182268" y="7121652"/>
                  </a:lnTo>
                  <a:close/>
                </a:path>
                <a:path w="1182370" h="7833995">
                  <a:moveTo>
                    <a:pt x="1182268" y="0"/>
                  </a:moveTo>
                  <a:lnTo>
                    <a:pt x="0" y="712152"/>
                  </a:lnTo>
                  <a:lnTo>
                    <a:pt x="1182268" y="1424330"/>
                  </a:lnTo>
                  <a:lnTo>
                    <a:pt x="1182268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492383" y="2650849"/>
              <a:ext cx="1182370" cy="1424940"/>
            </a:xfrm>
            <a:custGeom>
              <a:avLst/>
              <a:gdLst/>
              <a:ahLst/>
              <a:cxnLst/>
              <a:rect l="l" t="t" r="r" b="b"/>
              <a:pathLst>
                <a:path w="1182370" h="1424939">
                  <a:moveTo>
                    <a:pt x="1182276" y="1424322"/>
                  </a:moveTo>
                  <a:lnTo>
                    <a:pt x="0" y="712145"/>
                  </a:lnTo>
                  <a:lnTo>
                    <a:pt x="1182276" y="0"/>
                  </a:lnTo>
                  <a:lnTo>
                    <a:pt x="1182276" y="142432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492383" y="4075172"/>
              <a:ext cx="1182370" cy="1424940"/>
            </a:xfrm>
            <a:custGeom>
              <a:avLst/>
              <a:gdLst/>
              <a:ahLst/>
              <a:cxnLst/>
              <a:rect l="l" t="t" r="r" b="b"/>
              <a:pathLst>
                <a:path w="1182370" h="1424939">
                  <a:moveTo>
                    <a:pt x="1182276" y="1424322"/>
                  </a:moveTo>
                  <a:lnTo>
                    <a:pt x="0" y="712177"/>
                  </a:lnTo>
                  <a:lnTo>
                    <a:pt x="1182276" y="0"/>
                  </a:lnTo>
                  <a:lnTo>
                    <a:pt x="1182276" y="1424322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674660" y="4787349"/>
              <a:ext cx="1182370" cy="1424940"/>
            </a:xfrm>
            <a:custGeom>
              <a:avLst/>
              <a:gdLst/>
              <a:ahLst/>
              <a:cxnLst/>
              <a:rect l="l" t="t" r="r" b="b"/>
              <a:pathLst>
                <a:path w="1182370" h="1424939">
                  <a:moveTo>
                    <a:pt x="1182276" y="1424322"/>
                  </a:moveTo>
                  <a:lnTo>
                    <a:pt x="0" y="712145"/>
                  </a:lnTo>
                  <a:lnTo>
                    <a:pt x="1182276" y="0"/>
                  </a:lnTo>
                  <a:lnTo>
                    <a:pt x="1182276" y="142432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674652" y="2650857"/>
              <a:ext cx="1182370" cy="4985385"/>
            </a:xfrm>
            <a:custGeom>
              <a:avLst/>
              <a:gdLst/>
              <a:ahLst/>
              <a:cxnLst/>
              <a:rect l="l" t="t" r="r" b="b"/>
              <a:pathLst>
                <a:path w="1182370" h="4985384">
                  <a:moveTo>
                    <a:pt x="1182281" y="3560826"/>
                  </a:moveTo>
                  <a:lnTo>
                    <a:pt x="0" y="4272966"/>
                  </a:lnTo>
                  <a:lnTo>
                    <a:pt x="1182281" y="4985143"/>
                  </a:lnTo>
                  <a:lnTo>
                    <a:pt x="1182281" y="3560826"/>
                  </a:lnTo>
                  <a:close/>
                </a:path>
                <a:path w="1182370" h="4985384">
                  <a:moveTo>
                    <a:pt x="1182281" y="712139"/>
                  </a:moveTo>
                  <a:lnTo>
                    <a:pt x="0" y="0"/>
                  </a:lnTo>
                  <a:lnTo>
                    <a:pt x="0" y="1424317"/>
                  </a:lnTo>
                  <a:lnTo>
                    <a:pt x="1182281" y="712139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674660" y="5499495"/>
              <a:ext cx="1182370" cy="1424940"/>
            </a:xfrm>
            <a:custGeom>
              <a:avLst/>
              <a:gdLst/>
              <a:ahLst/>
              <a:cxnLst/>
              <a:rect l="l" t="t" r="r" b="b"/>
              <a:pathLst>
                <a:path w="1182370" h="1424940">
                  <a:moveTo>
                    <a:pt x="0" y="1424322"/>
                  </a:moveTo>
                  <a:lnTo>
                    <a:pt x="0" y="0"/>
                  </a:lnTo>
                  <a:lnTo>
                    <a:pt x="1182276" y="712176"/>
                  </a:lnTo>
                  <a:lnTo>
                    <a:pt x="0" y="1424322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0590" y="577276"/>
            <a:ext cx="3667124" cy="904874"/>
          </a:xfrm>
          <a:prstGeom prst="rect">
            <a:avLst/>
          </a:prstGeom>
        </p:spPr>
      </p:pic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xfrm>
            <a:off x="9417049" y="1662312"/>
            <a:ext cx="6298565" cy="1691639"/>
          </a:xfrm>
          <a:prstGeom prst="rect"/>
        </p:spPr>
        <p:txBody>
          <a:bodyPr wrap="square" lIns="0" tIns="32384" rIns="0" bIns="0" rtlCol="0" vert="horz">
            <a:spAutoFit/>
          </a:bodyPr>
          <a:lstStyle/>
          <a:p>
            <a:pPr marL="12700" marR="5080">
              <a:lnSpc>
                <a:spcPts val="6530"/>
              </a:lnSpc>
              <a:spcBef>
                <a:spcPts val="254"/>
              </a:spcBef>
            </a:pPr>
            <a:r>
              <a:rPr dirty="0" sz="5500" spc="365"/>
              <a:t>P</a:t>
            </a:r>
            <a:r>
              <a:rPr dirty="0" sz="5500" spc="-715"/>
              <a:t> </a:t>
            </a:r>
            <a:r>
              <a:rPr dirty="0" sz="5500" spc="825"/>
              <a:t>R</a:t>
            </a:r>
            <a:r>
              <a:rPr dirty="0" sz="5500" spc="105"/>
              <a:t>O</a:t>
            </a:r>
            <a:r>
              <a:rPr dirty="0" sz="5500" spc="-720"/>
              <a:t> </a:t>
            </a:r>
            <a:r>
              <a:rPr dirty="0" sz="5500" spc="365"/>
              <a:t>P</a:t>
            </a:r>
            <a:r>
              <a:rPr dirty="0" sz="5500" spc="-710"/>
              <a:t> </a:t>
            </a:r>
            <a:r>
              <a:rPr dirty="0" sz="5500" spc="350"/>
              <a:t>U</a:t>
            </a:r>
            <a:r>
              <a:rPr dirty="0" sz="5500" spc="-720"/>
              <a:t> </a:t>
            </a:r>
            <a:r>
              <a:rPr dirty="0" sz="5500" spc="200"/>
              <a:t>E</a:t>
            </a:r>
            <a:r>
              <a:rPr dirty="0" sz="5500" spc="-710"/>
              <a:t> </a:t>
            </a:r>
            <a:r>
              <a:rPr dirty="0" sz="5500" spc="1155"/>
              <a:t>S</a:t>
            </a:r>
            <a:r>
              <a:rPr dirty="0" sz="5500" spc="840"/>
              <a:t>T</a:t>
            </a:r>
            <a:r>
              <a:rPr dirty="0" sz="5500" spc="350"/>
              <a:t>A</a:t>
            </a:r>
            <a:r>
              <a:rPr dirty="0" sz="5500"/>
              <a:t>  </a:t>
            </a:r>
            <a:r>
              <a:rPr dirty="0" sz="5500" spc="150"/>
              <a:t>D</a:t>
            </a:r>
            <a:r>
              <a:rPr dirty="0" sz="5500" spc="-720"/>
              <a:t> </a:t>
            </a:r>
            <a:r>
              <a:rPr dirty="0" sz="5500" spc="150"/>
              <a:t>E </a:t>
            </a:r>
            <a:r>
              <a:rPr dirty="0" sz="5500" spc="600"/>
              <a:t>S</a:t>
            </a:r>
            <a:r>
              <a:rPr dirty="0" sz="5500" spc="-710"/>
              <a:t> </a:t>
            </a:r>
            <a:r>
              <a:rPr dirty="0" sz="5500" spc="-240"/>
              <a:t>O</a:t>
            </a:r>
            <a:r>
              <a:rPr dirty="0" sz="5500" spc="-715"/>
              <a:t> </a:t>
            </a:r>
            <a:r>
              <a:rPr dirty="0" sz="5500" spc="190"/>
              <a:t>L</a:t>
            </a:r>
            <a:r>
              <a:rPr dirty="0" sz="5500" spc="-710"/>
              <a:t> </a:t>
            </a:r>
            <a:r>
              <a:rPr dirty="0" sz="5500" spc="350"/>
              <a:t>U</a:t>
            </a:r>
            <a:r>
              <a:rPr dirty="0" sz="5500" spc="-715"/>
              <a:t> </a:t>
            </a:r>
            <a:r>
              <a:rPr dirty="0" sz="5500" spc="-95"/>
              <a:t>C</a:t>
            </a:r>
            <a:r>
              <a:rPr dirty="0" sz="5500" spc="-715"/>
              <a:t> </a:t>
            </a:r>
            <a:r>
              <a:rPr dirty="0" sz="5500" spc="260"/>
              <a:t>I</a:t>
            </a:r>
            <a:r>
              <a:rPr dirty="0" sz="5500" spc="-710"/>
              <a:t> </a:t>
            </a:r>
            <a:r>
              <a:rPr dirty="0" sz="5500" spc="-240"/>
              <a:t>Ó</a:t>
            </a:r>
            <a:r>
              <a:rPr dirty="0" sz="5500" spc="-715"/>
              <a:t> </a:t>
            </a:r>
            <a:r>
              <a:rPr dirty="0" sz="5500" spc="315"/>
              <a:t>N</a:t>
            </a:r>
            <a:endParaRPr sz="5500"/>
          </a:p>
        </p:txBody>
      </p:sp>
      <p:sp>
        <p:nvSpPr>
          <p:cNvPr id="30" name="object 30"/>
          <p:cNvSpPr txBox="1"/>
          <p:nvPr/>
        </p:nvSpPr>
        <p:spPr>
          <a:xfrm>
            <a:off x="9417049" y="3553855"/>
            <a:ext cx="6811645" cy="544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Khepri</a:t>
            </a:r>
            <a:r>
              <a:rPr dirty="0" sz="2100" spc="39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35">
                <a:solidFill>
                  <a:srgbClr val="18374D"/>
                </a:solidFill>
                <a:latin typeface="Calibri"/>
                <a:cs typeface="Calibri"/>
              </a:rPr>
              <a:t>es</a:t>
            </a:r>
            <a:r>
              <a:rPr dirty="0" sz="2100" spc="4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un</a:t>
            </a:r>
            <a:r>
              <a:rPr dirty="0" sz="2100" spc="39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235">
                <a:solidFill>
                  <a:srgbClr val="18374D"/>
                </a:solidFill>
                <a:latin typeface="Calibri"/>
                <a:cs typeface="Calibri"/>
              </a:rPr>
              <a:t>WMS</a:t>
            </a:r>
            <a:r>
              <a:rPr dirty="0" sz="2100" spc="4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35">
                <a:solidFill>
                  <a:srgbClr val="18374D"/>
                </a:solidFill>
                <a:latin typeface="Calibri"/>
                <a:cs typeface="Calibri"/>
              </a:rPr>
              <a:t>web</a:t>
            </a:r>
            <a:r>
              <a:rPr dirty="0" sz="2100" spc="39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20">
                <a:solidFill>
                  <a:srgbClr val="18374D"/>
                </a:solidFill>
                <a:latin typeface="Calibri"/>
                <a:cs typeface="Calibri"/>
              </a:rPr>
              <a:t>multi-</a:t>
            </a:r>
            <a:r>
              <a:rPr dirty="0" sz="2100" spc="100">
                <a:solidFill>
                  <a:srgbClr val="18374D"/>
                </a:solidFill>
                <a:latin typeface="Calibri"/>
                <a:cs typeface="Calibri"/>
              </a:rPr>
              <a:t>empresa</a:t>
            </a:r>
            <a:r>
              <a:rPr dirty="0" sz="2100" spc="4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25">
                <a:solidFill>
                  <a:srgbClr val="18374D"/>
                </a:solidFill>
                <a:latin typeface="Calibri"/>
                <a:cs typeface="Calibri"/>
              </a:rPr>
              <a:t>diseñado</a:t>
            </a:r>
            <a:r>
              <a:rPr dirty="0" sz="2100" spc="4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para </a:t>
            </a:r>
            <a:r>
              <a:rPr dirty="0" sz="2100" spc="80">
                <a:solidFill>
                  <a:srgbClr val="18374D"/>
                </a:solidFill>
                <a:latin typeface="Calibri"/>
                <a:cs typeface="Calibri"/>
              </a:rPr>
              <a:t>centralizar</a:t>
            </a:r>
            <a:r>
              <a:rPr dirty="0" sz="2100" spc="30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80">
                <a:solidFill>
                  <a:srgbClr val="18374D"/>
                </a:solidFill>
                <a:latin typeface="Calibri"/>
                <a:cs typeface="Calibri"/>
              </a:rPr>
              <a:t>la</a:t>
            </a:r>
            <a:r>
              <a:rPr dirty="0" sz="2100" spc="30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20">
                <a:solidFill>
                  <a:srgbClr val="18374D"/>
                </a:solidFill>
                <a:latin typeface="Calibri"/>
                <a:cs typeface="Calibri"/>
              </a:rPr>
              <a:t>gestión</a:t>
            </a:r>
            <a:r>
              <a:rPr dirty="0" sz="2100" spc="30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30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65">
                <a:solidFill>
                  <a:srgbClr val="18374D"/>
                </a:solidFill>
                <a:latin typeface="Calibri"/>
                <a:cs typeface="Calibri"/>
              </a:rPr>
              <a:t>bodega</a:t>
            </a:r>
            <a:r>
              <a:rPr dirty="0" sz="2100" spc="30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100" spc="30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80">
                <a:solidFill>
                  <a:srgbClr val="18374D"/>
                </a:solidFill>
                <a:latin typeface="Calibri"/>
                <a:cs typeface="Calibri"/>
              </a:rPr>
              <a:t>la</a:t>
            </a:r>
            <a:r>
              <a:rPr dirty="0" sz="2100" spc="30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trazabilidad </a:t>
            </a:r>
            <a:r>
              <a:rPr dirty="0" sz="2100" spc="80">
                <a:solidFill>
                  <a:srgbClr val="18374D"/>
                </a:solidFill>
                <a:latin typeface="Calibri"/>
                <a:cs typeface="Calibri"/>
              </a:rPr>
              <a:t>operativa</a:t>
            </a:r>
            <a:r>
              <a:rPr dirty="0" sz="21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en</a:t>
            </a:r>
            <a:r>
              <a:rPr dirty="0" sz="21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tiempo</a:t>
            </a:r>
            <a:r>
              <a:rPr dirty="0" sz="21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80">
                <a:solidFill>
                  <a:srgbClr val="18374D"/>
                </a:solidFill>
                <a:latin typeface="Calibri"/>
                <a:cs typeface="Calibri"/>
              </a:rPr>
              <a:t>real.</a:t>
            </a:r>
            <a:r>
              <a:rPr dirty="0" sz="2100" spc="3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00">
                <a:solidFill>
                  <a:srgbClr val="18374D"/>
                </a:solidFill>
                <a:latin typeface="Calibri"/>
                <a:cs typeface="Calibri"/>
              </a:rPr>
              <a:t>Mediante</a:t>
            </a:r>
            <a:r>
              <a:rPr dirty="0" sz="21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65">
                <a:solidFill>
                  <a:srgbClr val="18374D"/>
                </a:solidFill>
                <a:latin typeface="Calibri"/>
                <a:cs typeface="Calibri"/>
              </a:rPr>
              <a:t>accesos</a:t>
            </a:r>
            <a:r>
              <a:rPr dirty="0" sz="21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seguros, 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mantenedores</a:t>
            </a:r>
            <a:r>
              <a:rPr dirty="0" sz="2100" spc="26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configurables</a:t>
            </a:r>
            <a:r>
              <a:rPr dirty="0" sz="2100" spc="27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100" spc="27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generación</a:t>
            </a:r>
            <a:r>
              <a:rPr dirty="0" sz="2100" spc="26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27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reportes, </a:t>
            </a:r>
            <a:r>
              <a:rPr dirty="0" sz="2100" spc="75">
                <a:solidFill>
                  <a:srgbClr val="18374D"/>
                </a:solidFill>
                <a:latin typeface="Calibri"/>
                <a:cs typeface="Calibri"/>
              </a:rPr>
              <a:t>permite</a:t>
            </a:r>
            <a:r>
              <a:rPr dirty="0" sz="2100" spc="46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unificar</a:t>
            </a:r>
            <a:r>
              <a:rPr dirty="0" sz="2100" spc="47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10">
                <a:solidFill>
                  <a:srgbClr val="18374D"/>
                </a:solidFill>
                <a:latin typeface="Calibri"/>
                <a:cs typeface="Calibri"/>
              </a:rPr>
              <a:t>las</a:t>
            </a:r>
            <a:r>
              <a:rPr dirty="0" sz="2100" spc="46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operaciones</a:t>
            </a:r>
            <a:r>
              <a:rPr dirty="0" sz="2100" spc="47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47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almacén,</a:t>
            </a:r>
            <a:r>
              <a:rPr dirty="0" sz="2100" spc="46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80">
                <a:solidFill>
                  <a:srgbClr val="18374D"/>
                </a:solidFill>
                <a:latin typeface="Calibri"/>
                <a:cs typeface="Calibri"/>
              </a:rPr>
              <a:t>aislar</a:t>
            </a:r>
            <a:r>
              <a:rPr dirty="0" sz="2100" spc="47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45">
                <a:solidFill>
                  <a:srgbClr val="18374D"/>
                </a:solidFill>
                <a:latin typeface="Calibri"/>
                <a:cs typeface="Calibri"/>
              </a:rPr>
              <a:t>la </a:t>
            </a:r>
            <a:r>
              <a:rPr dirty="0" sz="2100" spc="80">
                <a:solidFill>
                  <a:srgbClr val="18374D"/>
                </a:solidFill>
                <a:latin typeface="Calibri"/>
                <a:cs typeface="Calibri"/>
              </a:rPr>
              <a:t>información</a:t>
            </a:r>
            <a:r>
              <a:rPr dirty="0" sz="2100" spc="20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por</a:t>
            </a:r>
            <a:r>
              <a:rPr dirty="0" sz="2100" spc="20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00">
                <a:solidFill>
                  <a:srgbClr val="18374D"/>
                </a:solidFill>
                <a:latin typeface="Calibri"/>
                <a:cs typeface="Calibri"/>
              </a:rPr>
              <a:t>empresa</a:t>
            </a:r>
            <a:r>
              <a:rPr dirty="0" sz="2100" spc="20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100" spc="20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75">
                <a:solidFill>
                  <a:srgbClr val="18374D"/>
                </a:solidFill>
                <a:latin typeface="Calibri"/>
                <a:cs typeface="Calibri"/>
              </a:rPr>
              <a:t>reemplazar</a:t>
            </a:r>
            <a:r>
              <a:rPr dirty="0" sz="2100" spc="204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05">
                <a:solidFill>
                  <a:srgbClr val="18374D"/>
                </a:solidFill>
                <a:latin typeface="Calibri"/>
                <a:cs typeface="Calibri"/>
              </a:rPr>
              <a:t>los</a:t>
            </a:r>
            <a:r>
              <a:rPr dirty="0" sz="2100" spc="20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registros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manuales.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3200" spc="254" i="1">
                <a:solidFill>
                  <a:srgbClr val="18374D"/>
                </a:solidFill>
                <a:latin typeface="Arial Narrow"/>
                <a:cs typeface="Arial Narrow"/>
              </a:rPr>
              <a:t>Problematica</a:t>
            </a:r>
            <a:endParaRPr sz="3200">
              <a:latin typeface="Arial Narrow"/>
              <a:cs typeface="Arial Narrow"/>
            </a:endParaRPr>
          </a:p>
          <a:p>
            <a:pPr algn="just" marL="12700" marR="5080">
              <a:lnSpc>
                <a:spcPct val="107100"/>
              </a:lnSpc>
              <a:spcBef>
                <a:spcPts val="2295"/>
              </a:spcBef>
            </a:pP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La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20">
                <a:solidFill>
                  <a:srgbClr val="18374D"/>
                </a:solidFill>
                <a:latin typeface="Calibri"/>
                <a:cs typeface="Calibri"/>
              </a:rPr>
              <a:t>gestión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75">
                <a:solidFill>
                  <a:srgbClr val="18374D"/>
                </a:solidFill>
                <a:latin typeface="Calibri"/>
                <a:cs typeface="Calibri"/>
              </a:rPr>
              <a:t>inventarios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fragmentada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en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05">
                <a:solidFill>
                  <a:srgbClr val="18374D"/>
                </a:solidFill>
                <a:latin typeface="Calibri"/>
                <a:cs typeface="Calibri"/>
              </a:rPr>
              <a:t>planillas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5">
                <a:solidFill>
                  <a:srgbClr val="18374D"/>
                </a:solidFill>
                <a:latin typeface="Calibri"/>
                <a:cs typeface="Calibri"/>
              </a:rPr>
              <a:t>y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correos</a:t>
            </a:r>
            <a:r>
              <a:rPr dirty="0" sz="2100" spc="34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10">
                <a:solidFill>
                  <a:srgbClr val="18374D"/>
                </a:solidFill>
                <a:latin typeface="Calibri"/>
                <a:cs typeface="Calibri"/>
              </a:rPr>
              <a:t>genera</a:t>
            </a:r>
            <a:r>
              <a:rPr dirty="0" sz="2100" spc="34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35">
                <a:solidFill>
                  <a:srgbClr val="18374D"/>
                </a:solidFill>
                <a:latin typeface="Calibri"/>
                <a:cs typeface="Calibri"/>
              </a:rPr>
              <a:t>descuadres</a:t>
            </a:r>
            <a:r>
              <a:rPr dirty="0" sz="2100" spc="35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34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35">
                <a:solidFill>
                  <a:srgbClr val="18374D"/>
                </a:solidFill>
                <a:latin typeface="Calibri"/>
                <a:cs typeface="Calibri"/>
              </a:rPr>
              <a:t>stock,</a:t>
            </a:r>
            <a:r>
              <a:rPr dirty="0" sz="2100" spc="35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80">
                <a:solidFill>
                  <a:srgbClr val="18374D"/>
                </a:solidFill>
                <a:latin typeface="Calibri"/>
                <a:cs typeface="Calibri"/>
              </a:rPr>
              <a:t>nula</a:t>
            </a:r>
            <a:r>
              <a:rPr dirty="0" sz="2100" spc="34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trazabilidad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100" spc="39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falta</a:t>
            </a:r>
            <a:r>
              <a:rPr dirty="0" sz="2100" spc="39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39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visibilidad</a:t>
            </a:r>
            <a:r>
              <a:rPr dirty="0" sz="2100" spc="39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en</a:t>
            </a:r>
            <a:r>
              <a:rPr dirty="0" sz="2100" spc="39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tiempo</a:t>
            </a:r>
            <a:r>
              <a:rPr dirty="0" sz="2100" spc="39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80">
                <a:solidFill>
                  <a:srgbClr val="18374D"/>
                </a:solidFill>
                <a:latin typeface="Calibri"/>
                <a:cs typeface="Calibri"/>
              </a:rPr>
              <a:t>real.</a:t>
            </a:r>
            <a:r>
              <a:rPr dirty="0" sz="2100" spc="39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30">
                <a:solidFill>
                  <a:srgbClr val="18374D"/>
                </a:solidFill>
                <a:latin typeface="Calibri"/>
                <a:cs typeface="Calibri"/>
              </a:rPr>
              <a:t>Al</a:t>
            </a:r>
            <a:r>
              <a:rPr dirty="0" sz="2100" spc="39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carecer</a:t>
            </a:r>
            <a:r>
              <a:rPr dirty="0" sz="2100" spc="39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39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45">
                <a:solidFill>
                  <a:srgbClr val="18374D"/>
                </a:solidFill>
                <a:latin typeface="Calibri"/>
                <a:cs typeface="Calibri"/>
              </a:rPr>
              <a:t>un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sistema</a:t>
            </a:r>
            <a:r>
              <a:rPr dirty="0" sz="2100" spc="4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único</a:t>
            </a:r>
            <a:r>
              <a:rPr dirty="0" sz="2100" spc="5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100" spc="5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05">
                <a:solidFill>
                  <a:srgbClr val="18374D"/>
                </a:solidFill>
                <a:latin typeface="Calibri"/>
                <a:cs typeface="Calibri"/>
              </a:rPr>
              <a:t>seguro,</a:t>
            </a:r>
            <a:r>
              <a:rPr dirty="0" sz="2100" spc="4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10">
                <a:solidFill>
                  <a:srgbClr val="18374D"/>
                </a:solidFill>
                <a:latin typeface="Calibri"/>
                <a:cs typeface="Calibri"/>
              </a:rPr>
              <a:t>las</a:t>
            </a:r>
            <a:r>
              <a:rPr dirty="0" sz="2100" spc="5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10">
                <a:solidFill>
                  <a:srgbClr val="18374D"/>
                </a:solidFill>
                <a:latin typeface="Calibri"/>
                <a:cs typeface="Calibri"/>
              </a:rPr>
              <a:t>empresas</a:t>
            </a:r>
            <a:r>
              <a:rPr dirty="0" sz="2100" spc="5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sufren</a:t>
            </a:r>
            <a:r>
              <a:rPr dirty="0" sz="2100" spc="5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retrasos </a:t>
            </a:r>
            <a:r>
              <a:rPr dirty="0" sz="2100" spc="135">
                <a:solidFill>
                  <a:srgbClr val="18374D"/>
                </a:solidFill>
                <a:latin typeface="Calibri"/>
                <a:cs typeface="Calibri"/>
              </a:rPr>
              <a:t>logísticos,</a:t>
            </a:r>
            <a:r>
              <a:rPr dirty="0" sz="2100" spc="475">
                <a:solidFill>
                  <a:srgbClr val="18374D"/>
                </a:solidFill>
                <a:latin typeface="Calibri"/>
                <a:cs typeface="Calibri"/>
              </a:rPr>
              <a:t>   </a:t>
            </a:r>
            <a:r>
              <a:rPr dirty="0" sz="2100" spc="125">
                <a:solidFill>
                  <a:srgbClr val="18374D"/>
                </a:solidFill>
                <a:latin typeface="Calibri"/>
                <a:cs typeface="Calibri"/>
              </a:rPr>
              <a:t>sobrecarga</a:t>
            </a:r>
            <a:r>
              <a:rPr dirty="0" sz="2100" spc="475">
                <a:solidFill>
                  <a:srgbClr val="18374D"/>
                </a:solidFill>
                <a:latin typeface="Calibri"/>
                <a:cs typeface="Calibri"/>
              </a:rPr>
              <a:t>  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laboral</a:t>
            </a:r>
            <a:r>
              <a:rPr dirty="0" sz="2100" spc="475">
                <a:solidFill>
                  <a:srgbClr val="18374D"/>
                </a:solidFill>
                <a:latin typeface="Calibri"/>
                <a:cs typeface="Calibri"/>
              </a:rPr>
              <a:t>   </a:t>
            </a:r>
            <a:r>
              <a:rPr dirty="0" sz="2100" spc="105">
                <a:solidFill>
                  <a:srgbClr val="18374D"/>
                </a:solidFill>
                <a:latin typeface="Calibri"/>
                <a:cs typeface="Calibri"/>
              </a:rPr>
              <a:t>e</a:t>
            </a:r>
            <a:r>
              <a:rPr dirty="0" sz="2100" spc="480">
                <a:solidFill>
                  <a:srgbClr val="18374D"/>
                </a:solidFill>
                <a:latin typeface="Calibri"/>
                <a:cs typeface="Calibri"/>
              </a:rPr>
              <a:t>  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incertidumbre </a:t>
            </a:r>
            <a:r>
              <a:rPr dirty="0" sz="2100" spc="80">
                <a:solidFill>
                  <a:srgbClr val="18374D"/>
                </a:solidFill>
                <a:latin typeface="Calibri"/>
                <a:cs typeface="Calibri"/>
              </a:rPr>
              <a:t>operativa.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10666"/>
            <a:ext cx="434975" cy="524510"/>
          </a:xfrm>
          <a:custGeom>
            <a:avLst/>
            <a:gdLst/>
            <a:ahLst/>
            <a:cxnLst/>
            <a:rect l="l" t="t" r="r" b="b"/>
            <a:pathLst>
              <a:path w="434975" h="524510">
                <a:moveTo>
                  <a:pt x="0" y="523969"/>
                </a:moveTo>
                <a:lnTo>
                  <a:pt x="0" y="0"/>
                </a:lnTo>
                <a:lnTo>
                  <a:pt x="434779" y="261979"/>
                </a:lnTo>
                <a:lnTo>
                  <a:pt x="0" y="523969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6580"/>
            <a:ext cx="434975" cy="1266190"/>
            <a:chOff x="0" y="6580"/>
            <a:chExt cx="434975" cy="1266190"/>
          </a:xfrm>
        </p:grpSpPr>
        <p:sp>
          <p:nvSpPr>
            <p:cNvPr id="4" name="object 4"/>
            <p:cNvSpPr/>
            <p:nvPr/>
          </p:nvSpPr>
          <p:spPr>
            <a:xfrm>
              <a:off x="0" y="6580"/>
              <a:ext cx="434975" cy="633095"/>
            </a:xfrm>
            <a:custGeom>
              <a:avLst/>
              <a:gdLst/>
              <a:ahLst/>
              <a:cxnLst/>
              <a:rect l="l" t="t" r="r" b="b"/>
              <a:pathLst>
                <a:path w="434975" h="633095">
                  <a:moveTo>
                    <a:pt x="434779" y="633032"/>
                  </a:moveTo>
                  <a:lnTo>
                    <a:pt x="0" y="371041"/>
                  </a:lnTo>
                  <a:lnTo>
                    <a:pt x="0" y="261979"/>
                  </a:lnTo>
                  <a:lnTo>
                    <a:pt x="434779" y="0"/>
                  </a:lnTo>
                  <a:lnTo>
                    <a:pt x="434779" y="63303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639612"/>
              <a:ext cx="434975" cy="633095"/>
            </a:xfrm>
            <a:custGeom>
              <a:avLst/>
              <a:gdLst/>
              <a:ahLst/>
              <a:cxnLst/>
              <a:rect l="l" t="t" r="r" b="b"/>
              <a:pathLst>
                <a:path w="434975" h="633094">
                  <a:moveTo>
                    <a:pt x="434779" y="633032"/>
                  </a:moveTo>
                  <a:lnTo>
                    <a:pt x="0" y="371053"/>
                  </a:lnTo>
                  <a:lnTo>
                    <a:pt x="0" y="261990"/>
                  </a:lnTo>
                  <a:lnTo>
                    <a:pt x="434779" y="0"/>
                  </a:lnTo>
                  <a:lnTo>
                    <a:pt x="434779" y="633032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434771" y="11"/>
            <a:ext cx="525780" cy="956310"/>
          </a:xfrm>
          <a:custGeom>
            <a:avLst/>
            <a:gdLst/>
            <a:ahLst/>
            <a:cxnLst/>
            <a:rect l="l" t="t" r="r" b="b"/>
            <a:pathLst>
              <a:path w="525780" h="956310">
                <a:moveTo>
                  <a:pt x="525284" y="323088"/>
                </a:moveTo>
                <a:lnTo>
                  <a:pt x="0" y="639610"/>
                </a:lnTo>
                <a:lnTo>
                  <a:pt x="525284" y="956132"/>
                </a:lnTo>
                <a:lnTo>
                  <a:pt x="525284" y="323088"/>
                </a:lnTo>
                <a:close/>
              </a:path>
              <a:path w="525780" h="956310">
                <a:moveTo>
                  <a:pt x="525284" y="0"/>
                </a:moveTo>
                <a:lnTo>
                  <a:pt x="10922" y="0"/>
                </a:lnTo>
                <a:lnTo>
                  <a:pt x="0" y="6578"/>
                </a:lnTo>
                <a:lnTo>
                  <a:pt x="525284" y="323088"/>
                </a:lnTo>
                <a:lnTo>
                  <a:pt x="525284" y="0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1905677"/>
            <a:ext cx="434975" cy="633095"/>
          </a:xfrm>
          <a:custGeom>
            <a:avLst/>
            <a:gdLst/>
            <a:ahLst/>
            <a:cxnLst/>
            <a:rect l="l" t="t" r="r" b="b"/>
            <a:pathLst>
              <a:path w="434975" h="633094">
                <a:moveTo>
                  <a:pt x="434779" y="633045"/>
                </a:moveTo>
                <a:lnTo>
                  <a:pt x="0" y="371055"/>
                </a:lnTo>
                <a:lnTo>
                  <a:pt x="0" y="261990"/>
                </a:lnTo>
                <a:lnTo>
                  <a:pt x="434779" y="0"/>
                </a:lnTo>
                <a:lnTo>
                  <a:pt x="434779" y="633045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4779" y="1589168"/>
            <a:ext cx="525780" cy="633095"/>
          </a:xfrm>
          <a:custGeom>
            <a:avLst/>
            <a:gdLst/>
            <a:ahLst/>
            <a:cxnLst/>
            <a:rect l="l" t="t" r="r" b="b"/>
            <a:pathLst>
              <a:path w="525780" h="633094">
                <a:moveTo>
                  <a:pt x="525277" y="633032"/>
                </a:moveTo>
                <a:lnTo>
                  <a:pt x="0" y="316509"/>
                </a:lnTo>
                <a:lnTo>
                  <a:pt x="525277" y="0"/>
                </a:lnTo>
                <a:lnTo>
                  <a:pt x="525277" y="633032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4779" y="1272645"/>
            <a:ext cx="525780" cy="633095"/>
          </a:xfrm>
          <a:custGeom>
            <a:avLst/>
            <a:gdLst/>
            <a:ahLst/>
            <a:cxnLst/>
            <a:rect l="l" t="t" r="r" b="b"/>
            <a:pathLst>
              <a:path w="525780" h="633094">
                <a:moveTo>
                  <a:pt x="0" y="633032"/>
                </a:moveTo>
                <a:lnTo>
                  <a:pt x="0" y="0"/>
                </a:lnTo>
                <a:lnTo>
                  <a:pt x="525277" y="316522"/>
                </a:lnTo>
                <a:lnTo>
                  <a:pt x="0" y="633032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4779" y="2538723"/>
            <a:ext cx="525780" cy="633095"/>
          </a:xfrm>
          <a:custGeom>
            <a:avLst/>
            <a:gdLst/>
            <a:ahLst/>
            <a:cxnLst/>
            <a:rect l="l" t="t" r="r" b="b"/>
            <a:pathLst>
              <a:path w="525780" h="633094">
                <a:moveTo>
                  <a:pt x="0" y="633032"/>
                </a:moveTo>
                <a:lnTo>
                  <a:pt x="0" y="0"/>
                </a:lnTo>
                <a:lnTo>
                  <a:pt x="525277" y="316509"/>
                </a:lnTo>
                <a:lnTo>
                  <a:pt x="0" y="633032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960056" y="956135"/>
            <a:ext cx="525780" cy="1899285"/>
            <a:chOff x="960056" y="956135"/>
            <a:chExt cx="525780" cy="1899285"/>
          </a:xfrm>
        </p:grpSpPr>
        <p:sp>
          <p:nvSpPr>
            <p:cNvPr id="12" name="object 12"/>
            <p:cNvSpPr/>
            <p:nvPr/>
          </p:nvSpPr>
          <p:spPr>
            <a:xfrm>
              <a:off x="960056" y="956135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4">
                  <a:moveTo>
                    <a:pt x="0" y="633032"/>
                  </a:moveTo>
                  <a:lnTo>
                    <a:pt x="0" y="0"/>
                  </a:lnTo>
                  <a:lnTo>
                    <a:pt x="525277" y="316509"/>
                  </a:lnTo>
                  <a:lnTo>
                    <a:pt x="0" y="63303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60056" y="1589168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4">
                  <a:moveTo>
                    <a:pt x="0" y="633032"/>
                  </a:moveTo>
                  <a:lnTo>
                    <a:pt x="0" y="0"/>
                  </a:lnTo>
                  <a:lnTo>
                    <a:pt x="525277" y="316509"/>
                  </a:lnTo>
                  <a:lnTo>
                    <a:pt x="0" y="633032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60056" y="2222200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4">
                  <a:moveTo>
                    <a:pt x="0" y="633032"/>
                  </a:moveTo>
                  <a:lnTo>
                    <a:pt x="0" y="0"/>
                  </a:lnTo>
                  <a:lnTo>
                    <a:pt x="525277" y="316522"/>
                  </a:lnTo>
                  <a:lnTo>
                    <a:pt x="0" y="633032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960056" y="0"/>
            <a:ext cx="1050925" cy="2222500"/>
            <a:chOff x="960056" y="0"/>
            <a:chExt cx="1050925" cy="2222500"/>
          </a:xfrm>
        </p:grpSpPr>
        <p:sp>
          <p:nvSpPr>
            <p:cNvPr id="16" name="object 16"/>
            <p:cNvSpPr/>
            <p:nvPr/>
          </p:nvSpPr>
          <p:spPr>
            <a:xfrm>
              <a:off x="1474413" y="0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30" h="6985">
                  <a:moveTo>
                    <a:pt x="10920" y="6580"/>
                  </a:moveTo>
                  <a:lnTo>
                    <a:pt x="0" y="0"/>
                  </a:lnTo>
                  <a:lnTo>
                    <a:pt x="10920" y="0"/>
                  </a:lnTo>
                  <a:lnTo>
                    <a:pt x="10920" y="658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60056" y="6580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5">
                  <a:moveTo>
                    <a:pt x="525277" y="633032"/>
                  </a:moveTo>
                  <a:lnTo>
                    <a:pt x="0" y="316509"/>
                  </a:lnTo>
                  <a:lnTo>
                    <a:pt x="525277" y="0"/>
                  </a:lnTo>
                  <a:lnTo>
                    <a:pt x="525277" y="63303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60056" y="639612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4">
                  <a:moveTo>
                    <a:pt x="525277" y="633032"/>
                  </a:moveTo>
                  <a:lnTo>
                    <a:pt x="0" y="316523"/>
                  </a:lnTo>
                  <a:lnTo>
                    <a:pt x="525277" y="0"/>
                  </a:lnTo>
                  <a:lnTo>
                    <a:pt x="525277" y="633032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485333" y="956135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4">
                  <a:moveTo>
                    <a:pt x="525277" y="633032"/>
                  </a:moveTo>
                  <a:lnTo>
                    <a:pt x="0" y="316509"/>
                  </a:lnTo>
                  <a:lnTo>
                    <a:pt x="525277" y="0"/>
                  </a:lnTo>
                  <a:lnTo>
                    <a:pt x="525277" y="633032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485328" y="6590"/>
              <a:ext cx="525780" cy="2216150"/>
            </a:xfrm>
            <a:custGeom>
              <a:avLst/>
              <a:gdLst/>
              <a:ahLst/>
              <a:cxnLst/>
              <a:rect l="l" t="t" r="r" b="b"/>
              <a:pathLst>
                <a:path w="525780" h="2216150">
                  <a:moveTo>
                    <a:pt x="525272" y="1582585"/>
                  </a:moveTo>
                  <a:lnTo>
                    <a:pt x="0" y="1899094"/>
                  </a:lnTo>
                  <a:lnTo>
                    <a:pt x="525272" y="2215616"/>
                  </a:lnTo>
                  <a:lnTo>
                    <a:pt x="525272" y="1582585"/>
                  </a:lnTo>
                  <a:close/>
                </a:path>
                <a:path w="525780" h="2216150">
                  <a:moveTo>
                    <a:pt x="525272" y="316509"/>
                  </a:moveTo>
                  <a:lnTo>
                    <a:pt x="0" y="0"/>
                  </a:lnTo>
                  <a:lnTo>
                    <a:pt x="0" y="633031"/>
                  </a:lnTo>
                  <a:lnTo>
                    <a:pt x="525272" y="316509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485333" y="1272645"/>
              <a:ext cx="525780" cy="633095"/>
            </a:xfrm>
            <a:custGeom>
              <a:avLst/>
              <a:gdLst/>
              <a:ahLst/>
              <a:cxnLst/>
              <a:rect l="l" t="t" r="r" b="b"/>
              <a:pathLst>
                <a:path w="525780" h="633094">
                  <a:moveTo>
                    <a:pt x="0" y="633032"/>
                  </a:moveTo>
                  <a:lnTo>
                    <a:pt x="0" y="0"/>
                  </a:lnTo>
                  <a:lnTo>
                    <a:pt x="525277" y="316522"/>
                  </a:lnTo>
                  <a:lnTo>
                    <a:pt x="0" y="633032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062220">
              <a:lnSpc>
                <a:spcPct val="100000"/>
              </a:lnSpc>
              <a:spcBef>
                <a:spcPts val="100"/>
              </a:spcBef>
            </a:pPr>
            <a:r>
              <a:rPr dirty="0" spc="-250"/>
              <a:t>O</a:t>
            </a:r>
            <a:r>
              <a:rPr dirty="0" spc="-935"/>
              <a:t> </a:t>
            </a:r>
            <a:r>
              <a:rPr dirty="0" spc="415"/>
              <a:t>B</a:t>
            </a:r>
            <a:r>
              <a:rPr dirty="0" spc="-930"/>
              <a:t> </a:t>
            </a:r>
            <a:r>
              <a:rPr dirty="0" spc="100"/>
              <a:t>J</a:t>
            </a:r>
            <a:r>
              <a:rPr dirty="0" spc="-930"/>
              <a:t> </a:t>
            </a:r>
            <a:r>
              <a:rPr dirty="0" spc="260"/>
              <a:t>E</a:t>
            </a:r>
            <a:r>
              <a:rPr dirty="0" spc="-935"/>
              <a:t> </a:t>
            </a:r>
            <a:r>
              <a:rPr dirty="0" spc="695"/>
              <a:t>T</a:t>
            </a:r>
            <a:r>
              <a:rPr dirty="0" spc="-930"/>
              <a:t> </a:t>
            </a:r>
            <a:r>
              <a:rPr dirty="0" spc="340"/>
              <a:t>I</a:t>
            </a:r>
            <a:r>
              <a:rPr dirty="0" spc="-930"/>
              <a:t> </a:t>
            </a:r>
            <a:r>
              <a:rPr dirty="0" spc="50"/>
              <a:t>V</a:t>
            </a:r>
            <a:r>
              <a:rPr dirty="0" spc="-935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90590" y="577276"/>
            <a:ext cx="3667124" cy="90487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4439803"/>
            <a:ext cx="123825" cy="12382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016000" y="4106206"/>
            <a:ext cx="6774180" cy="4070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881380">
              <a:lnSpc>
                <a:spcPct val="100000"/>
              </a:lnSpc>
              <a:spcBef>
                <a:spcPts val="125"/>
              </a:spcBef>
            </a:pPr>
            <a:r>
              <a:rPr dirty="0" sz="4000" spc="365" i="1">
                <a:solidFill>
                  <a:srgbClr val="18374D"/>
                </a:solidFill>
                <a:latin typeface="Arial Narrow"/>
                <a:cs typeface="Arial Narrow"/>
              </a:rPr>
              <a:t>Objetivo</a:t>
            </a:r>
            <a:r>
              <a:rPr dirty="0" sz="4000" spc="125" i="1">
                <a:solidFill>
                  <a:srgbClr val="18374D"/>
                </a:solidFill>
                <a:latin typeface="Arial Narrow"/>
                <a:cs typeface="Arial Narrow"/>
              </a:rPr>
              <a:t> </a:t>
            </a:r>
            <a:r>
              <a:rPr dirty="0" sz="4000" spc="340" i="1">
                <a:solidFill>
                  <a:srgbClr val="18374D"/>
                </a:solidFill>
                <a:latin typeface="Arial Narrow"/>
                <a:cs typeface="Arial Narrow"/>
              </a:rPr>
              <a:t>General</a:t>
            </a:r>
            <a:endParaRPr sz="4000">
              <a:latin typeface="Arial Narrow"/>
              <a:cs typeface="Arial Narrow"/>
            </a:endParaRPr>
          </a:p>
          <a:p>
            <a:pPr algn="just" marL="12700" marR="5080">
              <a:lnSpc>
                <a:spcPts val="3300"/>
              </a:lnSpc>
              <a:spcBef>
                <a:spcPts val="4025"/>
              </a:spcBef>
            </a:pPr>
            <a:r>
              <a:rPr dirty="0" sz="2800" spc="110">
                <a:solidFill>
                  <a:srgbClr val="18374D"/>
                </a:solidFill>
                <a:latin typeface="Calibri"/>
                <a:cs typeface="Calibri"/>
              </a:rPr>
              <a:t>Desarrollar</a:t>
            </a:r>
            <a:r>
              <a:rPr dirty="0" sz="2800" spc="11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85">
                <a:solidFill>
                  <a:srgbClr val="18374D"/>
                </a:solidFill>
                <a:latin typeface="Calibri"/>
                <a:cs typeface="Calibri"/>
              </a:rPr>
              <a:t>un</a:t>
            </a:r>
            <a:r>
              <a:rPr dirty="0" sz="2800" spc="8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30">
                <a:solidFill>
                  <a:srgbClr val="18374D"/>
                </a:solidFill>
                <a:latin typeface="Calibri"/>
                <a:cs typeface="Calibri"/>
              </a:rPr>
              <a:t>sistema</a:t>
            </a:r>
            <a:r>
              <a:rPr dirty="0" sz="2800" spc="13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310">
                <a:solidFill>
                  <a:srgbClr val="18374D"/>
                </a:solidFill>
                <a:latin typeface="Calibri"/>
                <a:cs typeface="Calibri"/>
              </a:rPr>
              <a:t>WMS</a:t>
            </a:r>
            <a:r>
              <a:rPr dirty="0" sz="2800" spc="31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200">
                <a:solidFill>
                  <a:srgbClr val="18374D"/>
                </a:solidFill>
                <a:latin typeface="Calibri"/>
                <a:cs typeface="Calibri"/>
              </a:rPr>
              <a:t>web</a:t>
            </a:r>
            <a:r>
              <a:rPr dirty="0" sz="2800" spc="2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50">
                <a:solidFill>
                  <a:srgbClr val="18374D"/>
                </a:solidFill>
                <a:latin typeface="Calibri"/>
                <a:cs typeface="Calibri"/>
              </a:rPr>
              <a:t>multi-</a:t>
            </a:r>
            <a:r>
              <a:rPr dirty="0" sz="2800" spc="135">
                <a:solidFill>
                  <a:srgbClr val="18374D"/>
                </a:solidFill>
                <a:latin typeface="Calibri"/>
                <a:cs typeface="Calibri"/>
              </a:rPr>
              <a:t>empresa</a:t>
            </a:r>
            <a:r>
              <a:rPr dirty="0" sz="2800" spc="260">
                <a:solidFill>
                  <a:srgbClr val="18374D"/>
                </a:solidFill>
                <a:latin typeface="Calibri"/>
                <a:cs typeface="Calibri"/>
              </a:rPr>
              <a:t>   </a:t>
            </a:r>
            <a:r>
              <a:rPr dirty="0" sz="2800" spc="140">
                <a:solidFill>
                  <a:srgbClr val="18374D"/>
                </a:solidFill>
                <a:latin typeface="Calibri"/>
                <a:cs typeface="Calibri"/>
              </a:rPr>
              <a:t>(Khepri)</a:t>
            </a:r>
            <a:r>
              <a:rPr dirty="0" sz="2800" spc="265">
                <a:solidFill>
                  <a:srgbClr val="18374D"/>
                </a:solidFill>
                <a:latin typeface="Calibri"/>
                <a:cs typeface="Calibri"/>
              </a:rPr>
              <a:t>   </a:t>
            </a:r>
            <a:r>
              <a:rPr dirty="0" sz="2800" spc="120">
                <a:solidFill>
                  <a:srgbClr val="18374D"/>
                </a:solidFill>
                <a:latin typeface="Calibri"/>
                <a:cs typeface="Calibri"/>
              </a:rPr>
              <a:t>para</a:t>
            </a:r>
            <a:r>
              <a:rPr dirty="0" sz="2800" spc="265">
                <a:solidFill>
                  <a:srgbClr val="18374D"/>
                </a:solidFill>
                <a:latin typeface="Calibri"/>
                <a:cs typeface="Calibri"/>
              </a:rPr>
              <a:t>   </a:t>
            </a:r>
            <a:r>
              <a:rPr dirty="0" sz="2800" spc="110">
                <a:solidFill>
                  <a:srgbClr val="18374D"/>
                </a:solidFill>
                <a:latin typeface="Calibri"/>
                <a:cs typeface="Calibri"/>
              </a:rPr>
              <a:t>centralizar</a:t>
            </a:r>
            <a:r>
              <a:rPr dirty="0" sz="2800" spc="265">
                <a:solidFill>
                  <a:srgbClr val="18374D"/>
                </a:solidFill>
                <a:latin typeface="Calibri"/>
                <a:cs typeface="Calibri"/>
              </a:rPr>
              <a:t>   </a:t>
            </a:r>
            <a:r>
              <a:rPr dirty="0" sz="2800" spc="85">
                <a:solidFill>
                  <a:srgbClr val="18374D"/>
                </a:solidFill>
                <a:latin typeface="Calibri"/>
                <a:cs typeface="Calibri"/>
              </a:rPr>
              <a:t>la </a:t>
            </a:r>
            <a:r>
              <a:rPr dirty="0" sz="2800" spc="165">
                <a:solidFill>
                  <a:srgbClr val="18374D"/>
                </a:solidFill>
                <a:latin typeface="Calibri"/>
                <a:cs typeface="Calibri"/>
              </a:rPr>
              <a:t>gestión</a:t>
            </a:r>
            <a:r>
              <a:rPr dirty="0" sz="2800" spc="18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95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800" spc="19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85">
                <a:solidFill>
                  <a:srgbClr val="18374D"/>
                </a:solidFill>
                <a:latin typeface="Calibri"/>
                <a:cs typeface="Calibri"/>
              </a:rPr>
              <a:t>catálogo,</a:t>
            </a:r>
            <a:r>
              <a:rPr dirty="0" sz="2800" spc="19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80">
                <a:solidFill>
                  <a:srgbClr val="18374D"/>
                </a:solidFill>
                <a:latin typeface="Calibri"/>
                <a:cs typeface="Calibri"/>
              </a:rPr>
              <a:t>stock</a:t>
            </a:r>
            <a:r>
              <a:rPr dirty="0" sz="2800" spc="19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85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800" spc="19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50">
                <a:solidFill>
                  <a:srgbClr val="18374D"/>
                </a:solidFill>
                <a:latin typeface="Calibri"/>
                <a:cs typeface="Calibri"/>
              </a:rPr>
              <a:t>operaciones </a:t>
            </a:r>
            <a:r>
              <a:rPr dirty="0" sz="2800" spc="195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800" spc="65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220">
                <a:solidFill>
                  <a:srgbClr val="18374D"/>
                </a:solidFill>
                <a:latin typeface="Calibri"/>
                <a:cs typeface="Calibri"/>
              </a:rPr>
              <a:t>bodega,</a:t>
            </a:r>
            <a:r>
              <a:rPr dirty="0" sz="2800" spc="65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35">
                <a:solidFill>
                  <a:srgbClr val="18374D"/>
                </a:solidFill>
                <a:latin typeface="Calibri"/>
                <a:cs typeface="Calibri"/>
              </a:rPr>
              <a:t>garantizando</a:t>
            </a:r>
            <a:r>
              <a:rPr dirty="0" sz="2800" spc="66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10">
                <a:solidFill>
                  <a:srgbClr val="18374D"/>
                </a:solidFill>
                <a:latin typeface="Calibri"/>
                <a:cs typeface="Calibri"/>
              </a:rPr>
              <a:t>la</a:t>
            </a:r>
            <a:r>
              <a:rPr dirty="0" sz="2800" spc="65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25">
                <a:solidFill>
                  <a:srgbClr val="18374D"/>
                </a:solidFill>
                <a:latin typeface="Calibri"/>
                <a:cs typeface="Calibri"/>
              </a:rPr>
              <a:t>trazabilidad en</a:t>
            </a:r>
            <a:r>
              <a:rPr dirty="0" sz="2800" spc="60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20">
                <a:solidFill>
                  <a:srgbClr val="18374D"/>
                </a:solidFill>
                <a:latin typeface="Calibri"/>
                <a:cs typeface="Calibri"/>
              </a:rPr>
              <a:t>tiempo</a:t>
            </a:r>
            <a:r>
              <a:rPr dirty="0" sz="2800" spc="61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14">
                <a:solidFill>
                  <a:srgbClr val="18374D"/>
                </a:solidFill>
                <a:latin typeface="Calibri"/>
                <a:cs typeface="Calibri"/>
              </a:rPr>
              <a:t>real,</a:t>
            </a:r>
            <a:r>
              <a:rPr dirty="0" sz="2800" spc="61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10">
                <a:solidFill>
                  <a:srgbClr val="18374D"/>
                </a:solidFill>
                <a:latin typeface="Calibri"/>
                <a:cs typeface="Calibri"/>
              </a:rPr>
              <a:t>la</a:t>
            </a:r>
            <a:r>
              <a:rPr dirty="0" sz="2800" spc="61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75">
                <a:solidFill>
                  <a:srgbClr val="18374D"/>
                </a:solidFill>
                <a:latin typeface="Calibri"/>
                <a:cs typeface="Calibri"/>
              </a:rPr>
              <a:t>seguridad</a:t>
            </a:r>
            <a:r>
              <a:rPr dirty="0" sz="2800" spc="61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95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800" spc="61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50">
                <a:solidFill>
                  <a:srgbClr val="18374D"/>
                </a:solidFill>
                <a:latin typeface="Calibri"/>
                <a:cs typeface="Calibri"/>
              </a:rPr>
              <a:t>la </a:t>
            </a:r>
            <a:r>
              <a:rPr dirty="0" sz="2800" spc="114">
                <a:solidFill>
                  <a:srgbClr val="18374D"/>
                </a:solidFill>
                <a:latin typeface="Calibri"/>
                <a:cs typeface="Calibri"/>
              </a:rPr>
              <a:t>información</a:t>
            </a:r>
            <a:r>
              <a:rPr dirty="0" sz="2800" spc="43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85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800" spc="434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10">
                <a:solidFill>
                  <a:srgbClr val="18374D"/>
                </a:solidFill>
                <a:latin typeface="Calibri"/>
                <a:cs typeface="Calibri"/>
              </a:rPr>
              <a:t>la</a:t>
            </a:r>
            <a:r>
              <a:rPr dirty="0" sz="2800" spc="434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30">
                <a:solidFill>
                  <a:srgbClr val="18374D"/>
                </a:solidFill>
                <a:latin typeface="Calibri"/>
                <a:cs typeface="Calibri"/>
              </a:rPr>
              <a:t>eliminación</a:t>
            </a:r>
            <a:r>
              <a:rPr dirty="0" sz="2800" spc="434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95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800" spc="434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25">
                <a:solidFill>
                  <a:srgbClr val="18374D"/>
                </a:solidFill>
                <a:latin typeface="Calibri"/>
                <a:cs typeface="Calibri"/>
              </a:rPr>
              <a:t>registros manuales.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845719" y="4048589"/>
            <a:ext cx="0" cy="4543425"/>
          </a:xfrm>
          <a:custGeom>
            <a:avLst/>
            <a:gdLst/>
            <a:ahLst/>
            <a:cxnLst/>
            <a:rect l="l" t="t" r="r" b="b"/>
            <a:pathLst>
              <a:path w="0" h="4543425">
                <a:moveTo>
                  <a:pt x="0" y="4542916"/>
                </a:moveTo>
                <a:lnTo>
                  <a:pt x="0" y="0"/>
                </a:lnTo>
              </a:path>
            </a:pathLst>
          </a:custGeom>
          <a:ln w="38099">
            <a:solidFill>
              <a:srgbClr val="18374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9559" y="4439803"/>
            <a:ext cx="123825" cy="12382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0494410" y="4106206"/>
            <a:ext cx="6774180" cy="47980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670560">
              <a:lnSpc>
                <a:spcPct val="100000"/>
              </a:lnSpc>
              <a:spcBef>
                <a:spcPts val="125"/>
              </a:spcBef>
            </a:pPr>
            <a:r>
              <a:rPr dirty="0" sz="4000" spc="365" i="1">
                <a:solidFill>
                  <a:srgbClr val="18374D"/>
                </a:solidFill>
                <a:latin typeface="Arial Narrow"/>
                <a:cs typeface="Arial Narrow"/>
              </a:rPr>
              <a:t>Objetivo</a:t>
            </a:r>
            <a:r>
              <a:rPr dirty="0" sz="4000" spc="125" i="1">
                <a:solidFill>
                  <a:srgbClr val="18374D"/>
                </a:solidFill>
                <a:latin typeface="Arial Narrow"/>
                <a:cs typeface="Arial Narrow"/>
              </a:rPr>
              <a:t> </a:t>
            </a:r>
            <a:r>
              <a:rPr dirty="0" sz="4000" spc="265" i="1">
                <a:solidFill>
                  <a:srgbClr val="18374D"/>
                </a:solidFill>
                <a:latin typeface="Arial Narrow"/>
                <a:cs typeface="Arial Narrow"/>
              </a:rPr>
              <a:t>Específico</a:t>
            </a:r>
            <a:endParaRPr sz="4000">
              <a:latin typeface="Arial Narrow"/>
              <a:cs typeface="Arial Narrow"/>
            </a:endParaRPr>
          </a:p>
          <a:p>
            <a:pPr algn="just" marL="12700" marR="5080">
              <a:lnSpc>
                <a:spcPts val="3300"/>
              </a:lnSpc>
              <a:spcBef>
                <a:spcPts val="3150"/>
              </a:spcBef>
            </a:pPr>
            <a:r>
              <a:rPr dirty="0" sz="2800" spc="190">
                <a:solidFill>
                  <a:srgbClr val="18374D"/>
                </a:solidFill>
                <a:latin typeface="Calibri"/>
                <a:cs typeface="Calibri"/>
              </a:rPr>
              <a:t>Consisten</a:t>
            </a:r>
            <a:r>
              <a:rPr dirty="0" sz="2800" spc="61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25">
                <a:solidFill>
                  <a:srgbClr val="18374D"/>
                </a:solidFill>
                <a:latin typeface="Calibri"/>
                <a:cs typeface="Calibri"/>
              </a:rPr>
              <a:t>en</a:t>
            </a:r>
            <a:r>
              <a:rPr dirty="0" sz="2800" spc="61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30">
                <a:solidFill>
                  <a:srgbClr val="18374D"/>
                </a:solidFill>
                <a:latin typeface="Calibri"/>
                <a:cs typeface="Calibri"/>
              </a:rPr>
              <a:t>diseñar</a:t>
            </a:r>
            <a:r>
              <a:rPr dirty="0" sz="2800" spc="61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10">
                <a:solidFill>
                  <a:srgbClr val="18374D"/>
                </a:solidFill>
                <a:latin typeface="Calibri"/>
                <a:cs typeface="Calibri"/>
              </a:rPr>
              <a:t>la</a:t>
            </a:r>
            <a:r>
              <a:rPr dirty="0" sz="2800" spc="61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05">
                <a:solidFill>
                  <a:srgbClr val="18374D"/>
                </a:solidFill>
                <a:latin typeface="Calibri"/>
                <a:cs typeface="Calibri"/>
              </a:rPr>
              <a:t>arquitectura </a:t>
            </a:r>
            <a:r>
              <a:rPr dirty="0" sz="2800" spc="165">
                <a:solidFill>
                  <a:srgbClr val="18374D"/>
                </a:solidFill>
                <a:latin typeface="Calibri"/>
                <a:cs typeface="Calibri"/>
              </a:rPr>
              <a:t>multi-</a:t>
            </a:r>
            <a:r>
              <a:rPr dirty="0" sz="2800" spc="95">
                <a:solidFill>
                  <a:srgbClr val="18374D"/>
                </a:solidFill>
                <a:latin typeface="Calibri"/>
                <a:cs typeface="Calibri"/>
              </a:rPr>
              <a:t>tenant</a:t>
            </a:r>
            <a:r>
              <a:rPr dirty="0" sz="2800" spc="29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20">
                <a:solidFill>
                  <a:srgbClr val="18374D"/>
                </a:solidFill>
                <a:latin typeface="Calibri"/>
                <a:cs typeface="Calibri"/>
              </a:rPr>
              <a:t>para</a:t>
            </a:r>
            <a:r>
              <a:rPr dirty="0" sz="2800" spc="29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10">
                <a:solidFill>
                  <a:srgbClr val="18374D"/>
                </a:solidFill>
                <a:latin typeface="Calibri"/>
                <a:cs typeface="Calibri"/>
              </a:rPr>
              <a:t>aislar</a:t>
            </a:r>
            <a:r>
              <a:rPr dirty="0" sz="2800" spc="30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10">
                <a:solidFill>
                  <a:srgbClr val="18374D"/>
                </a:solidFill>
                <a:latin typeface="Calibri"/>
                <a:cs typeface="Calibri"/>
              </a:rPr>
              <a:t>la</a:t>
            </a:r>
            <a:r>
              <a:rPr dirty="0" sz="2800" spc="29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05">
                <a:solidFill>
                  <a:srgbClr val="18374D"/>
                </a:solidFill>
                <a:latin typeface="Calibri"/>
                <a:cs typeface="Calibri"/>
              </a:rPr>
              <a:t>información </a:t>
            </a:r>
            <a:r>
              <a:rPr dirty="0" sz="2800" spc="114">
                <a:solidFill>
                  <a:srgbClr val="18374D"/>
                </a:solidFill>
                <a:latin typeface="Calibri"/>
                <a:cs typeface="Calibri"/>
              </a:rPr>
              <a:t>por</a:t>
            </a:r>
            <a:r>
              <a:rPr dirty="0" sz="2800" spc="550">
                <a:solidFill>
                  <a:srgbClr val="18374D"/>
                </a:solidFill>
                <a:latin typeface="Calibri"/>
                <a:cs typeface="Calibri"/>
              </a:rPr>
              <a:t>   </a:t>
            </a:r>
            <a:r>
              <a:rPr dirty="0" sz="2800" spc="155">
                <a:solidFill>
                  <a:srgbClr val="18374D"/>
                </a:solidFill>
                <a:latin typeface="Calibri"/>
                <a:cs typeface="Calibri"/>
              </a:rPr>
              <a:t>cliente,</a:t>
            </a:r>
            <a:r>
              <a:rPr dirty="0" sz="2800" spc="555">
                <a:solidFill>
                  <a:srgbClr val="18374D"/>
                </a:solidFill>
                <a:latin typeface="Calibri"/>
                <a:cs typeface="Calibri"/>
              </a:rPr>
              <a:t>   </a:t>
            </a:r>
            <a:r>
              <a:rPr dirty="0" sz="2800" spc="110">
                <a:solidFill>
                  <a:srgbClr val="18374D"/>
                </a:solidFill>
                <a:latin typeface="Calibri"/>
                <a:cs typeface="Calibri"/>
              </a:rPr>
              <a:t>desarrollar</a:t>
            </a:r>
            <a:r>
              <a:rPr dirty="0" sz="2800" spc="555">
                <a:solidFill>
                  <a:srgbClr val="18374D"/>
                </a:solidFill>
                <a:latin typeface="Calibri"/>
                <a:cs typeface="Calibri"/>
              </a:rPr>
              <a:t>   </a:t>
            </a:r>
            <a:r>
              <a:rPr dirty="0" sz="2800" spc="130">
                <a:solidFill>
                  <a:srgbClr val="18374D"/>
                </a:solidFill>
                <a:latin typeface="Calibri"/>
                <a:cs typeface="Calibri"/>
              </a:rPr>
              <a:t>el</a:t>
            </a:r>
            <a:r>
              <a:rPr dirty="0" sz="2800" spc="550">
                <a:solidFill>
                  <a:srgbClr val="18374D"/>
                </a:solidFill>
                <a:latin typeface="Calibri"/>
                <a:cs typeface="Calibri"/>
              </a:rPr>
              <a:t>   </a:t>
            </a:r>
            <a:r>
              <a:rPr dirty="0" sz="2800" spc="100">
                <a:solidFill>
                  <a:srgbClr val="18374D"/>
                </a:solidFill>
                <a:latin typeface="Calibri"/>
                <a:cs typeface="Calibri"/>
              </a:rPr>
              <a:t>control </a:t>
            </a:r>
            <a:r>
              <a:rPr dirty="0" sz="2800" spc="120">
                <a:solidFill>
                  <a:srgbClr val="18374D"/>
                </a:solidFill>
                <a:latin typeface="Calibri"/>
                <a:cs typeface="Calibri"/>
              </a:rPr>
              <a:t>operativo</a:t>
            </a:r>
            <a:r>
              <a:rPr dirty="0" sz="2800" spc="53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95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800" spc="53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00">
                <a:solidFill>
                  <a:srgbClr val="18374D"/>
                </a:solidFill>
                <a:latin typeface="Calibri"/>
                <a:cs typeface="Calibri"/>
              </a:rPr>
              <a:t>inventario</a:t>
            </a:r>
            <a:r>
              <a:rPr dirty="0" sz="2800" spc="53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14">
                <a:solidFill>
                  <a:srgbClr val="18374D"/>
                </a:solidFill>
                <a:latin typeface="Calibri"/>
                <a:cs typeface="Calibri"/>
              </a:rPr>
              <a:t>por</a:t>
            </a:r>
            <a:r>
              <a:rPr dirty="0" sz="2800" spc="54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30">
                <a:solidFill>
                  <a:srgbClr val="18374D"/>
                </a:solidFill>
                <a:latin typeface="Calibri"/>
                <a:cs typeface="Calibri"/>
              </a:rPr>
              <a:t>zona</a:t>
            </a:r>
            <a:r>
              <a:rPr dirty="0" sz="2800" spc="53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70">
                <a:solidFill>
                  <a:srgbClr val="18374D"/>
                </a:solidFill>
                <a:latin typeface="Calibri"/>
                <a:cs typeface="Calibri"/>
              </a:rPr>
              <a:t>en </a:t>
            </a:r>
            <a:r>
              <a:rPr dirty="0" sz="2800" spc="120">
                <a:solidFill>
                  <a:srgbClr val="18374D"/>
                </a:solidFill>
                <a:latin typeface="Calibri"/>
                <a:cs typeface="Calibri"/>
              </a:rPr>
              <a:t>tiempo</a:t>
            </a:r>
            <a:r>
              <a:rPr dirty="0" sz="2800" spc="31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14">
                <a:solidFill>
                  <a:srgbClr val="18374D"/>
                </a:solidFill>
                <a:latin typeface="Calibri"/>
                <a:cs typeface="Calibri"/>
              </a:rPr>
              <a:t>real,</a:t>
            </a:r>
            <a:r>
              <a:rPr dirty="0" sz="2800" spc="31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00">
                <a:solidFill>
                  <a:srgbClr val="18374D"/>
                </a:solidFill>
                <a:latin typeface="Calibri"/>
                <a:cs typeface="Calibri"/>
              </a:rPr>
              <a:t>implementar</a:t>
            </a:r>
            <a:r>
              <a:rPr dirty="0" sz="2800" spc="31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145">
                <a:solidFill>
                  <a:srgbClr val="18374D"/>
                </a:solidFill>
                <a:latin typeface="Calibri"/>
                <a:cs typeface="Calibri"/>
              </a:rPr>
              <a:t>autenticación</a:t>
            </a:r>
            <a:r>
              <a:rPr dirty="0" sz="2800" spc="32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800" spc="35">
                <a:solidFill>
                  <a:srgbClr val="18374D"/>
                </a:solidFill>
                <a:latin typeface="Calibri"/>
                <a:cs typeface="Calibri"/>
              </a:rPr>
              <a:t>y </a:t>
            </a:r>
            <a:r>
              <a:rPr dirty="0" sz="2800" spc="140">
                <a:solidFill>
                  <a:srgbClr val="18374D"/>
                </a:solidFill>
                <a:latin typeface="Calibri"/>
                <a:cs typeface="Calibri"/>
              </a:rPr>
              <a:t>permisos</a:t>
            </a:r>
            <a:r>
              <a:rPr dirty="0" sz="2800" spc="484">
                <a:solidFill>
                  <a:srgbClr val="18374D"/>
                </a:solidFill>
                <a:latin typeface="Calibri"/>
                <a:cs typeface="Calibri"/>
              </a:rPr>
              <a:t>    </a:t>
            </a:r>
            <a:r>
              <a:rPr dirty="0" sz="2800" spc="285">
                <a:solidFill>
                  <a:srgbClr val="18374D"/>
                </a:solidFill>
                <a:latin typeface="Calibri"/>
                <a:cs typeface="Calibri"/>
              </a:rPr>
              <a:t>(JWT/RBAC)</a:t>
            </a:r>
            <a:r>
              <a:rPr dirty="0" sz="2800" spc="484">
                <a:solidFill>
                  <a:srgbClr val="18374D"/>
                </a:solidFill>
                <a:latin typeface="Calibri"/>
                <a:cs typeface="Calibri"/>
              </a:rPr>
              <a:t>    </a:t>
            </a:r>
            <a:r>
              <a:rPr dirty="0" sz="2800" spc="150">
                <a:solidFill>
                  <a:srgbClr val="18374D"/>
                </a:solidFill>
                <a:latin typeface="Calibri"/>
                <a:cs typeface="Calibri"/>
              </a:rPr>
              <a:t>e</a:t>
            </a:r>
            <a:r>
              <a:rPr dirty="0" sz="2800" spc="484">
                <a:solidFill>
                  <a:srgbClr val="18374D"/>
                </a:solidFill>
                <a:latin typeface="Calibri"/>
                <a:cs typeface="Calibri"/>
              </a:rPr>
              <a:t>    </a:t>
            </a:r>
            <a:r>
              <a:rPr dirty="0" sz="2800" spc="90">
                <a:solidFill>
                  <a:srgbClr val="18374D"/>
                </a:solidFill>
                <a:latin typeface="Calibri"/>
                <a:cs typeface="Calibri"/>
              </a:rPr>
              <a:t>integrar </a:t>
            </a:r>
            <a:r>
              <a:rPr dirty="0" sz="2800" spc="114">
                <a:solidFill>
                  <a:srgbClr val="18374D"/>
                </a:solidFill>
                <a:latin typeface="Calibri"/>
                <a:cs typeface="Calibri"/>
              </a:rPr>
              <a:t>reportes</a:t>
            </a:r>
            <a:r>
              <a:rPr dirty="0" sz="2800" spc="34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35">
                <a:solidFill>
                  <a:srgbClr val="18374D"/>
                </a:solidFill>
                <a:latin typeface="Calibri"/>
                <a:cs typeface="Calibri"/>
              </a:rPr>
              <a:t>automáticos</a:t>
            </a:r>
            <a:r>
              <a:rPr dirty="0" sz="2800" spc="34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85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800" spc="34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105">
                <a:solidFill>
                  <a:srgbClr val="18374D"/>
                </a:solidFill>
                <a:latin typeface="Calibri"/>
                <a:cs typeface="Calibri"/>
              </a:rPr>
              <a:t>una</a:t>
            </a:r>
            <a:r>
              <a:rPr dirty="0" sz="2800" spc="34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229">
                <a:solidFill>
                  <a:srgbClr val="18374D"/>
                </a:solidFill>
                <a:latin typeface="Calibri"/>
                <a:cs typeface="Calibri"/>
              </a:rPr>
              <a:t>API</a:t>
            </a:r>
            <a:r>
              <a:rPr dirty="0" sz="2800" spc="34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800" spc="204">
                <a:solidFill>
                  <a:srgbClr val="18374D"/>
                </a:solidFill>
                <a:latin typeface="Calibri"/>
                <a:cs typeface="Calibri"/>
              </a:rPr>
              <a:t>REST </a:t>
            </a:r>
            <a:r>
              <a:rPr dirty="0" sz="2800" spc="120">
                <a:solidFill>
                  <a:srgbClr val="18374D"/>
                </a:solidFill>
                <a:latin typeface="Calibri"/>
                <a:cs typeface="Calibri"/>
              </a:rPr>
              <a:t>para</a:t>
            </a:r>
            <a:r>
              <a:rPr dirty="0" sz="2800" spc="470">
                <a:solidFill>
                  <a:srgbClr val="18374D"/>
                </a:solidFill>
                <a:latin typeface="Calibri"/>
                <a:cs typeface="Calibri"/>
              </a:rPr>
              <a:t>    </a:t>
            </a:r>
            <a:r>
              <a:rPr dirty="0" sz="2800" spc="110">
                <a:solidFill>
                  <a:srgbClr val="18374D"/>
                </a:solidFill>
                <a:latin typeface="Calibri"/>
                <a:cs typeface="Calibri"/>
              </a:rPr>
              <a:t>la</a:t>
            </a:r>
            <a:r>
              <a:rPr dirty="0" sz="2800" spc="475">
                <a:solidFill>
                  <a:srgbClr val="18374D"/>
                </a:solidFill>
                <a:latin typeface="Calibri"/>
                <a:cs typeface="Calibri"/>
              </a:rPr>
              <a:t>    </a:t>
            </a:r>
            <a:r>
              <a:rPr dirty="0" sz="2800" spc="130">
                <a:solidFill>
                  <a:srgbClr val="18374D"/>
                </a:solidFill>
                <a:latin typeface="Calibri"/>
                <a:cs typeface="Calibri"/>
              </a:rPr>
              <a:t>interoperabilidad</a:t>
            </a:r>
            <a:r>
              <a:rPr dirty="0" sz="2800" spc="475">
                <a:solidFill>
                  <a:srgbClr val="18374D"/>
                </a:solidFill>
                <a:latin typeface="Calibri"/>
                <a:cs typeface="Calibri"/>
              </a:rPr>
              <a:t>    </a:t>
            </a:r>
            <a:r>
              <a:rPr dirty="0" sz="2800" spc="195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800" spc="470">
                <a:solidFill>
                  <a:srgbClr val="18374D"/>
                </a:solidFill>
                <a:latin typeface="Calibri"/>
                <a:cs typeface="Calibri"/>
              </a:rPr>
              <a:t>    </a:t>
            </a:r>
            <a:r>
              <a:rPr dirty="0" sz="2800" spc="40">
                <a:solidFill>
                  <a:srgbClr val="18374D"/>
                </a:solidFill>
                <a:latin typeface="Calibri"/>
                <a:cs typeface="Calibri"/>
              </a:rPr>
              <a:t>la </a:t>
            </a:r>
            <a:r>
              <a:rPr dirty="0" sz="2800" spc="100">
                <a:solidFill>
                  <a:srgbClr val="18374D"/>
                </a:solidFill>
                <a:latin typeface="Calibri"/>
                <a:cs typeface="Calibri"/>
              </a:rPr>
              <a:t>plataforma.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0590" y="577276"/>
            <a:ext cx="3667124" cy="904874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0" y="2903577"/>
            <a:ext cx="3408045" cy="2486660"/>
            <a:chOff x="0" y="2903577"/>
            <a:chExt cx="3408045" cy="2486660"/>
          </a:xfrm>
        </p:grpSpPr>
        <p:sp>
          <p:nvSpPr>
            <p:cNvPr id="3" name="object 3"/>
            <p:cNvSpPr/>
            <p:nvPr/>
          </p:nvSpPr>
          <p:spPr>
            <a:xfrm>
              <a:off x="0" y="4756609"/>
              <a:ext cx="735965" cy="633095"/>
            </a:xfrm>
            <a:custGeom>
              <a:avLst/>
              <a:gdLst/>
              <a:ahLst/>
              <a:cxnLst/>
              <a:rect l="l" t="t" r="r" b="b"/>
              <a:pathLst>
                <a:path w="735965" h="633095">
                  <a:moveTo>
                    <a:pt x="735822" y="633008"/>
                  </a:moveTo>
                  <a:lnTo>
                    <a:pt x="0" y="633008"/>
                  </a:lnTo>
                  <a:lnTo>
                    <a:pt x="0" y="587536"/>
                  </a:lnTo>
                  <a:lnTo>
                    <a:pt x="354204" y="0"/>
                  </a:lnTo>
                  <a:lnTo>
                    <a:pt x="735822" y="633008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36137" y="4756609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69" h="633095">
                  <a:moveTo>
                    <a:pt x="763219" y="633008"/>
                  </a:moveTo>
                  <a:lnTo>
                    <a:pt x="0" y="633008"/>
                  </a:lnTo>
                  <a:lnTo>
                    <a:pt x="381601" y="0"/>
                  </a:lnTo>
                  <a:lnTo>
                    <a:pt x="763219" y="633008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99671" y="4756609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69" h="633095">
                  <a:moveTo>
                    <a:pt x="763219" y="633008"/>
                  </a:moveTo>
                  <a:lnTo>
                    <a:pt x="0" y="633008"/>
                  </a:lnTo>
                  <a:lnTo>
                    <a:pt x="381618" y="0"/>
                  </a:lnTo>
                  <a:lnTo>
                    <a:pt x="763219" y="633008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263205" y="4756609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69" h="633095">
                  <a:moveTo>
                    <a:pt x="763219" y="633008"/>
                  </a:moveTo>
                  <a:lnTo>
                    <a:pt x="0" y="633008"/>
                  </a:lnTo>
                  <a:lnTo>
                    <a:pt x="381618" y="0"/>
                  </a:lnTo>
                  <a:lnTo>
                    <a:pt x="763219" y="633008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644823" y="4756609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70" h="633095">
                  <a:moveTo>
                    <a:pt x="763219" y="0"/>
                  </a:moveTo>
                  <a:lnTo>
                    <a:pt x="381601" y="633008"/>
                  </a:lnTo>
                  <a:lnTo>
                    <a:pt x="0" y="0"/>
                  </a:lnTo>
                  <a:lnTo>
                    <a:pt x="763219" y="0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17738" y="4756609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69" h="633095">
                  <a:moveTo>
                    <a:pt x="763236" y="0"/>
                  </a:moveTo>
                  <a:lnTo>
                    <a:pt x="381618" y="633008"/>
                  </a:lnTo>
                  <a:lnTo>
                    <a:pt x="0" y="0"/>
                  </a:lnTo>
                  <a:lnTo>
                    <a:pt x="763236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4169594"/>
              <a:ext cx="354330" cy="587375"/>
            </a:xfrm>
            <a:custGeom>
              <a:avLst/>
              <a:gdLst/>
              <a:ahLst/>
              <a:cxnLst/>
              <a:rect l="l" t="t" r="r" b="b"/>
              <a:pathLst>
                <a:path w="354330" h="587375">
                  <a:moveTo>
                    <a:pt x="353890" y="587015"/>
                  </a:moveTo>
                  <a:lnTo>
                    <a:pt x="0" y="587015"/>
                  </a:lnTo>
                  <a:lnTo>
                    <a:pt x="0" y="0"/>
                  </a:lnTo>
                  <a:lnTo>
                    <a:pt x="353890" y="587015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4123600"/>
              <a:ext cx="735965" cy="633095"/>
            </a:xfrm>
            <a:custGeom>
              <a:avLst/>
              <a:gdLst/>
              <a:ahLst/>
              <a:cxnLst/>
              <a:rect l="l" t="t" r="r" b="b"/>
              <a:pathLst>
                <a:path w="735965" h="633095">
                  <a:moveTo>
                    <a:pt x="735822" y="0"/>
                  </a:moveTo>
                  <a:lnTo>
                    <a:pt x="354204" y="633008"/>
                  </a:lnTo>
                  <a:lnTo>
                    <a:pt x="0" y="45471"/>
                  </a:lnTo>
                  <a:lnTo>
                    <a:pt x="0" y="0"/>
                  </a:lnTo>
                  <a:lnTo>
                    <a:pt x="735822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36137" y="4123600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69" h="633095">
                  <a:moveTo>
                    <a:pt x="763219" y="0"/>
                  </a:moveTo>
                  <a:lnTo>
                    <a:pt x="381601" y="633008"/>
                  </a:lnTo>
                  <a:lnTo>
                    <a:pt x="0" y="0"/>
                  </a:lnTo>
                  <a:lnTo>
                    <a:pt x="763219" y="0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499671" y="4123600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69" h="633095">
                  <a:moveTo>
                    <a:pt x="763219" y="0"/>
                  </a:moveTo>
                  <a:lnTo>
                    <a:pt x="381618" y="633008"/>
                  </a:lnTo>
                  <a:lnTo>
                    <a:pt x="0" y="0"/>
                  </a:lnTo>
                  <a:lnTo>
                    <a:pt x="763219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3490592"/>
              <a:ext cx="735965" cy="633095"/>
            </a:xfrm>
            <a:custGeom>
              <a:avLst/>
              <a:gdLst/>
              <a:ahLst/>
              <a:cxnLst/>
              <a:rect l="l" t="t" r="r" b="b"/>
              <a:pathLst>
                <a:path w="735965" h="633095">
                  <a:moveTo>
                    <a:pt x="735822" y="633008"/>
                  </a:moveTo>
                  <a:lnTo>
                    <a:pt x="0" y="633008"/>
                  </a:lnTo>
                  <a:lnTo>
                    <a:pt x="0" y="587536"/>
                  </a:lnTo>
                  <a:lnTo>
                    <a:pt x="354204" y="0"/>
                  </a:lnTo>
                  <a:lnTo>
                    <a:pt x="735822" y="633008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54204" y="3490592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69" h="633095">
                  <a:moveTo>
                    <a:pt x="763219" y="0"/>
                  </a:moveTo>
                  <a:lnTo>
                    <a:pt x="381618" y="633008"/>
                  </a:lnTo>
                  <a:lnTo>
                    <a:pt x="0" y="0"/>
                  </a:lnTo>
                  <a:lnTo>
                    <a:pt x="763219" y="0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0" y="2903577"/>
              <a:ext cx="354330" cy="587375"/>
            </a:xfrm>
            <a:custGeom>
              <a:avLst/>
              <a:gdLst/>
              <a:ahLst/>
              <a:cxnLst/>
              <a:rect l="l" t="t" r="r" b="b"/>
              <a:pathLst>
                <a:path w="354330" h="587375">
                  <a:moveTo>
                    <a:pt x="353890" y="587015"/>
                  </a:moveTo>
                  <a:lnTo>
                    <a:pt x="0" y="587015"/>
                  </a:lnTo>
                  <a:lnTo>
                    <a:pt x="0" y="0"/>
                  </a:lnTo>
                  <a:lnTo>
                    <a:pt x="353890" y="587015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2414061" y="2800109"/>
            <a:ext cx="13460094" cy="970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200" spc="-100"/>
              <a:t>A</a:t>
            </a:r>
            <a:r>
              <a:rPr dirty="0" sz="6200" spc="-805"/>
              <a:t> </a:t>
            </a:r>
            <a:r>
              <a:rPr dirty="0" sz="6200" spc="910"/>
              <a:t>L</a:t>
            </a:r>
            <a:r>
              <a:rPr dirty="0" sz="6200" spc="70"/>
              <a:t>C</a:t>
            </a:r>
            <a:r>
              <a:rPr dirty="0" sz="6200" spc="-800"/>
              <a:t> </a:t>
            </a:r>
            <a:r>
              <a:rPr dirty="0" sz="6200" spc="-100"/>
              <a:t>A</a:t>
            </a:r>
            <a:r>
              <a:rPr dirty="0" sz="6200" spc="-800"/>
              <a:t> </a:t>
            </a:r>
            <a:r>
              <a:rPr dirty="0" sz="6200" spc="409"/>
              <a:t>N</a:t>
            </a:r>
            <a:r>
              <a:rPr dirty="0" sz="6200" spc="-800"/>
              <a:t> </a:t>
            </a:r>
            <a:r>
              <a:rPr dirty="0" sz="6200" spc="-105"/>
              <a:t>C</a:t>
            </a:r>
            <a:r>
              <a:rPr dirty="0" sz="6200" spc="-800"/>
              <a:t> </a:t>
            </a:r>
            <a:r>
              <a:rPr dirty="0" sz="6200" spc="225"/>
              <a:t>E</a:t>
            </a:r>
            <a:r>
              <a:rPr dirty="0" sz="6200" spc="-800"/>
              <a:t> </a:t>
            </a:r>
            <a:r>
              <a:rPr dirty="0" sz="6200" spc="675"/>
              <a:t>S</a:t>
            </a:r>
            <a:r>
              <a:rPr dirty="0" sz="6200" spc="5"/>
              <a:t>  </a:t>
            </a:r>
            <a:r>
              <a:rPr dirty="0" sz="6200"/>
              <a:t>Y</a:t>
            </a:r>
            <a:r>
              <a:rPr dirty="0" sz="6200" spc="10"/>
              <a:t>  </a:t>
            </a:r>
            <a:r>
              <a:rPr dirty="0" sz="6200" spc="245"/>
              <a:t>L</a:t>
            </a:r>
            <a:r>
              <a:rPr dirty="0" sz="6200" spc="-800"/>
              <a:t> </a:t>
            </a:r>
            <a:r>
              <a:rPr dirty="0" sz="6200" spc="295"/>
              <a:t>I</a:t>
            </a:r>
            <a:r>
              <a:rPr dirty="0" sz="6200" spc="-805"/>
              <a:t> </a:t>
            </a:r>
            <a:r>
              <a:rPr dirty="0" sz="6200" spc="330"/>
              <a:t>M</a:t>
            </a:r>
            <a:r>
              <a:rPr dirty="0" sz="6200" spc="-800"/>
              <a:t> </a:t>
            </a:r>
            <a:r>
              <a:rPr dirty="0" sz="6200" spc="295"/>
              <a:t>I</a:t>
            </a:r>
            <a:r>
              <a:rPr dirty="0" sz="6200" spc="-800"/>
              <a:t> </a:t>
            </a:r>
            <a:r>
              <a:rPr dirty="0" sz="6200" spc="700"/>
              <a:t>T</a:t>
            </a:r>
            <a:r>
              <a:rPr dirty="0" sz="6200" spc="855"/>
              <a:t>A</a:t>
            </a:r>
            <a:r>
              <a:rPr dirty="0" sz="6200" spc="145"/>
              <a:t>C</a:t>
            </a:r>
            <a:r>
              <a:rPr dirty="0" sz="6200" spc="-800"/>
              <a:t> </a:t>
            </a:r>
            <a:r>
              <a:rPr dirty="0" sz="6200" spc="295"/>
              <a:t>I</a:t>
            </a:r>
            <a:r>
              <a:rPr dirty="0" sz="6200" spc="-800"/>
              <a:t> </a:t>
            </a:r>
            <a:r>
              <a:rPr dirty="0" sz="6200" spc="-215"/>
              <a:t>O</a:t>
            </a:r>
            <a:r>
              <a:rPr dirty="0" sz="6200" spc="-800"/>
              <a:t> </a:t>
            </a:r>
            <a:r>
              <a:rPr dirty="0" sz="6200" spc="409"/>
              <a:t>N</a:t>
            </a:r>
            <a:r>
              <a:rPr dirty="0" sz="6200" spc="-805"/>
              <a:t> </a:t>
            </a:r>
            <a:r>
              <a:rPr dirty="0" sz="6200" spc="225"/>
              <a:t>E</a:t>
            </a:r>
            <a:r>
              <a:rPr dirty="0" sz="6200" spc="-800"/>
              <a:t> </a:t>
            </a:r>
            <a:r>
              <a:rPr dirty="0" sz="6200" spc="625"/>
              <a:t>S</a:t>
            </a:r>
            <a:endParaRPr sz="6200"/>
          </a:p>
        </p:txBody>
      </p:sp>
      <p:grpSp>
        <p:nvGrpSpPr>
          <p:cNvPr id="20" name="object 20"/>
          <p:cNvGrpSpPr/>
          <p:nvPr/>
        </p:nvGrpSpPr>
        <p:grpSpPr>
          <a:xfrm>
            <a:off x="14887720" y="2910780"/>
            <a:ext cx="3400425" cy="2479040"/>
            <a:chOff x="14887720" y="2910780"/>
            <a:chExt cx="3400425" cy="2479040"/>
          </a:xfrm>
        </p:grpSpPr>
        <p:sp>
          <p:nvSpPr>
            <p:cNvPr id="21" name="object 21"/>
            <p:cNvSpPr/>
            <p:nvPr/>
          </p:nvSpPr>
          <p:spPr>
            <a:xfrm>
              <a:off x="17556518" y="4756609"/>
              <a:ext cx="731520" cy="633095"/>
            </a:xfrm>
            <a:custGeom>
              <a:avLst/>
              <a:gdLst/>
              <a:ahLst/>
              <a:cxnLst/>
              <a:rect l="l" t="t" r="r" b="b"/>
              <a:pathLst>
                <a:path w="731519" h="633095">
                  <a:moveTo>
                    <a:pt x="0" y="633008"/>
                  </a:moveTo>
                  <a:lnTo>
                    <a:pt x="731480" y="633008"/>
                  </a:lnTo>
                  <a:lnTo>
                    <a:pt x="731480" y="580333"/>
                  </a:lnTo>
                  <a:lnTo>
                    <a:pt x="381618" y="0"/>
                  </a:lnTo>
                  <a:lnTo>
                    <a:pt x="0" y="633008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6792984" y="4756609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69" h="633095">
                  <a:moveTo>
                    <a:pt x="0" y="633008"/>
                  </a:moveTo>
                  <a:lnTo>
                    <a:pt x="763219" y="633008"/>
                  </a:lnTo>
                  <a:lnTo>
                    <a:pt x="381618" y="0"/>
                  </a:lnTo>
                  <a:lnTo>
                    <a:pt x="0" y="633008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6029450" y="4756609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69" h="633095">
                  <a:moveTo>
                    <a:pt x="0" y="633008"/>
                  </a:moveTo>
                  <a:lnTo>
                    <a:pt x="763219" y="633008"/>
                  </a:lnTo>
                  <a:lnTo>
                    <a:pt x="381601" y="0"/>
                  </a:lnTo>
                  <a:lnTo>
                    <a:pt x="0" y="633008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5265916" y="4756609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69" h="633095">
                  <a:moveTo>
                    <a:pt x="0" y="633008"/>
                  </a:moveTo>
                  <a:lnTo>
                    <a:pt x="763219" y="633008"/>
                  </a:lnTo>
                  <a:lnTo>
                    <a:pt x="381601" y="0"/>
                  </a:lnTo>
                  <a:lnTo>
                    <a:pt x="0" y="633008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4887720" y="4756609"/>
              <a:ext cx="760095" cy="633095"/>
            </a:xfrm>
            <a:custGeom>
              <a:avLst/>
              <a:gdLst/>
              <a:ahLst/>
              <a:cxnLst/>
              <a:rect l="l" t="t" r="r" b="b"/>
              <a:pathLst>
                <a:path w="760094" h="633095">
                  <a:moveTo>
                    <a:pt x="0" y="0"/>
                  </a:moveTo>
                  <a:lnTo>
                    <a:pt x="0" y="5677"/>
                  </a:lnTo>
                  <a:lnTo>
                    <a:pt x="378195" y="633008"/>
                  </a:lnTo>
                  <a:lnTo>
                    <a:pt x="7597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6411366" y="4756609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69" h="633095">
                  <a:moveTo>
                    <a:pt x="0" y="0"/>
                  </a:moveTo>
                  <a:lnTo>
                    <a:pt x="381618" y="633008"/>
                  </a:lnTo>
                  <a:lnTo>
                    <a:pt x="7632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7938450" y="4176797"/>
              <a:ext cx="349885" cy="580390"/>
            </a:xfrm>
            <a:custGeom>
              <a:avLst/>
              <a:gdLst/>
              <a:ahLst/>
              <a:cxnLst/>
              <a:rect l="l" t="t" r="r" b="b"/>
              <a:pathLst>
                <a:path w="349884" h="580389">
                  <a:moveTo>
                    <a:pt x="0" y="579811"/>
                  </a:moveTo>
                  <a:lnTo>
                    <a:pt x="349547" y="579811"/>
                  </a:lnTo>
                  <a:lnTo>
                    <a:pt x="349547" y="0"/>
                  </a:lnTo>
                  <a:lnTo>
                    <a:pt x="0" y="579811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7556518" y="4123601"/>
              <a:ext cx="731520" cy="633095"/>
            </a:xfrm>
            <a:custGeom>
              <a:avLst/>
              <a:gdLst/>
              <a:ahLst/>
              <a:cxnLst/>
              <a:rect l="l" t="t" r="r" b="b"/>
              <a:pathLst>
                <a:path w="731519" h="633095">
                  <a:moveTo>
                    <a:pt x="0" y="0"/>
                  </a:moveTo>
                  <a:lnTo>
                    <a:pt x="381618" y="633008"/>
                  </a:lnTo>
                  <a:lnTo>
                    <a:pt x="731480" y="52675"/>
                  </a:lnTo>
                  <a:lnTo>
                    <a:pt x="7314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6792984" y="4123600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69" h="633095">
                  <a:moveTo>
                    <a:pt x="0" y="0"/>
                  </a:moveTo>
                  <a:lnTo>
                    <a:pt x="381618" y="633008"/>
                  </a:lnTo>
                  <a:lnTo>
                    <a:pt x="7632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6029450" y="4123600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69" h="633095">
                  <a:moveTo>
                    <a:pt x="0" y="0"/>
                  </a:moveTo>
                  <a:lnTo>
                    <a:pt x="381601" y="633008"/>
                  </a:lnTo>
                  <a:lnTo>
                    <a:pt x="7632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7556518" y="3490592"/>
              <a:ext cx="731520" cy="633095"/>
            </a:xfrm>
            <a:custGeom>
              <a:avLst/>
              <a:gdLst/>
              <a:ahLst/>
              <a:cxnLst/>
              <a:rect l="l" t="t" r="r" b="b"/>
              <a:pathLst>
                <a:path w="731519" h="633095">
                  <a:moveTo>
                    <a:pt x="0" y="633008"/>
                  </a:moveTo>
                  <a:lnTo>
                    <a:pt x="731480" y="633008"/>
                  </a:lnTo>
                  <a:lnTo>
                    <a:pt x="731480" y="580333"/>
                  </a:lnTo>
                  <a:lnTo>
                    <a:pt x="381618" y="0"/>
                  </a:lnTo>
                  <a:lnTo>
                    <a:pt x="0" y="633008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7174917" y="3490592"/>
              <a:ext cx="763270" cy="633095"/>
            </a:xfrm>
            <a:custGeom>
              <a:avLst/>
              <a:gdLst/>
              <a:ahLst/>
              <a:cxnLst/>
              <a:rect l="l" t="t" r="r" b="b"/>
              <a:pathLst>
                <a:path w="763269" h="633095">
                  <a:moveTo>
                    <a:pt x="0" y="0"/>
                  </a:moveTo>
                  <a:lnTo>
                    <a:pt x="381601" y="633008"/>
                  </a:lnTo>
                  <a:lnTo>
                    <a:pt x="7632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7938450" y="2910780"/>
              <a:ext cx="349885" cy="580390"/>
            </a:xfrm>
            <a:custGeom>
              <a:avLst/>
              <a:gdLst/>
              <a:ahLst/>
              <a:cxnLst/>
              <a:rect l="l" t="t" r="r" b="b"/>
              <a:pathLst>
                <a:path w="349884" h="580389">
                  <a:moveTo>
                    <a:pt x="0" y="579811"/>
                  </a:moveTo>
                  <a:lnTo>
                    <a:pt x="349547" y="579811"/>
                  </a:lnTo>
                  <a:lnTo>
                    <a:pt x="349547" y="0"/>
                  </a:lnTo>
                  <a:lnTo>
                    <a:pt x="0" y="579811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016000" y="5704728"/>
            <a:ext cx="7486650" cy="3204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270" i="1">
                <a:solidFill>
                  <a:srgbClr val="18374D"/>
                </a:solidFill>
                <a:latin typeface="Arial Narrow"/>
                <a:cs typeface="Arial Narrow"/>
              </a:rPr>
              <a:t>Alcance</a:t>
            </a:r>
            <a:endParaRPr sz="3200">
              <a:latin typeface="Arial Narrow"/>
              <a:cs typeface="Arial Narrow"/>
            </a:endParaRPr>
          </a:p>
          <a:p>
            <a:pPr algn="just" marL="12700" marR="5080">
              <a:lnSpc>
                <a:spcPct val="107100"/>
              </a:lnSpc>
              <a:spcBef>
                <a:spcPts val="2290"/>
              </a:spcBef>
            </a:pPr>
            <a:r>
              <a:rPr dirty="0" sz="2100" spc="80">
                <a:solidFill>
                  <a:srgbClr val="18374D"/>
                </a:solidFill>
                <a:latin typeface="Calibri"/>
                <a:cs typeface="Calibri"/>
              </a:rPr>
              <a:t>El</a:t>
            </a:r>
            <a:r>
              <a:rPr dirty="0" sz="2100" spc="2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45">
                <a:solidFill>
                  <a:srgbClr val="18374D"/>
                </a:solidFill>
                <a:latin typeface="Calibri"/>
                <a:cs typeface="Calibri"/>
              </a:rPr>
              <a:t>alcance</a:t>
            </a:r>
            <a:r>
              <a:rPr dirty="0" sz="2100" spc="2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10">
                <a:solidFill>
                  <a:srgbClr val="18374D"/>
                </a:solidFill>
                <a:latin typeface="Calibri"/>
                <a:cs typeface="Calibri"/>
              </a:rPr>
              <a:t>contempla</a:t>
            </a:r>
            <a:r>
              <a:rPr dirty="0" sz="2100" spc="2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el</a:t>
            </a:r>
            <a:r>
              <a:rPr dirty="0" sz="2100" spc="2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desarrollo</a:t>
            </a:r>
            <a:r>
              <a:rPr dirty="0" sz="2100" spc="2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2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un</a:t>
            </a:r>
            <a:r>
              <a:rPr dirty="0" sz="2100" spc="2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235">
                <a:solidFill>
                  <a:srgbClr val="18374D"/>
                </a:solidFill>
                <a:latin typeface="Calibri"/>
                <a:cs typeface="Calibri"/>
              </a:rPr>
              <a:t>WMS</a:t>
            </a:r>
            <a:r>
              <a:rPr dirty="0" sz="2100" spc="2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35">
                <a:solidFill>
                  <a:srgbClr val="18374D"/>
                </a:solidFill>
                <a:latin typeface="Calibri"/>
                <a:cs typeface="Calibri"/>
              </a:rPr>
              <a:t>web</a:t>
            </a:r>
            <a:r>
              <a:rPr dirty="0" sz="2100" spc="2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modular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100" spc="29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20">
                <a:solidFill>
                  <a:srgbClr val="18374D"/>
                </a:solidFill>
                <a:latin typeface="Calibri"/>
                <a:cs typeface="Calibri"/>
              </a:rPr>
              <a:t>multi-</a:t>
            </a:r>
            <a:r>
              <a:rPr dirty="0" sz="2100" spc="100">
                <a:solidFill>
                  <a:srgbClr val="18374D"/>
                </a:solidFill>
                <a:latin typeface="Calibri"/>
                <a:cs typeface="Calibri"/>
              </a:rPr>
              <a:t>empresa</a:t>
            </a:r>
            <a:r>
              <a:rPr dirty="0" sz="2100" spc="29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00">
                <a:solidFill>
                  <a:srgbClr val="18374D"/>
                </a:solidFill>
                <a:latin typeface="Calibri"/>
                <a:cs typeface="Calibri"/>
              </a:rPr>
              <a:t>(Khepri)</a:t>
            </a:r>
            <a:r>
              <a:rPr dirty="0" sz="2100" spc="3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25">
                <a:solidFill>
                  <a:srgbClr val="18374D"/>
                </a:solidFill>
                <a:latin typeface="Calibri"/>
                <a:cs typeface="Calibri"/>
              </a:rPr>
              <a:t>que</a:t>
            </a:r>
            <a:r>
              <a:rPr dirty="0" sz="2100" spc="29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25">
                <a:solidFill>
                  <a:srgbClr val="18374D"/>
                </a:solidFill>
                <a:latin typeface="Calibri"/>
                <a:cs typeface="Calibri"/>
              </a:rPr>
              <a:t>abarca</a:t>
            </a:r>
            <a:r>
              <a:rPr dirty="0" sz="2100" spc="29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80">
                <a:solidFill>
                  <a:srgbClr val="18374D"/>
                </a:solidFill>
                <a:latin typeface="Calibri"/>
                <a:cs typeface="Calibri"/>
              </a:rPr>
              <a:t>la</a:t>
            </a:r>
            <a:r>
              <a:rPr dirty="0" sz="2100" spc="30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20">
                <a:solidFill>
                  <a:srgbClr val="18374D"/>
                </a:solidFill>
                <a:latin typeface="Calibri"/>
                <a:cs typeface="Calibri"/>
              </a:rPr>
              <a:t>gestión</a:t>
            </a:r>
            <a:r>
              <a:rPr dirty="0" sz="2100" spc="29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centralizada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2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20">
                <a:solidFill>
                  <a:srgbClr val="18374D"/>
                </a:solidFill>
                <a:latin typeface="Calibri"/>
                <a:cs typeface="Calibri"/>
              </a:rPr>
              <a:t>catálogo,</a:t>
            </a:r>
            <a:r>
              <a:rPr dirty="0" sz="2100" spc="229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usuarios,</a:t>
            </a:r>
            <a:r>
              <a:rPr dirty="0" sz="2100" spc="2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65">
                <a:solidFill>
                  <a:srgbClr val="18374D"/>
                </a:solidFill>
                <a:latin typeface="Calibri"/>
                <a:cs typeface="Calibri"/>
              </a:rPr>
              <a:t>bodegas</a:t>
            </a:r>
            <a:r>
              <a:rPr dirty="0" sz="2100" spc="229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100" spc="2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zonas,</a:t>
            </a:r>
            <a:r>
              <a:rPr dirty="0" sz="2100" spc="229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el</a:t>
            </a:r>
            <a:r>
              <a:rPr dirty="0" sz="2100" spc="229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control</a:t>
            </a:r>
            <a:r>
              <a:rPr dirty="0" sz="2100" spc="2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operativo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inventario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25">
                <a:solidFill>
                  <a:srgbClr val="18374D"/>
                </a:solidFill>
                <a:latin typeface="Calibri"/>
                <a:cs typeface="Calibri"/>
              </a:rPr>
              <a:t>(recepción,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  traslado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40">
                <a:solidFill>
                  <a:srgbClr val="18374D"/>
                </a:solidFill>
                <a:latin typeface="Calibri"/>
                <a:cs typeface="Calibri"/>
              </a:rPr>
              <a:t>despacho)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en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80">
                <a:solidFill>
                  <a:srgbClr val="18374D"/>
                </a:solidFill>
                <a:latin typeface="Calibri"/>
                <a:cs typeface="Calibri"/>
              </a:rPr>
              <a:t>tiempo </a:t>
            </a:r>
            <a:r>
              <a:rPr dirty="0" sz="2100" spc="60">
                <a:solidFill>
                  <a:srgbClr val="18374D"/>
                </a:solidFill>
                <a:latin typeface="Calibri"/>
                <a:cs typeface="Calibri"/>
              </a:rPr>
              <a:t>real</a:t>
            </a:r>
            <a:r>
              <a:rPr dirty="0" sz="2100" spc="4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45">
                <a:solidFill>
                  <a:srgbClr val="18374D"/>
                </a:solidFill>
                <a:latin typeface="Calibri"/>
                <a:cs typeface="Calibri"/>
              </a:rPr>
              <a:t>con</a:t>
            </a:r>
            <a:r>
              <a:rPr dirty="0" sz="2100" spc="4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trazabilidad</a:t>
            </a:r>
            <a:r>
              <a:rPr dirty="0" sz="2100" spc="4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10">
                <a:solidFill>
                  <a:srgbClr val="18374D"/>
                </a:solidFill>
                <a:latin typeface="Calibri"/>
                <a:cs typeface="Calibri"/>
              </a:rPr>
              <a:t>auditada,</a:t>
            </a:r>
            <a:r>
              <a:rPr dirty="0" sz="2100" spc="4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05">
                <a:solidFill>
                  <a:srgbClr val="18374D"/>
                </a:solidFill>
                <a:latin typeface="Calibri"/>
                <a:cs typeface="Calibri"/>
              </a:rPr>
              <a:t>autenticación</a:t>
            </a:r>
            <a:r>
              <a:rPr dirty="0" sz="2100" spc="4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4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20">
                <a:solidFill>
                  <a:srgbClr val="18374D"/>
                </a:solidFill>
                <a:latin typeface="Calibri"/>
                <a:cs typeface="Calibri"/>
              </a:rPr>
              <a:t>seguridad </a:t>
            </a:r>
            <a:r>
              <a:rPr dirty="0" sz="2100" spc="204">
                <a:solidFill>
                  <a:srgbClr val="18374D"/>
                </a:solidFill>
                <a:latin typeface="Calibri"/>
                <a:cs typeface="Calibri"/>
              </a:rPr>
              <a:t>(JWT/RBAC),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reportes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10">
                <a:solidFill>
                  <a:srgbClr val="18374D"/>
                </a:solidFill>
                <a:latin typeface="Calibri"/>
                <a:cs typeface="Calibri"/>
              </a:rPr>
              <a:t>exportables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en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80">
                <a:solidFill>
                  <a:srgbClr val="18374D"/>
                </a:solidFill>
                <a:latin typeface="Calibri"/>
                <a:cs typeface="Calibri"/>
              </a:rPr>
              <a:t>PDF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35">
                <a:solidFill>
                  <a:srgbClr val="18374D"/>
                </a:solidFill>
                <a:latin typeface="Calibri"/>
                <a:cs typeface="Calibri"/>
              </a:rPr>
              <a:t>Excel,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  y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60">
                <a:solidFill>
                  <a:srgbClr val="18374D"/>
                </a:solidFill>
                <a:latin typeface="Calibri"/>
                <a:cs typeface="Calibri"/>
              </a:rPr>
              <a:t>una </a:t>
            </a:r>
            <a:r>
              <a:rPr dirty="0" sz="2100" spc="180">
                <a:solidFill>
                  <a:srgbClr val="18374D"/>
                </a:solidFill>
                <a:latin typeface="Calibri"/>
                <a:cs typeface="Calibri"/>
              </a:rPr>
              <a:t>API</a:t>
            </a:r>
            <a:r>
              <a:rPr dirty="0" sz="2100" spc="13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65">
                <a:solidFill>
                  <a:srgbClr val="18374D"/>
                </a:solidFill>
                <a:latin typeface="Calibri"/>
                <a:cs typeface="Calibri"/>
              </a:rPr>
              <a:t>REST</a:t>
            </a:r>
            <a:r>
              <a:rPr dirty="0" sz="2100" spc="13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documentada</a:t>
            </a:r>
            <a:r>
              <a:rPr dirty="0" sz="2100" spc="13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para</a:t>
            </a:r>
            <a:r>
              <a:rPr dirty="0" sz="2100" spc="13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interoperabilidad.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67595" y="5704728"/>
            <a:ext cx="7501890" cy="3204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254" i="1">
                <a:solidFill>
                  <a:srgbClr val="18374D"/>
                </a:solidFill>
                <a:latin typeface="Arial Narrow"/>
                <a:cs typeface="Arial Narrow"/>
              </a:rPr>
              <a:t>Limitaciones</a:t>
            </a:r>
            <a:endParaRPr sz="3200">
              <a:latin typeface="Arial Narrow"/>
              <a:cs typeface="Arial Narrow"/>
            </a:endParaRPr>
          </a:p>
          <a:p>
            <a:pPr algn="just" marL="12700" marR="5080">
              <a:lnSpc>
                <a:spcPct val="107100"/>
              </a:lnSpc>
              <a:spcBef>
                <a:spcPts val="2290"/>
              </a:spcBef>
            </a:pPr>
            <a:r>
              <a:rPr dirty="0" sz="2100" spc="120">
                <a:solidFill>
                  <a:srgbClr val="18374D"/>
                </a:solidFill>
                <a:latin typeface="Calibri"/>
                <a:cs typeface="Calibri"/>
              </a:rPr>
              <a:t>Las</a:t>
            </a:r>
            <a:r>
              <a:rPr dirty="0" sz="2100" spc="2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limitaciones</a:t>
            </a:r>
            <a:r>
              <a:rPr dirty="0" sz="21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20">
                <a:solidFill>
                  <a:srgbClr val="18374D"/>
                </a:solidFill>
                <a:latin typeface="Calibri"/>
                <a:cs typeface="Calibri"/>
              </a:rPr>
              <a:t>del</a:t>
            </a:r>
            <a:r>
              <a:rPr dirty="0" sz="21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proyecto</a:t>
            </a:r>
            <a:r>
              <a:rPr dirty="0" sz="21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están</a:t>
            </a:r>
            <a:r>
              <a:rPr dirty="0" sz="21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definidas</a:t>
            </a:r>
            <a:r>
              <a:rPr dirty="0" sz="21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por</a:t>
            </a:r>
            <a:r>
              <a:rPr dirty="0" sz="21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un</a:t>
            </a:r>
            <a:r>
              <a:rPr dirty="0" sz="2100" spc="2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plazo </a:t>
            </a:r>
            <a:r>
              <a:rPr dirty="0" sz="2100" spc="125">
                <a:solidFill>
                  <a:srgbClr val="18374D"/>
                </a:solidFill>
                <a:latin typeface="Calibri"/>
                <a:cs typeface="Calibri"/>
              </a:rPr>
              <a:t>acotado</a:t>
            </a:r>
            <a:r>
              <a:rPr dirty="0" sz="2100" spc="19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19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25">
                <a:solidFill>
                  <a:srgbClr val="18374D"/>
                </a:solidFill>
                <a:latin typeface="Calibri"/>
                <a:cs typeface="Calibri"/>
              </a:rPr>
              <a:t>18</a:t>
            </a:r>
            <a:r>
              <a:rPr dirty="0" sz="2100" spc="19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semanas</a:t>
            </a:r>
            <a:r>
              <a:rPr dirty="0" sz="2100" spc="19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19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desarrollo</a:t>
            </a:r>
            <a:r>
              <a:rPr dirty="0" sz="2100" spc="19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ejecutado</a:t>
            </a:r>
            <a:r>
              <a:rPr dirty="0" sz="2100" spc="19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por</a:t>
            </a:r>
            <a:r>
              <a:rPr dirty="0" sz="2100" spc="19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45">
                <a:solidFill>
                  <a:srgbClr val="18374D"/>
                </a:solidFill>
                <a:latin typeface="Calibri"/>
                <a:cs typeface="Calibri"/>
              </a:rPr>
              <a:t>un </a:t>
            </a:r>
            <a:r>
              <a:rPr dirty="0" sz="2100" spc="125">
                <a:solidFill>
                  <a:srgbClr val="18374D"/>
                </a:solidFill>
                <a:latin typeface="Calibri"/>
                <a:cs typeface="Calibri"/>
              </a:rPr>
              <a:t>equipo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12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3</a:t>
            </a:r>
            <a:r>
              <a:rPr dirty="0" sz="2100" spc="12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00">
                <a:solidFill>
                  <a:srgbClr val="18374D"/>
                </a:solidFill>
                <a:latin typeface="Calibri"/>
                <a:cs typeface="Calibri"/>
              </a:rPr>
              <a:t>integrantes,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restringido</a:t>
            </a:r>
            <a:r>
              <a:rPr dirty="0" sz="2100" spc="12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80">
                <a:solidFill>
                  <a:srgbClr val="18374D"/>
                </a:solidFill>
                <a:latin typeface="Calibri"/>
                <a:cs typeface="Calibri"/>
              </a:rPr>
              <a:t>al</a:t>
            </a:r>
            <a:r>
              <a:rPr dirty="0" sz="2100" spc="12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30">
                <a:solidFill>
                  <a:srgbClr val="18374D"/>
                </a:solidFill>
                <a:latin typeface="Calibri"/>
                <a:cs typeface="Calibri"/>
              </a:rPr>
              <a:t>stack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25">
                <a:solidFill>
                  <a:srgbClr val="18374D"/>
                </a:solidFill>
                <a:latin typeface="Calibri"/>
                <a:cs typeface="Calibri"/>
              </a:rPr>
              <a:t>tecnológico </a:t>
            </a:r>
            <a:r>
              <a:rPr dirty="0" sz="2100" spc="130">
                <a:solidFill>
                  <a:srgbClr val="18374D"/>
                </a:solidFill>
                <a:latin typeface="Calibri"/>
                <a:cs typeface="Calibri"/>
              </a:rPr>
              <a:t>establecido</a:t>
            </a:r>
            <a:r>
              <a:rPr dirty="0" sz="2100" spc="50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30">
                <a:solidFill>
                  <a:srgbClr val="18374D"/>
                </a:solidFill>
                <a:latin typeface="Calibri"/>
                <a:cs typeface="Calibri"/>
              </a:rPr>
              <a:t>(FastAPI,</a:t>
            </a:r>
            <a:r>
              <a:rPr dirty="0" sz="2100" spc="50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20">
                <a:solidFill>
                  <a:srgbClr val="18374D"/>
                </a:solidFill>
                <a:latin typeface="Calibri"/>
                <a:cs typeface="Calibri"/>
              </a:rPr>
              <a:t>React,</a:t>
            </a:r>
            <a:r>
              <a:rPr dirty="0" sz="2100" spc="50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90">
                <a:solidFill>
                  <a:srgbClr val="18374D"/>
                </a:solidFill>
                <a:latin typeface="Calibri"/>
                <a:cs typeface="Calibri"/>
              </a:rPr>
              <a:t>MySQL</a:t>
            </a:r>
            <a:r>
              <a:rPr dirty="0" sz="2100" spc="50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100" spc="50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40">
                <a:solidFill>
                  <a:srgbClr val="18374D"/>
                </a:solidFill>
                <a:latin typeface="Calibri"/>
                <a:cs typeface="Calibri"/>
              </a:rPr>
              <a:t>despliegue</a:t>
            </a:r>
            <a:r>
              <a:rPr dirty="0" sz="2100" spc="50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en </a:t>
            </a:r>
            <a:r>
              <a:rPr dirty="0" sz="2100" spc="90">
                <a:solidFill>
                  <a:srgbClr val="18374D"/>
                </a:solidFill>
                <a:latin typeface="Calibri"/>
                <a:cs typeface="Calibri"/>
              </a:rPr>
              <a:t>Railway)</a:t>
            </a:r>
            <a:r>
              <a:rPr dirty="0" sz="2100" spc="17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65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100" spc="17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25">
                <a:solidFill>
                  <a:srgbClr val="18374D"/>
                </a:solidFill>
                <a:latin typeface="Calibri"/>
                <a:cs typeface="Calibri"/>
              </a:rPr>
              <a:t>enfocado</a:t>
            </a:r>
            <a:r>
              <a:rPr dirty="0" sz="2100" spc="17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00">
                <a:solidFill>
                  <a:srgbClr val="18374D"/>
                </a:solidFill>
                <a:latin typeface="Calibri"/>
                <a:cs typeface="Calibri"/>
              </a:rPr>
              <a:t>exclusivamente</a:t>
            </a:r>
            <a:r>
              <a:rPr dirty="0" sz="2100" spc="17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en</a:t>
            </a:r>
            <a:r>
              <a:rPr dirty="0" sz="2100" spc="17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85">
                <a:solidFill>
                  <a:srgbClr val="18374D"/>
                </a:solidFill>
                <a:latin typeface="Calibri"/>
                <a:cs typeface="Calibri"/>
              </a:rPr>
              <a:t>una</a:t>
            </a:r>
            <a:r>
              <a:rPr dirty="0" sz="2100" spc="17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interfaz</a:t>
            </a:r>
            <a:r>
              <a:rPr dirty="0" sz="2100" spc="17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10">
                <a:solidFill>
                  <a:srgbClr val="18374D"/>
                </a:solidFill>
                <a:latin typeface="Calibri"/>
                <a:cs typeface="Calibri"/>
              </a:rPr>
              <a:t>web</a:t>
            </a:r>
            <a:endParaRPr sz="2100">
              <a:latin typeface="Calibri"/>
              <a:cs typeface="Calibri"/>
            </a:endParaRPr>
          </a:p>
          <a:p>
            <a:pPr algn="just" marL="2470785" marR="5080" indent="45720">
              <a:lnSpc>
                <a:spcPct val="107100"/>
              </a:lnSpc>
            </a:pPr>
            <a:r>
              <a:rPr dirty="0" sz="2100" spc="105">
                <a:solidFill>
                  <a:srgbClr val="18374D"/>
                </a:solidFill>
                <a:latin typeface="Calibri"/>
                <a:cs typeface="Calibri"/>
              </a:rPr>
              <a:t>integración</a:t>
            </a:r>
            <a:r>
              <a:rPr dirty="0" sz="2100" spc="270">
                <a:solidFill>
                  <a:srgbClr val="18374D"/>
                </a:solidFill>
                <a:latin typeface="Calibri"/>
                <a:cs typeface="Calibri"/>
              </a:rPr>
              <a:t>    </a:t>
            </a:r>
            <a:r>
              <a:rPr dirty="0" sz="2100" spc="105">
                <a:solidFill>
                  <a:srgbClr val="18374D"/>
                </a:solidFill>
                <a:latin typeface="Calibri"/>
                <a:cs typeface="Calibri"/>
              </a:rPr>
              <a:t>directa</a:t>
            </a:r>
            <a:r>
              <a:rPr dirty="0" sz="2100" spc="280">
                <a:solidFill>
                  <a:srgbClr val="18374D"/>
                </a:solidFill>
                <a:latin typeface="Calibri"/>
                <a:cs typeface="Calibri"/>
              </a:rPr>
              <a:t>    </a:t>
            </a:r>
            <a:r>
              <a:rPr dirty="0" sz="2100" spc="145">
                <a:solidFill>
                  <a:srgbClr val="18374D"/>
                </a:solidFill>
                <a:latin typeface="Calibri"/>
                <a:cs typeface="Calibri"/>
              </a:rPr>
              <a:t>con</a:t>
            </a:r>
            <a:r>
              <a:rPr dirty="0" sz="2100" spc="280">
                <a:solidFill>
                  <a:srgbClr val="18374D"/>
                </a:solidFill>
                <a:latin typeface="Calibri"/>
                <a:cs typeface="Calibri"/>
              </a:rPr>
              <a:t>    </a:t>
            </a:r>
            <a:r>
              <a:rPr dirty="0" sz="2100" spc="70">
                <a:solidFill>
                  <a:srgbClr val="18374D"/>
                </a:solidFill>
                <a:latin typeface="Calibri"/>
                <a:cs typeface="Calibri"/>
              </a:rPr>
              <a:t>hardware </a:t>
            </a:r>
            <a:r>
              <a:rPr dirty="0" sz="2100" spc="110">
                <a:solidFill>
                  <a:srgbClr val="18374D"/>
                </a:solidFill>
                <a:latin typeface="Calibri"/>
                <a:cs typeface="Calibri"/>
              </a:rPr>
              <a:t>almacén</a:t>
            </a:r>
            <a:r>
              <a:rPr dirty="0" sz="2100" spc="46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10">
                <a:solidFill>
                  <a:srgbClr val="18374D"/>
                </a:solidFill>
                <a:latin typeface="Calibri"/>
                <a:cs typeface="Calibri"/>
              </a:rPr>
              <a:t>(como</a:t>
            </a:r>
            <a:r>
              <a:rPr dirty="0" sz="2100" spc="46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10">
                <a:solidFill>
                  <a:srgbClr val="18374D"/>
                </a:solidFill>
                <a:latin typeface="Calibri"/>
                <a:cs typeface="Calibri"/>
              </a:rPr>
              <a:t>pistolas</a:t>
            </a:r>
            <a:r>
              <a:rPr dirty="0" sz="2100" spc="47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5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100" spc="46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100" spc="130">
                <a:solidFill>
                  <a:srgbClr val="18374D"/>
                </a:solidFill>
                <a:latin typeface="Calibri"/>
                <a:cs typeface="Calibri"/>
              </a:rPr>
              <a:t>escaneo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67595" y="8197850"/>
            <a:ext cx="2245995" cy="1054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  <a:tabLst>
                <a:tab pos="1787525" algn="l"/>
                <a:tab pos="1920239" algn="l"/>
              </a:tabLst>
            </a:pPr>
            <a:r>
              <a:rPr dirty="0" sz="2100" spc="95">
                <a:solidFill>
                  <a:srgbClr val="18374D"/>
                </a:solidFill>
                <a:latin typeface="Calibri"/>
                <a:cs typeface="Calibri"/>
              </a:rPr>
              <a:t>responsiva,</a:t>
            </a:r>
            <a:r>
              <a:rPr dirty="0" sz="2100">
                <a:solidFill>
                  <a:srgbClr val="18374D"/>
                </a:solidFill>
                <a:latin typeface="Calibri"/>
                <a:cs typeface="Calibri"/>
              </a:rPr>
              <a:t>	</a:t>
            </a:r>
            <a:r>
              <a:rPr dirty="0" sz="2100" spc="75">
                <a:solidFill>
                  <a:srgbClr val="18374D"/>
                </a:solidFill>
                <a:latin typeface="Calibri"/>
                <a:cs typeface="Calibri"/>
              </a:rPr>
              <a:t>sin </a:t>
            </a:r>
            <a:r>
              <a:rPr dirty="0" sz="2100" spc="114">
                <a:solidFill>
                  <a:srgbClr val="18374D"/>
                </a:solidFill>
                <a:latin typeface="Calibri"/>
                <a:cs typeface="Calibri"/>
              </a:rPr>
              <a:t>especializado</a:t>
            </a:r>
            <a:r>
              <a:rPr dirty="0" sz="2100">
                <a:solidFill>
                  <a:srgbClr val="18374D"/>
                </a:solidFill>
                <a:latin typeface="Calibri"/>
                <a:cs typeface="Calibri"/>
              </a:rPr>
              <a:t>		</a:t>
            </a:r>
            <a:r>
              <a:rPr dirty="0" sz="2100" spc="125">
                <a:solidFill>
                  <a:srgbClr val="18374D"/>
                </a:solidFill>
                <a:latin typeface="Calibri"/>
                <a:cs typeface="Calibri"/>
              </a:rPr>
              <a:t>de </a:t>
            </a:r>
            <a:r>
              <a:rPr dirty="0" sz="2100" spc="140">
                <a:solidFill>
                  <a:srgbClr val="18374D"/>
                </a:solidFill>
                <a:latin typeface="Calibri"/>
                <a:cs typeface="Calibri"/>
              </a:rPr>
              <a:t>dedicadas).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59"/>
              <a:t>U</a:t>
            </a:r>
            <a:r>
              <a:rPr dirty="0" spc="-935"/>
              <a:t> </a:t>
            </a:r>
            <a:r>
              <a:rPr dirty="0" spc="785"/>
              <a:t>S</a:t>
            </a:r>
            <a:r>
              <a:rPr dirty="0" spc="-930"/>
              <a:t> </a:t>
            </a:r>
            <a:r>
              <a:rPr dirty="0" spc="459"/>
              <a:t>U</a:t>
            </a:r>
            <a:r>
              <a:rPr dirty="0" spc="-930"/>
              <a:t> </a:t>
            </a:r>
            <a:r>
              <a:rPr dirty="0" spc="-114"/>
              <a:t>A</a:t>
            </a:r>
            <a:r>
              <a:rPr dirty="0" spc="-930"/>
              <a:t> </a:t>
            </a:r>
            <a:r>
              <a:rPr dirty="0" spc="580"/>
              <a:t>R</a:t>
            </a:r>
            <a:r>
              <a:rPr dirty="0" spc="-930"/>
              <a:t> </a:t>
            </a:r>
            <a:r>
              <a:rPr dirty="0" spc="340"/>
              <a:t>I</a:t>
            </a:r>
            <a:r>
              <a:rPr dirty="0" spc="-935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16000" y="2580961"/>
            <a:ext cx="12649200" cy="349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El</a:t>
            </a:r>
            <a:r>
              <a:rPr dirty="0" sz="2800" spc="100" b="0">
                <a:solidFill>
                  <a:srgbClr val="18374D"/>
                </a:solidFill>
                <a:latin typeface="Open Sans Light"/>
                <a:cs typeface="Open Sans Light"/>
              </a:rPr>
              <a:t>  </a:t>
            </a:r>
            <a:r>
              <a:rPr dirty="0" sz="2800" spc="60" b="0">
                <a:solidFill>
                  <a:srgbClr val="18374D"/>
                </a:solidFill>
                <a:latin typeface="Open Sans Light"/>
                <a:cs typeface="Open Sans Light"/>
              </a:rPr>
              <a:t>software</a:t>
            </a:r>
            <a:r>
              <a:rPr dirty="0" sz="2800" spc="100" b="0">
                <a:solidFill>
                  <a:srgbClr val="18374D"/>
                </a:solidFill>
                <a:latin typeface="Open Sans Light"/>
                <a:cs typeface="Open Sans Light"/>
              </a:rPr>
              <a:t> 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está</a:t>
            </a:r>
            <a:r>
              <a:rPr dirty="0" sz="2800" spc="100" b="0">
                <a:solidFill>
                  <a:srgbClr val="18374D"/>
                </a:solidFill>
                <a:latin typeface="Open Sans Light"/>
                <a:cs typeface="Open Sans Light"/>
              </a:rPr>
              <a:t>  </a:t>
            </a:r>
            <a:r>
              <a:rPr dirty="0" sz="2800" spc="45" b="0">
                <a:solidFill>
                  <a:srgbClr val="18374D"/>
                </a:solidFill>
                <a:latin typeface="Open Sans Light"/>
                <a:cs typeface="Open Sans Light"/>
              </a:rPr>
              <a:t>diseñado</a:t>
            </a:r>
            <a:r>
              <a:rPr dirty="0" sz="2800" spc="105" b="0">
                <a:solidFill>
                  <a:srgbClr val="18374D"/>
                </a:solidFill>
                <a:latin typeface="Open Sans Light"/>
                <a:cs typeface="Open Sans Light"/>
              </a:rPr>
              <a:t>  </a:t>
            </a:r>
            <a:r>
              <a:rPr dirty="0" sz="2800" spc="50" b="0">
                <a:solidFill>
                  <a:srgbClr val="18374D"/>
                </a:solidFill>
                <a:latin typeface="Open Sans Light"/>
                <a:cs typeface="Open Sans Light"/>
              </a:rPr>
              <a:t>para</a:t>
            </a:r>
            <a:r>
              <a:rPr dirty="0" sz="2800" spc="100" b="0">
                <a:solidFill>
                  <a:srgbClr val="18374D"/>
                </a:solidFill>
                <a:latin typeface="Open Sans Light"/>
                <a:cs typeface="Open Sans Light"/>
              </a:rPr>
              <a:t> 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cuatro</a:t>
            </a:r>
            <a:r>
              <a:rPr dirty="0" sz="2800" spc="100" b="0">
                <a:solidFill>
                  <a:srgbClr val="18374D"/>
                </a:solidFill>
                <a:latin typeface="Open Sans Light"/>
                <a:cs typeface="Open Sans Light"/>
              </a:rPr>
              <a:t>  </a:t>
            </a:r>
            <a:r>
              <a:rPr dirty="0" sz="2800" spc="50" b="0">
                <a:solidFill>
                  <a:srgbClr val="18374D"/>
                </a:solidFill>
                <a:latin typeface="Open Sans Light"/>
                <a:cs typeface="Open Sans Light"/>
              </a:rPr>
              <a:t>perfiles</a:t>
            </a:r>
            <a:r>
              <a:rPr dirty="0" sz="2800" spc="105" b="0">
                <a:solidFill>
                  <a:srgbClr val="18374D"/>
                </a:solidFill>
                <a:latin typeface="Open Sans Light"/>
                <a:cs typeface="Open Sans Light"/>
              </a:rPr>
              <a:t> 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con</a:t>
            </a:r>
            <a:r>
              <a:rPr dirty="0" sz="2800" spc="100" b="0">
                <a:solidFill>
                  <a:srgbClr val="18374D"/>
                </a:solidFill>
                <a:latin typeface="Open Sans Light"/>
                <a:cs typeface="Open Sans Light"/>
              </a:rPr>
              <a:t>  </a:t>
            </a:r>
            <a:r>
              <a:rPr dirty="0" sz="2800" spc="45" b="0">
                <a:solidFill>
                  <a:srgbClr val="18374D"/>
                </a:solidFill>
                <a:latin typeface="Open Sans Light"/>
                <a:cs typeface="Open Sans Light"/>
              </a:rPr>
              <a:t>distintos</a:t>
            </a:r>
            <a:r>
              <a:rPr dirty="0" sz="2800" spc="100" b="0">
                <a:solidFill>
                  <a:srgbClr val="18374D"/>
                </a:solidFill>
                <a:latin typeface="Open Sans Light"/>
                <a:cs typeface="Open Sans Light"/>
              </a:rPr>
              <a:t>  </a:t>
            </a:r>
            <a:r>
              <a:rPr dirty="0" sz="2800" spc="50" b="0">
                <a:solidFill>
                  <a:srgbClr val="18374D"/>
                </a:solidFill>
                <a:latin typeface="Open Sans Light"/>
                <a:cs typeface="Open Sans Light"/>
              </a:rPr>
              <a:t>niveles</a:t>
            </a:r>
            <a:r>
              <a:rPr dirty="0" sz="2800" spc="100" b="0">
                <a:solidFill>
                  <a:srgbClr val="18374D"/>
                </a:solidFill>
                <a:latin typeface="Open Sans Light"/>
                <a:cs typeface="Open Sans Light"/>
              </a:rPr>
              <a:t>  </a:t>
            </a:r>
            <a:r>
              <a:rPr dirty="0" sz="2800" spc="-25" b="0">
                <a:solidFill>
                  <a:srgbClr val="18374D"/>
                </a:solidFill>
                <a:latin typeface="Open Sans Light"/>
                <a:cs typeface="Open Sans Light"/>
              </a:rPr>
              <a:t>de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acceso</a:t>
            </a:r>
            <a:r>
              <a:rPr dirty="0" sz="2800" spc="50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114" b="0">
                <a:solidFill>
                  <a:srgbClr val="18374D"/>
                </a:solidFill>
                <a:latin typeface="Open Sans Light"/>
                <a:cs typeface="Open Sans Light"/>
              </a:rPr>
              <a:t>y</a:t>
            </a:r>
            <a:r>
              <a:rPr dirty="0" sz="2800" spc="50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50" b="0">
                <a:solidFill>
                  <a:srgbClr val="18374D"/>
                </a:solidFill>
                <a:latin typeface="Open Sans Light"/>
                <a:cs typeface="Open Sans Light"/>
              </a:rPr>
              <a:t>responsabilidad:</a:t>
            </a:r>
            <a:r>
              <a:rPr dirty="0" sz="2800" spc="50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el</a:t>
            </a:r>
            <a:r>
              <a:rPr dirty="0" sz="2800" spc="50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Operador</a:t>
            </a:r>
            <a:r>
              <a:rPr dirty="0" sz="2800" spc="50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de</a:t>
            </a:r>
            <a:r>
              <a:rPr dirty="0" sz="2800" spc="50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Bodega</a:t>
            </a:r>
            <a:r>
              <a:rPr dirty="0" sz="2800" spc="50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45" b="0">
                <a:solidFill>
                  <a:srgbClr val="18374D"/>
                </a:solidFill>
                <a:latin typeface="Open Sans Light"/>
                <a:cs typeface="Open Sans Light"/>
              </a:rPr>
              <a:t>enfocado</a:t>
            </a:r>
            <a:r>
              <a:rPr dirty="0" sz="2800" spc="50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en</a:t>
            </a:r>
            <a:r>
              <a:rPr dirty="0" sz="2800" spc="50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ejecutar</a:t>
            </a:r>
            <a:r>
              <a:rPr dirty="0" sz="2800" spc="50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35" b="0">
                <a:solidFill>
                  <a:srgbClr val="18374D"/>
                </a:solidFill>
                <a:latin typeface="Open Sans Light"/>
                <a:cs typeface="Open Sans Light"/>
              </a:rPr>
              <a:t>la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recepción,</a:t>
            </a:r>
            <a:r>
              <a:rPr dirty="0" sz="2800" spc="15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45" b="0">
                <a:solidFill>
                  <a:srgbClr val="18374D"/>
                </a:solidFill>
                <a:latin typeface="Open Sans Light"/>
                <a:cs typeface="Open Sans Light"/>
              </a:rPr>
              <a:t>traslado</a:t>
            </a:r>
            <a:r>
              <a:rPr dirty="0" sz="2800" spc="15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114" b="0">
                <a:solidFill>
                  <a:srgbClr val="18374D"/>
                </a:solidFill>
                <a:latin typeface="Open Sans Light"/>
                <a:cs typeface="Open Sans Light"/>
              </a:rPr>
              <a:t>y</a:t>
            </a:r>
            <a:r>
              <a:rPr dirty="0" sz="2800" spc="16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despacho</a:t>
            </a:r>
            <a:r>
              <a:rPr dirty="0" sz="2800" spc="15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de</a:t>
            </a:r>
            <a:r>
              <a:rPr dirty="0" sz="2800" spc="16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45" b="0">
                <a:solidFill>
                  <a:srgbClr val="18374D"/>
                </a:solidFill>
                <a:latin typeface="Open Sans Light"/>
                <a:cs typeface="Open Sans Light"/>
              </a:rPr>
              <a:t>mercancías;</a:t>
            </a:r>
            <a:r>
              <a:rPr dirty="0" sz="2800" spc="15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el</a:t>
            </a:r>
            <a:r>
              <a:rPr dirty="0" sz="2800" spc="16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55" b="0">
                <a:solidFill>
                  <a:srgbClr val="18374D"/>
                </a:solidFill>
                <a:latin typeface="Open Sans Light"/>
                <a:cs typeface="Open Sans Light"/>
              </a:rPr>
              <a:t>Jefe</a:t>
            </a:r>
            <a:r>
              <a:rPr dirty="0" sz="2800" spc="15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de</a:t>
            </a:r>
            <a:r>
              <a:rPr dirty="0" sz="2800" spc="16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55" b="0">
                <a:solidFill>
                  <a:srgbClr val="18374D"/>
                </a:solidFill>
                <a:latin typeface="Open Sans Light"/>
                <a:cs typeface="Open Sans Light"/>
              </a:rPr>
              <a:t>Almacén</a:t>
            </a:r>
            <a:r>
              <a:rPr dirty="0" sz="2800" spc="15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35" b="0">
                <a:solidFill>
                  <a:srgbClr val="18374D"/>
                </a:solidFill>
                <a:latin typeface="Open Sans Light"/>
                <a:cs typeface="Open Sans Light"/>
              </a:rPr>
              <a:t>orientado </a:t>
            </a:r>
            <a:r>
              <a:rPr dirty="0" sz="2800" spc="55" b="0">
                <a:solidFill>
                  <a:srgbClr val="18374D"/>
                </a:solidFill>
                <a:latin typeface="Open Sans Light"/>
                <a:cs typeface="Open Sans Light"/>
              </a:rPr>
              <a:t>a</a:t>
            </a:r>
            <a:r>
              <a:rPr dirty="0" sz="2800" spc="1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60" b="0">
                <a:solidFill>
                  <a:srgbClr val="18374D"/>
                </a:solidFill>
                <a:latin typeface="Open Sans Light"/>
                <a:cs typeface="Open Sans Light"/>
              </a:rPr>
              <a:t>la</a:t>
            </a:r>
            <a:r>
              <a:rPr dirty="0" sz="2800" spc="1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50" b="0">
                <a:solidFill>
                  <a:srgbClr val="18374D"/>
                </a:solidFill>
                <a:latin typeface="Open Sans Light"/>
                <a:cs typeface="Open Sans Light"/>
              </a:rPr>
              <a:t>supervisión,</a:t>
            </a:r>
            <a:r>
              <a:rPr dirty="0" sz="2800" spc="17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control</a:t>
            </a:r>
            <a:r>
              <a:rPr dirty="0" sz="2800" spc="1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de</a:t>
            </a:r>
            <a:r>
              <a:rPr dirty="0" sz="2800" spc="1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stock</a:t>
            </a:r>
            <a:r>
              <a:rPr dirty="0" sz="2800" spc="17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114" b="0">
                <a:solidFill>
                  <a:srgbClr val="18374D"/>
                </a:solidFill>
                <a:latin typeface="Open Sans Light"/>
                <a:cs typeface="Open Sans Light"/>
              </a:rPr>
              <a:t>y</a:t>
            </a:r>
            <a:r>
              <a:rPr dirty="0" sz="2800" spc="1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generación</a:t>
            </a:r>
            <a:r>
              <a:rPr dirty="0" sz="2800" spc="1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de</a:t>
            </a:r>
            <a:r>
              <a:rPr dirty="0" sz="2800" spc="17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reportes;</a:t>
            </a:r>
            <a:r>
              <a:rPr dirty="0" sz="2800" spc="1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el</a:t>
            </a:r>
            <a:r>
              <a:rPr dirty="0" sz="2800" spc="1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45" b="0">
                <a:solidFill>
                  <a:srgbClr val="18374D"/>
                </a:solidFill>
                <a:latin typeface="Open Sans Light"/>
                <a:cs typeface="Open Sans Light"/>
              </a:rPr>
              <a:t>Administrador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de</a:t>
            </a:r>
            <a:r>
              <a:rPr dirty="0" sz="2800" spc="66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Empresa</a:t>
            </a:r>
            <a:r>
              <a:rPr dirty="0" sz="2800" spc="6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55" b="0">
                <a:solidFill>
                  <a:srgbClr val="18374D"/>
                </a:solidFill>
                <a:latin typeface="Open Sans Light"/>
                <a:cs typeface="Open Sans Light"/>
              </a:rPr>
              <a:t>a</a:t>
            </a:r>
            <a:r>
              <a:rPr dirty="0" sz="2800" spc="66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cargo</a:t>
            </a:r>
            <a:r>
              <a:rPr dirty="0" sz="2800" spc="6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de</a:t>
            </a:r>
            <a:r>
              <a:rPr dirty="0" sz="2800" spc="66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60" b="0">
                <a:solidFill>
                  <a:srgbClr val="18374D"/>
                </a:solidFill>
                <a:latin typeface="Open Sans Light"/>
                <a:cs typeface="Open Sans Light"/>
              </a:rPr>
              <a:t>la</a:t>
            </a:r>
            <a:r>
              <a:rPr dirty="0" sz="2800" spc="6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45" b="0">
                <a:solidFill>
                  <a:srgbClr val="18374D"/>
                </a:solidFill>
                <a:latin typeface="Open Sans Light"/>
                <a:cs typeface="Open Sans Light"/>
              </a:rPr>
              <a:t>gestión</a:t>
            </a:r>
            <a:r>
              <a:rPr dirty="0" sz="2800" spc="6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de</a:t>
            </a:r>
            <a:r>
              <a:rPr dirty="0" sz="2800" spc="66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50" b="0">
                <a:solidFill>
                  <a:srgbClr val="18374D"/>
                </a:solidFill>
                <a:latin typeface="Open Sans Light"/>
                <a:cs typeface="Open Sans Light"/>
              </a:rPr>
              <a:t>usuarios,</a:t>
            </a:r>
            <a:r>
              <a:rPr dirty="0" sz="2800" spc="6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catálogos</a:t>
            </a:r>
            <a:r>
              <a:rPr dirty="0" sz="2800" spc="66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114" b="0">
                <a:solidFill>
                  <a:srgbClr val="18374D"/>
                </a:solidFill>
                <a:latin typeface="Open Sans Light"/>
                <a:cs typeface="Open Sans Light"/>
              </a:rPr>
              <a:t>y</a:t>
            </a:r>
            <a:r>
              <a:rPr dirty="0" sz="2800" spc="67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50" b="0">
                <a:solidFill>
                  <a:srgbClr val="18374D"/>
                </a:solidFill>
                <a:latin typeface="Open Sans Light"/>
                <a:cs typeface="Open Sans Light"/>
              </a:rPr>
              <a:t>permisos</a:t>
            </a:r>
            <a:r>
              <a:rPr dirty="0" sz="2800" spc="66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-25" b="0">
                <a:solidFill>
                  <a:srgbClr val="18374D"/>
                </a:solidFill>
                <a:latin typeface="Open Sans Light"/>
                <a:cs typeface="Open Sans Light"/>
              </a:rPr>
              <a:t>del </a:t>
            </a:r>
            <a:r>
              <a:rPr dirty="0" sz="2800" spc="45" b="0">
                <a:solidFill>
                  <a:srgbClr val="18374D"/>
                </a:solidFill>
                <a:latin typeface="Open Sans Light"/>
                <a:cs typeface="Open Sans Light"/>
              </a:rPr>
              <a:t>cliente;</a:t>
            </a:r>
            <a:r>
              <a:rPr dirty="0" sz="2800" spc="28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114" b="0">
                <a:solidFill>
                  <a:srgbClr val="18374D"/>
                </a:solidFill>
                <a:latin typeface="Open Sans Light"/>
                <a:cs typeface="Open Sans Light"/>
              </a:rPr>
              <a:t>y</a:t>
            </a:r>
            <a:r>
              <a:rPr dirty="0" sz="2800" spc="29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el</a:t>
            </a:r>
            <a:r>
              <a:rPr dirty="0" sz="2800" spc="29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Super</a:t>
            </a:r>
            <a:r>
              <a:rPr dirty="0" sz="2800" spc="29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55" b="0">
                <a:solidFill>
                  <a:srgbClr val="18374D"/>
                </a:solidFill>
                <a:latin typeface="Open Sans Light"/>
                <a:cs typeface="Open Sans Light"/>
              </a:rPr>
              <a:t>Administrador,</a:t>
            </a:r>
            <a:r>
              <a:rPr dirty="0" sz="2800" spc="29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responsable</a:t>
            </a:r>
            <a:r>
              <a:rPr dirty="0" sz="2800" spc="29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de</a:t>
            </a:r>
            <a:r>
              <a:rPr dirty="0" sz="2800" spc="29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55" b="0">
                <a:solidFill>
                  <a:srgbClr val="18374D"/>
                </a:solidFill>
                <a:latin typeface="Open Sans Light"/>
                <a:cs typeface="Open Sans Light"/>
              </a:rPr>
              <a:t>administrar</a:t>
            </a:r>
            <a:r>
              <a:rPr dirty="0" sz="2800" spc="29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50" b="0">
                <a:solidFill>
                  <a:srgbClr val="18374D"/>
                </a:solidFill>
                <a:latin typeface="Open Sans Light"/>
                <a:cs typeface="Open Sans Light"/>
              </a:rPr>
              <a:t>las</a:t>
            </a:r>
            <a:r>
              <a:rPr dirty="0" sz="2800" spc="29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35" b="0">
                <a:solidFill>
                  <a:srgbClr val="18374D"/>
                </a:solidFill>
                <a:latin typeface="Open Sans Light"/>
                <a:cs typeface="Open Sans Light"/>
              </a:rPr>
              <a:t>empresas </a:t>
            </a:r>
            <a:r>
              <a:rPr dirty="0" sz="2800" spc="114" b="0">
                <a:solidFill>
                  <a:srgbClr val="18374D"/>
                </a:solidFill>
                <a:latin typeface="Open Sans Light"/>
                <a:cs typeface="Open Sans Light"/>
              </a:rPr>
              <a:t>y</a:t>
            </a:r>
            <a:r>
              <a:rPr dirty="0" sz="2800" spc="3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b="0">
                <a:solidFill>
                  <a:srgbClr val="18374D"/>
                </a:solidFill>
                <a:latin typeface="Open Sans Light"/>
                <a:cs typeface="Open Sans Light"/>
              </a:rPr>
              <a:t>el</a:t>
            </a:r>
            <a:r>
              <a:rPr dirty="0" sz="2800" spc="35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45" b="0">
                <a:solidFill>
                  <a:srgbClr val="18374D"/>
                </a:solidFill>
                <a:latin typeface="Open Sans Light"/>
                <a:cs typeface="Open Sans Light"/>
              </a:rPr>
              <a:t>entorno</a:t>
            </a:r>
            <a:r>
              <a:rPr dirty="0" sz="2800" spc="40" b="0">
                <a:solidFill>
                  <a:srgbClr val="18374D"/>
                </a:solidFill>
                <a:latin typeface="Open Sans Light"/>
                <a:cs typeface="Open Sans Light"/>
              </a:rPr>
              <a:t> </a:t>
            </a:r>
            <a:r>
              <a:rPr dirty="0" sz="2800" spc="60" b="0">
                <a:solidFill>
                  <a:srgbClr val="18374D"/>
                </a:solidFill>
                <a:latin typeface="Open Sans Light"/>
                <a:cs typeface="Open Sans Light"/>
              </a:rPr>
              <a:t>multi-</a:t>
            </a:r>
            <a:r>
              <a:rPr dirty="0" sz="2800" spc="40" b="0">
                <a:solidFill>
                  <a:srgbClr val="18374D"/>
                </a:solidFill>
                <a:latin typeface="Open Sans Light"/>
                <a:cs typeface="Open Sans Light"/>
              </a:rPr>
              <a:t>tenant.</a:t>
            </a:r>
            <a:endParaRPr sz="2800">
              <a:latin typeface="Open Sans Light"/>
              <a:cs typeface="Open Sans Light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8006" y="7409033"/>
            <a:ext cx="2192089" cy="150633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209629" y="7083335"/>
            <a:ext cx="2515235" cy="2172970"/>
          </a:xfrm>
          <a:custGeom>
            <a:avLst/>
            <a:gdLst/>
            <a:ahLst/>
            <a:cxnLst/>
            <a:rect l="l" t="t" r="r" b="b"/>
            <a:pathLst>
              <a:path w="2515234" h="2172970">
                <a:moveTo>
                  <a:pt x="880935" y="398399"/>
                </a:moveTo>
                <a:lnTo>
                  <a:pt x="877087" y="359029"/>
                </a:lnTo>
                <a:lnTo>
                  <a:pt x="865682" y="320929"/>
                </a:lnTo>
                <a:lnTo>
                  <a:pt x="852424" y="295529"/>
                </a:lnTo>
                <a:lnTo>
                  <a:pt x="847140" y="286639"/>
                </a:lnTo>
                <a:lnTo>
                  <a:pt x="841476" y="279019"/>
                </a:lnTo>
                <a:lnTo>
                  <a:pt x="835418" y="270129"/>
                </a:lnTo>
                <a:lnTo>
                  <a:pt x="830072" y="263779"/>
                </a:lnTo>
                <a:lnTo>
                  <a:pt x="828992" y="262509"/>
                </a:lnTo>
                <a:lnTo>
                  <a:pt x="822198" y="256159"/>
                </a:lnTo>
                <a:lnTo>
                  <a:pt x="815047" y="248539"/>
                </a:lnTo>
                <a:lnTo>
                  <a:pt x="813295" y="247053"/>
                </a:lnTo>
                <a:lnTo>
                  <a:pt x="813295" y="398399"/>
                </a:lnTo>
                <a:lnTo>
                  <a:pt x="813130" y="404749"/>
                </a:lnTo>
                <a:lnTo>
                  <a:pt x="805522" y="444119"/>
                </a:lnTo>
                <a:lnTo>
                  <a:pt x="800531" y="455549"/>
                </a:lnTo>
                <a:lnTo>
                  <a:pt x="797598" y="461899"/>
                </a:lnTo>
                <a:lnTo>
                  <a:pt x="794385" y="466979"/>
                </a:lnTo>
                <a:lnTo>
                  <a:pt x="790892" y="473329"/>
                </a:lnTo>
                <a:lnTo>
                  <a:pt x="787120" y="478409"/>
                </a:lnTo>
                <a:lnTo>
                  <a:pt x="783120" y="483489"/>
                </a:lnTo>
                <a:lnTo>
                  <a:pt x="778852" y="488569"/>
                </a:lnTo>
                <a:lnTo>
                  <a:pt x="774344" y="493649"/>
                </a:lnTo>
                <a:lnTo>
                  <a:pt x="769607" y="497459"/>
                </a:lnTo>
                <a:lnTo>
                  <a:pt x="764667" y="502539"/>
                </a:lnTo>
                <a:lnTo>
                  <a:pt x="759523" y="506349"/>
                </a:lnTo>
                <a:lnTo>
                  <a:pt x="754164" y="510159"/>
                </a:lnTo>
                <a:lnTo>
                  <a:pt x="748639" y="513969"/>
                </a:lnTo>
                <a:lnTo>
                  <a:pt x="742950" y="516509"/>
                </a:lnTo>
                <a:lnTo>
                  <a:pt x="737120" y="520319"/>
                </a:lnTo>
                <a:lnTo>
                  <a:pt x="725017" y="525399"/>
                </a:lnTo>
                <a:lnTo>
                  <a:pt x="718794" y="526669"/>
                </a:lnTo>
                <a:lnTo>
                  <a:pt x="712495" y="529209"/>
                </a:lnTo>
                <a:lnTo>
                  <a:pt x="693115" y="533019"/>
                </a:lnTo>
                <a:lnTo>
                  <a:pt x="666889" y="533019"/>
                </a:lnTo>
                <a:lnTo>
                  <a:pt x="647496" y="529209"/>
                </a:lnTo>
                <a:lnTo>
                  <a:pt x="641184" y="526669"/>
                </a:lnTo>
                <a:lnTo>
                  <a:pt x="634974" y="525399"/>
                </a:lnTo>
                <a:lnTo>
                  <a:pt x="622858" y="520319"/>
                </a:lnTo>
                <a:lnTo>
                  <a:pt x="617016" y="516509"/>
                </a:lnTo>
                <a:lnTo>
                  <a:pt x="611327" y="513969"/>
                </a:lnTo>
                <a:lnTo>
                  <a:pt x="605790" y="510159"/>
                </a:lnTo>
                <a:lnTo>
                  <a:pt x="600430" y="506349"/>
                </a:lnTo>
                <a:lnTo>
                  <a:pt x="595287" y="502539"/>
                </a:lnTo>
                <a:lnTo>
                  <a:pt x="590334" y="497459"/>
                </a:lnTo>
                <a:lnTo>
                  <a:pt x="585597" y="493649"/>
                </a:lnTo>
                <a:lnTo>
                  <a:pt x="565531" y="466979"/>
                </a:lnTo>
                <a:lnTo>
                  <a:pt x="562317" y="461899"/>
                </a:lnTo>
                <a:lnTo>
                  <a:pt x="559384" y="455549"/>
                </a:lnTo>
                <a:lnTo>
                  <a:pt x="556729" y="450469"/>
                </a:lnTo>
                <a:lnTo>
                  <a:pt x="554380" y="444119"/>
                </a:lnTo>
                <a:lnTo>
                  <a:pt x="546760" y="404749"/>
                </a:lnTo>
                <a:lnTo>
                  <a:pt x="546608" y="398399"/>
                </a:lnTo>
                <a:lnTo>
                  <a:pt x="546760" y="392049"/>
                </a:lnTo>
                <a:lnTo>
                  <a:pt x="554380" y="353949"/>
                </a:lnTo>
                <a:lnTo>
                  <a:pt x="569036" y="324739"/>
                </a:lnTo>
                <a:lnTo>
                  <a:pt x="572795" y="318389"/>
                </a:lnTo>
                <a:lnTo>
                  <a:pt x="576821" y="313309"/>
                </a:lnTo>
                <a:lnTo>
                  <a:pt x="581075" y="308229"/>
                </a:lnTo>
                <a:lnTo>
                  <a:pt x="585597" y="304419"/>
                </a:lnTo>
                <a:lnTo>
                  <a:pt x="590334" y="299339"/>
                </a:lnTo>
                <a:lnTo>
                  <a:pt x="595287" y="295529"/>
                </a:lnTo>
                <a:lnTo>
                  <a:pt x="600430" y="290449"/>
                </a:lnTo>
                <a:lnTo>
                  <a:pt x="605790" y="286639"/>
                </a:lnTo>
                <a:lnTo>
                  <a:pt x="611327" y="282829"/>
                </a:lnTo>
                <a:lnTo>
                  <a:pt x="617016" y="280289"/>
                </a:lnTo>
                <a:lnTo>
                  <a:pt x="622858" y="277749"/>
                </a:lnTo>
                <a:lnTo>
                  <a:pt x="628853" y="273939"/>
                </a:lnTo>
                <a:lnTo>
                  <a:pt x="634974" y="272669"/>
                </a:lnTo>
                <a:lnTo>
                  <a:pt x="647509" y="267589"/>
                </a:lnTo>
                <a:lnTo>
                  <a:pt x="660387" y="265049"/>
                </a:lnTo>
                <a:lnTo>
                  <a:pt x="666889" y="265049"/>
                </a:lnTo>
                <a:lnTo>
                  <a:pt x="673430" y="263779"/>
                </a:lnTo>
                <a:lnTo>
                  <a:pt x="686587" y="263779"/>
                </a:lnTo>
                <a:lnTo>
                  <a:pt x="693127" y="265049"/>
                </a:lnTo>
                <a:lnTo>
                  <a:pt x="699630" y="265049"/>
                </a:lnTo>
                <a:lnTo>
                  <a:pt x="712495" y="267589"/>
                </a:lnTo>
                <a:lnTo>
                  <a:pt x="725017" y="272669"/>
                </a:lnTo>
                <a:lnTo>
                  <a:pt x="731126" y="273939"/>
                </a:lnTo>
                <a:lnTo>
                  <a:pt x="737120" y="277749"/>
                </a:lnTo>
                <a:lnTo>
                  <a:pt x="742962" y="280289"/>
                </a:lnTo>
                <a:lnTo>
                  <a:pt x="748639" y="284099"/>
                </a:lnTo>
                <a:lnTo>
                  <a:pt x="754176" y="286639"/>
                </a:lnTo>
                <a:lnTo>
                  <a:pt x="759523" y="290449"/>
                </a:lnTo>
                <a:lnTo>
                  <a:pt x="764667" y="295529"/>
                </a:lnTo>
                <a:lnTo>
                  <a:pt x="769607" y="299339"/>
                </a:lnTo>
                <a:lnTo>
                  <a:pt x="774344" y="304419"/>
                </a:lnTo>
                <a:lnTo>
                  <a:pt x="778852" y="308229"/>
                </a:lnTo>
                <a:lnTo>
                  <a:pt x="783120" y="313309"/>
                </a:lnTo>
                <a:lnTo>
                  <a:pt x="787133" y="318389"/>
                </a:lnTo>
                <a:lnTo>
                  <a:pt x="790892" y="324739"/>
                </a:lnTo>
                <a:lnTo>
                  <a:pt x="794385" y="329819"/>
                </a:lnTo>
                <a:lnTo>
                  <a:pt x="809307" y="366649"/>
                </a:lnTo>
                <a:lnTo>
                  <a:pt x="813295" y="398399"/>
                </a:lnTo>
                <a:lnTo>
                  <a:pt x="813295" y="247053"/>
                </a:lnTo>
                <a:lnTo>
                  <a:pt x="774865" y="220599"/>
                </a:lnTo>
                <a:lnTo>
                  <a:pt x="709561" y="197739"/>
                </a:lnTo>
                <a:lnTo>
                  <a:pt x="699757" y="196469"/>
                </a:lnTo>
                <a:lnTo>
                  <a:pt x="660260" y="196469"/>
                </a:lnTo>
                <a:lnTo>
                  <a:pt x="612190" y="207899"/>
                </a:lnTo>
                <a:lnTo>
                  <a:pt x="576580" y="225679"/>
                </a:lnTo>
                <a:lnTo>
                  <a:pt x="544969" y="248539"/>
                </a:lnTo>
                <a:lnTo>
                  <a:pt x="537819" y="256159"/>
                </a:lnTo>
                <a:lnTo>
                  <a:pt x="531025" y="262509"/>
                </a:lnTo>
                <a:lnTo>
                  <a:pt x="524598" y="270129"/>
                </a:lnTo>
                <a:lnTo>
                  <a:pt x="518541" y="279019"/>
                </a:lnTo>
                <a:lnTo>
                  <a:pt x="512876" y="286639"/>
                </a:lnTo>
                <a:lnTo>
                  <a:pt x="507593" y="295529"/>
                </a:lnTo>
                <a:lnTo>
                  <a:pt x="502754" y="303149"/>
                </a:lnTo>
                <a:lnTo>
                  <a:pt x="498335" y="312039"/>
                </a:lnTo>
                <a:lnTo>
                  <a:pt x="485089" y="350139"/>
                </a:lnTo>
                <a:lnTo>
                  <a:pt x="479323" y="388239"/>
                </a:lnTo>
                <a:lnTo>
                  <a:pt x="479234" y="392049"/>
                </a:lnTo>
                <a:lnTo>
                  <a:pt x="479082" y="398399"/>
                </a:lnTo>
                <a:lnTo>
                  <a:pt x="482930" y="437769"/>
                </a:lnTo>
                <a:lnTo>
                  <a:pt x="494347" y="475869"/>
                </a:lnTo>
                <a:lnTo>
                  <a:pt x="512876" y="510159"/>
                </a:lnTo>
                <a:lnTo>
                  <a:pt x="518553" y="519049"/>
                </a:lnTo>
                <a:lnTo>
                  <a:pt x="544969" y="548259"/>
                </a:lnTo>
                <a:lnTo>
                  <a:pt x="568248" y="566039"/>
                </a:lnTo>
                <a:lnTo>
                  <a:pt x="576580" y="572389"/>
                </a:lnTo>
                <a:lnTo>
                  <a:pt x="612203" y="588899"/>
                </a:lnTo>
                <a:lnTo>
                  <a:pt x="670115" y="601599"/>
                </a:lnTo>
                <a:lnTo>
                  <a:pt x="689914" y="601599"/>
                </a:lnTo>
                <a:lnTo>
                  <a:pt x="738466" y="592709"/>
                </a:lnTo>
                <a:lnTo>
                  <a:pt x="774865" y="577469"/>
                </a:lnTo>
                <a:lnTo>
                  <a:pt x="791781" y="566039"/>
                </a:lnTo>
                <a:lnTo>
                  <a:pt x="799846" y="560959"/>
                </a:lnTo>
                <a:lnTo>
                  <a:pt x="828992" y="534289"/>
                </a:lnTo>
                <a:lnTo>
                  <a:pt x="847153" y="510159"/>
                </a:lnTo>
                <a:lnTo>
                  <a:pt x="852424" y="502539"/>
                </a:lnTo>
                <a:lnTo>
                  <a:pt x="869226" y="466979"/>
                </a:lnTo>
                <a:lnTo>
                  <a:pt x="878763" y="427609"/>
                </a:lnTo>
                <a:lnTo>
                  <a:pt x="880783" y="404749"/>
                </a:lnTo>
                <a:lnTo>
                  <a:pt x="880935" y="398399"/>
                </a:lnTo>
                <a:close/>
              </a:path>
              <a:path w="2515234" h="2172970">
                <a:moveTo>
                  <a:pt x="1495869" y="1038872"/>
                </a:moveTo>
                <a:lnTo>
                  <a:pt x="1347558" y="1038872"/>
                </a:lnTo>
                <a:lnTo>
                  <a:pt x="1347558" y="1106830"/>
                </a:lnTo>
                <a:lnTo>
                  <a:pt x="1495869" y="1106830"/>
                </a:lnTo>
                <a:lnTo>
                  <a:pt x="1495869" y="1038872"/>
                </a:lnTo>
                <a:close/>
              </a:path>
              <a:path w="2515234" h="2172970">
                <a:moveTo>
                  <a:pt x="1612519" y="1219936"/>
                </a:moveTo>
                <a:lnTo>
                  <a:pt x="1612506" y="597636"/>
                </a:lnTo>
                <a:lnTo>
                  <a:pt x="1612506" y="584936"/>
                </a:lnTo>
                <a:lnTo>
                  <a:pt x="1612112" y="584936"/>
                </a:lnTo>
                <a:lnTo>
                  <a:pt x="1610575" y="572236"/>
                </a:lnTo>
                <a:lnTo>
                  <a:pt x="1609432" y="572236"/>
                </a:lnTo>
                <a:lnTo>
                  <a:pt x="1606423" y="559536"/>
                </a:lnTo>
                <a:lnTo>
                  <a:pt x="1604581" y="559536"/>
                </a:lnTo>
                <a:lnTo>
                  <a:pt x="1600212" y="546836"/>
                </a:lnTo>
                <a:lnTo>
                  <a:pt x="1592186" y="546836"/>
                </a:lnTo>
                <a:lnTo>
                  <a:pt x="1589163" y="534136"/>
                </a:lnTo>
                <a:lnTo>
                  <a:pt x="1544548" y="534136"/>
                </a:lnTo>
                <a:lnTo>
                  <a:pt x="1544548" y="597636"/>
                </a:lnTo>
                <a:lnTo>
                  <a:pt x="1544548" y="1219936"/>
                </a:lnTo>
                <a:lnTo>
                  <a:pt x="922401" y="1219936"/>
                </a:lnTo>
                <a:lnTo>
                  <a:pt x="922401" y="1194536"/>
                </a:lnTo>
                <a:lnTo>
                  <a:pt x="936396" y="1181836"/>
                </a:lnTo>
                <a:lnTo>
                  <a:pt x="962621" y="1181836"/>
                </a:lnTo>
                <a:lnTo>
                  <a:pt x="974852" y="1169136"/>
                </a:lnTo>
                <a:lnTo>
                  <a:pt x="1048486" y="1118336"/>
                </a:lnTo>
                <a:lnTo>
                  <a:pt x="1158938" y="1042136"/>
                </a:lnTo>
                <a:lnTo>
                  <a:pt x="1164158" y="1042136"/>
                </a:lnTo>
                <a:lnTo>
                  <a:pt x="1169174" y="1029436"/>
                </a:lnTo>
                <a:lnTo>
                  <a:pt x="1178598" y="1029436"/>
                </a:lnTo>
                <a:lnTo>
                  <a:pt x="1182979" y="1016736"/>
                </a:lnTo>
                <a:lnTo>
                  <a:pt x="1187107" y="1016736"/>
                </a:lnTo>
                <a:lnTo>
                  <a:pt x="1190980" y="1004036"/>
                </a:lnTo>
                <a:lnTo>
                  <a:pt x="1197978" y="1004036"/>
                </a:lnTo>
                <a:lnTo>
                  <a:pt x="1201064" y="991336"/>
                </a:lnTo>
                <a:lnTo>
                  <a:pt x="1203871" y="991336"/>
                </a:lnTo>
                <a:lnTo>
                  <a:pt x="1206385" y="978636"/>
                </a:lnTo>
                <a:lnTo>
                  <a:pt x="1208608" y="978636"/>
                </a:lnTo>
                <a:lnTo>
                  <a:pt x="1210525" y="965936"/>
                </a:lnTo>
                <a:lnTo>
                  <a:pt x="1212138" y="965936"/>
                </a:lnTo>
                <a:lnTo>
                  <a:pt x="1213446" y="953236"/>
                </a:lnTo>
                <a:lnTo>
                  <a:pt x="1214437" y="953236"/>
                </a:lnTo>
                <a:lnTo>
                  <a:pt x="1215123" y="940536"/>
                </a:lnTo>
                <a:lnTo>
                  <a:pt x="1215478" y="940536"/>
                </a:lnTo>
                <a:lnTo>
                  <a:pt x="1215529" y="927836"/>
                </a:lnTo>
                <a:lnTo>
                  <a:pt x="1215263" y="927836"/>
                </a:lnTo>
                <a:lnTo>
                  <a:pt x="1214678" y="915136"/>
                </a:lnTo>
                <a:lnTo>
                  <a:pt x="1213777" y="915136"/>
                </a:lnTo>
                <a:lnTo>
                  <a:pt x="1212557" y="902436"/>
                </a:lnTo>
                <a:lnTo>
                  <a:pt x="1211033" y="902436"/>
                </a:lnTo>
                <a:lnTo>
                  <a:pt x="1209205" y="889736"/>
                </a:lnTo>
                <a:lnTo>
                  <a:pt x="1207071" y="889736"/>
                </a:lnTo>
                <a:lnTo>
                  <a:pt x="1204645" y="877036"/>
                </a:lnTo>
                <a:lnTo>
                  <a:pt x="1201928" y="877036"/>
                </a:lnTo>
                <a:lnTo>
                  <a:pt x="1198918" y="864336"/>
                </a:lnTo>
                <a:lnTo>
                  <a:pt x="1195641" y="864336"/>
                </a:lnTo>
                <a:lnTo>
                  <a:pt x="1192098" y="851636"/>
                </a:lnTo>
                <a:lnTo>
                  <a:pt x="1184224" y="851636"/>
                </a:lnTo>
                <a:lnTo>
                  <a:pt x="1179918" y="838936"/>
                </a:lnTo>
                <a:lnTo>
                  <a:pt x="1170622" y="838936"/>
                </a:lnTo>
                <a:lnTo>
                  <a:pt x="1165669" y="826236"/>
                </a:lnTo>
                <a:lnTo>
                  <a:pt x="1155166" y="826236"/>
                </a:lnTo>
                <a:lnTo>
                  <a:pt x="1149642" y="813536"/>
                </a:lnTo>
                <a:lnTo>
                  <a:pt x="1146848" y="813536"/>
                </a:lnTo>
                <a:lnTo>
                  <a:pt x="1146848" y="940536"/>
                </a:lnTo>
                <a:lnTo>
                  <a:pt x="1146543" y="940536"/>
                </a:lnTo>
                <a:lnTo>
                  <a:pt x="1145133" y="953236"/>
                </a:lnTo>
                <a:lnTo>
                  <a:pt x="1144041" y="953236"/>
                </a:lnTo>
                <a:lnTo>
                  <a:pt x="1141082" y="965936"/>
                </a:lnTo>
                <a:lnTo>
                  <a:pt x="1134846" y="965936"/>
                </a:lnTo>
                <a:lnTo>
                  <a:pt x="1132332" y="978636"/>
                </a:lnTo>
                <a:lnTo>
                  <a:pt x="1123556" y="978636"/>
                </a:lnTo>
                <a:lnTo>
                  <a:pt x="1120190" y="991336"/>
                </a:lnTo>
                <a:lnTo>
                  <a:pt x="936117" y="1118336"/>
                </a:lnTo>
                <a:lnTo>
                  <a:pt x="863168" y="1118336"/>
                </a:lnTo>
                <a:lnTo>
                  <a:pt x="857135" y="1105636"/>
                </a:lnTo>
                <a:lnTo>
                  <a:pt x="790740" y="1029436"/>
                </a:lnTo>
                <a:lnTo>
                  <a:pt x="635800" y="851636"/>
                </a:lnTo>
                <a:lnTo>
                  <a:pt x="584695" y="902436"/>
                </a:lnTo>
                <a:lnTo>
                  <a:pt x="648208" y="978636"/>
                </a:lnTo>
                <a:lnTo>
                  <a:pt x="543890" y="1385036"/>
                </a:lnTo>
                <a:lnTo>
                  <a:pt x="541997" y="1397736"/>
                </a:lnTo>
                <a:lnTo>
                  <a:pt x="541108" y="1397736"/>
                </a:lnTo>
                <a:lnTo>
                  <a:pt x="541388" y="1410436"/>
                </a:lnTo>
                <a:lnTo>
                  <a:pt x="542544" y="1423136"/>
                </a:lnTo>
                <a:lnTo>
                  <a:pt x="546887" y="1435836"/>
                </a:lnTo>
                <a:lnTo>
                  <a:pt x="549998" y="1448536"/>
                </a:lnTo>
                <a:lnTo>
                  <a:pt x="558088" y="1461236"/>
                </a:lnTo>
                <a:lnTo>
                  <a:pt x="562927" y="1461236"/>
                </a:lnTo>
                <a:lnTo>
                  <a:pt x="568566" y="1473936"/>
                </a:lnTo>
                <a:lnTo>
                  <a:pt x="694766" y="1588236"/>
                </a:lnTo>
                <a:lnTo>
                  <a:pt x="699554" y="1588236"/>
                </a:lnTo>
                <a:lnTo>
                  <a:pt x="703783" y="1600936"/>
                </a:lnTo>
                <a:lnTo>
                  <a:pt x="707466" y="1600936"/>
                </a:lnTo>
                <a:lnTo>
                  <a:pt x="710603" y="1613636"/>
                </a:lnTo>
                <a:lnTo>
                  <a:pt x="713130" y="1613636"/>
                </a:lnTo>
                <a:lnTo>
                  <a:pt x="714997" y="1626336"/>
                </a:lnTo>
                <a:lnTo>
                  <a:pt x="716216" y="1626336"/>
                </a:lnTo>
                <a:lnTo>
                  <a:pt x="716762" y="1639036"/>
                </a:lnTo>
                <a:lnTo>
                  <a:pt x="728929" y="1994636"/>
                </a:lnTo>
                <a:lnTo>
                  <a:pt x="728624" y="1994636"/>
                </a:lnTo>
                <a:lnTo>
                  <a:pt x="727075" y="2007336"/>
                </a:lnTo>
                <a:lnTo>
                  <a:pt x="725855" y="2020036"/>
                </a:lnTo>
                <a:lnTo>
                  <a:pt x="722477" y="2020036"/>
                </a:lnTo>
                <a:lnTo>
                  <a:pt x="720369" y="2032736"/>
                </a:lnTo>
                <a:lnTo>
                  <a:pt x="715289" y="2032736"/>
                </a:lnTo>
                <a:lnTo>
                  <a:pt x="712381" y="2045436"/>
                </a:lnTo>
                <a:lnTo>
                  <a:pt x="702195" y="2045436"/>
                </a:lnTo>
                <a:lnTo>
                  <a:pt x="694359" y="2058136"/>
                </a:lnTo>
                <a:lnTo>
                  <a:pt x="676833" y="2058136"/>
                </a:lnTo>
                <a:lnTo>
                  <a:pt x="667410" y="2070836"/>
                </a:lnTo>
                <a:lnTo>
                  <a:pt x="633818" y="2070836"/>
                </a:lnTo>
                <a:lnTo>
                  <a:pt x="624674" y="2058136"/>
                </a:lnTo>
                <a:lnTo>
                  <a:pt x="611974" y="2058136"/>
                </a:lnTo>
                <a:lnTo>
                  <a:pt x="608088" y="2045436"/>
                </a:lnTo>
                <a:lnTo>
                  <a:pt x="597611" y="2045436"/>
                </a:lnTo>
                <a:lnTo>
                  <a:pt x="591794" y="2032736"/>
                </a:lnTo>
                <a:lnTo>
                  <a:pt x="589292" y="2032736"/>
                </a:lnTo>
                <a:lnTo>
                  <a:pt x="585089" y="2020036"/>
                </a:lnTo>
                <a:lnTo>
                  <a:pt x="583438" y="2020036"/>
                </a:lnTo>
                <a:lnTo>
                  <a:pt x="581012" y="2007336"/>
                </a:lnTo>
                <a:lnTo>
                  <a:pt x="580263" y="2007336"/>
                </a:lnTo>
                <a:lnTo>
                  <a:pt x="579983" y="1994636"/>
                </a:lnTo>
                <a:lnTo>
                  <a:pt x="568502" y="1727936"/>
                </a:lnTo>
                <a:lnTo>
                  <a:pt x="567702" y="1727936"/>
                </a:lnTo>
                <a:lnTo>
                  <a:pt x="566140" y="1715236"/>
                </a:lnTo>
                <a:lnTo>
                  <a:pt x="563816" y="1702536"/>
                </a:lnTo>
                <a:lnTo>
                  <a:pt x="560717" y="1702536"/>
                </a:lnTo>
                <a:lnTo>
                  <a:pt x="556933" y="1689836"/>
                </a:lnTo>
                <a:lnTo>
                  <a:pt x="552488" y="1689836"/>
                </a:lnTo>
                <a:lnTo>
                  <a:pt x="547408" y="1677136"/>
                </a:lnTo>
                <a:lnTo>
                  <a:pt x="541680" y="1677136"/>
                </a:lnTo>
                <a:lnTo>
                  <a:pt x="489991" y="1626336"/>
                </a:lnTo>
                <a:lnTo>
                  <a:pt x="334899" y="1473936"/>
                </a:lnTo>
                <a:lnTo>
                  <a:pt x="288213" y="1524736"/>
                </a:lnTo>
                <a:lnTo>
                  <a:pt x="344817" y="1575536"/>
                </a:lnTo>
                <a:lnTo>
                  <a:pt x="228447" y="2045436"/>
                </a:lnTo>
                <a:lnTo>
                  <a:pt x="226377" y="2045436"/>
                </a:lnTo>
                <a:lnTo>
                  <a:pt x="223253" y="2058136"/>
                </a:lnTo>
                <a:lnTo>
                  <a:pt x="214909" y="2070836"/>
                </a:lnTo>
                <a:lnTo>
                  <a:pt x="209854" y="2070836"/>
                </a:lnTo>
                <a:lnTo>
                  <a:pt x="198005" y="2083536"/>
                </a:lnTo>
                <a:lnTo>
                  <a:pt x="191439" y="2083536"/>
                </a:lnTo>
                <a:lnTo>
                  <a:pt x="177063" y="2096236"/>
                </a:lnTo>
                <a:lnTo>
                  <a:pt x="108140" y="2096236"/>
                </a:lnTo>
                <a:lnTo>
                  <a:pt x="101511" y="2083536"/>
                </a:lnTo>
                <a:lnTo>
                  <a:pt x="89484" y="2070836"/>
                </a:lnTo>
                <a:lnTo>
                  <a:pt x="84340" y="2070836"/>
                </a:lnTo>
                <a:lnTo>
                  <a:pt x="80060" y="2058136"/>
                </a:lnTo>
                <a:lnTo>
                  <a:pt x="76060" y="2058136"/>
                </a:lnTo>
                <a:lnTo>
                  <a:pt x="72834" y="2045436"/>
                </a:lnTo>
                <a:lnTo>
                  <a:pt x="70396" y="2045436"/>
                </a:lnTo>
                <a:lnTo>
                  <a:pt x="68732" y="2032736"/>
                </a:lnTo>
                <a:lnTo>
                  <a:pt x="67868" y="2020036"/>
                </a:lnTo>
                <a:lnTo>
                  <a:pt x="68694" y="2007336"/>
                </a:lnTo>
                <a:lnTo>
                  <a:pt x="70345" y="1994636"/>
                </a:lnTo>
                <a:lnTo>
                  <a:pt x="359308" y="864336"/>
                </a:lnTo>
                <a:lnTo>
                  <a:pt x="363613" y="838936"/>
                </a:lnTo>
                <a:lnTo>
                  <a:pt x="382155" y="800836"/>
                </a:lnTo>
                <a:lnTo>
                  <a:pt x="408520" y="762736"/>
                </a:lnTo>
                <a:lnTo>
                  <a:pt x="418896" y="762736"/>
                </a:lnTo>
                <a:lnTo>
                  <a:pt x="429983" y="750036"/>
                </a:lnTo>
                <a:lnTo>
                  <a:pt x="441680" y="737336"/>
                </a:lnTo>
                <a:lnTo>
                  <a:pt x="453974" y="724636"/>
                </a:lnTo>
                <a:lnTo>
                  <a:pt x="466864" y="724636"/>
                </a:lnTo>
                <a:lnTo>
                  <a:pt x="480250" y="711936"/>
                </a:lnTo>
                <a:lnTo>
                  <a:pt x="494004" y="711936"/>
                </a:lnTo>
                <a:lnTo>
                  <a:pt x="508127" y="699236"/>
                </a:lnTo>
                <a:lnTo>
                  <a:pt x="641032" y="699236"/>
                </a:lnTo>
                <a:lnTo>
                  <a:pt x="655205" y="711936"/>
                </a:lnTo>
                <a:lnTo>
                  <a:pt x="668959" y="711936"/>
                </a:lnTo>
                <a:lnTo>
                  <a:pt x="682282" y="724636"/>
                </a:lnTo>
                <a:lnTo>
                  <a:pt x="695172" y="724636"/>
                </a:lnTo>
                <a:lnTo>
                  <a:pt x="707517" y="737336"/>
                </a:lnTo>
                <a:lnTo>
                  <a:pt x="719213" y="750036"/>
                </a:lnTo>
                <a:lnTo>
                  <a:pt x="730237" y="762736"/>
                </a:lnTo>
                <a:lnTo>
                  <a:pt x="740613" y="762736"/>
                </a:lnTo>
                <a:lnTo>
                  <a:pt x="887476" y="940536"/>
                </a:lnTo>
                <a:lnTo>
                  <a:pt x="906208" y="940536"/>
                </a:lnTo>
                <a:lnTo>
                  <a:pt x="913142" y="953236"/>
                </a:lnTo>
                <a:lnTo>
                  <a:pt x="949388" y="953236"/>
                </a:lnTo>
                <a:lnTo>
                  <a:pt x="956017" y="940536"/>
                </a:lnTo>
                <a:lnTo>
                  <a:pt x="1047673" y="877036"/>
                </a:lnTo>
                <a:lnTo>
                  <a:pt x="1066304" y="877036"/>
                </a:lnTo>
                <a:lnTo>
                  <a:pt x="1074407" y="864336"/>
                </a:lnTo>
                <a:lnTo>
                  <a:pt x="1090891" y="864336"/>
                </a:lnTo>
                <a:lnTo>
                  <a:pt x="1099019" y="877036"/>
                </a:lnTo>
                <a:lnTo>
                  <a:pt x="1121244" y="877036"/>
                </a:lnTo>
                <a:lnTo>
                  <a:pt x="1124470" y="889736"/>
                </a:lnTo>
                <a:lnTo>
                  <a:pt x="1133068" y="889736"/>
                </a:lnTo>
                <a:lnTo>
                  <a:pt x="1137793" y="902436"/>
                </a:lnTo>
                <a:lnTo>
                  <a:pt x="1139799" y="902436"/>
                </a:lnTo>
                <a:lnTo>
                  <a:pt x="1143114" y="915136"/>
                </a:lnTo>
                <a:lnTo>
                  <a:pt x="1144384" y="915136"/>
                </a:lnTo>
                <a:lnTo>
                  <a:pt x="1146162" y="927836"/>
                </a:lnTo>
                <a:lnTo>
                  <a:pt x="1146759" y="927836"/>
                </a:lnTo>
                <a:lnTo>
                  <a:pt x="1146848" y="940536"/>
                </a:lnTo>
                <a:lnTo>
                  <a:pt x="1146848" y="813536"/>
                </a:lnTo>
                <a:lnTo>
                  <a:pt x="1126121" y="813536"/>
                </a:lnTo>
                <a:lnTo>
                  <a:pt x="1119962" y="800836"/>
                </a:lnTo>
                <a:lnTo>
                  <a:pt x="1049756" y="800836"/>
                </a:lnTo>
                <a:lnTo>
                  <a:pt x="1043571" y="813536"/>
                </a:lnTo>
                <a:lnTo>
                  <a:pt x="1019911" y="813536"/>
                </a:lnTo>
                <a:lnTo>
                  <a:pt x="1014349" y="826236"/>
                </a:lnTo>
                <a:lnTo>
                  <a:pt x="1008951" y="826236"/>
                </a:lnTo>
                <a:lnTo>
                  <a:pt x="929170" y="877036"/>
                </a:lnTo>
                <a:lnTo>
                  <a:pt x="922401" y="877036"/>
                </a:lnTo>
                <a:lnTo>
                  <a:pt x="922401" y="800836"/>
                </a:lnTo>
                <a:lnTo>
                  <a:pt x="922401" y="597636"/>
                </a:lnTo>
                <a:lnTo>
                  <a:pt x="1125626" y="597636"/>
                </a:lnTo>
                <a:lnTo>
                  <a:pt x="1125626" y="699236"/>
                </a:lnTo>
                <a:lnTo>
                  <a:pt x="1126007" y="699236"/>
                </a:lnTo>
                <a:lnTo>
                  <a:pt x="1127556" y="711936"/>
                </a:lnTo>
                <a:lnTo>
                  <a:pt x="1128699" y="711936"/>
                </a:lnTo>
                <a:lnTo>
                  <a:pt x="1131722" y="724636"/>
                </a:lnTo>
                <a:lnTo>
                  <a:pt x="1137958" y="724636"/>
                </a:lnTo>
                <a:lnTo>
                  <a:pt x="1140447" y="737336"/>
                </a:lnTo>
                <a:lnTo>
                  <a:pt x="1149057" y="737336"/>
                </a:lnTo>
                <a:lnTo>
                  <a:pt x="1155623" y="750036"/>
                </a:lnTo>
                <a:lnTo>
                  <a:pt x="1311871" y="750036"/>
                </a:lnTo>
                <a:lnTo>
                  <a:pt x="1318437" y="737336"/>
                </a:lnTo>
                <a:lnTo>
                  <a:pt x="1327048" y="737336"/>
                </a:lnTo>
                <a:lnTo>
                  <a:pt x="1329537" y="724636"/>
                </a:lnTo>
                <a:lnTo>
                  <a:pt x="1335773" y="724636"/>
                </a:lnTo>
                <a:lnTo>
                  <a:pt x="1338795" y="711936"/>
                </a:lnTo>
                <a:lnTo>
                  <a:pt x="1339938" y="711936"/>
                </a:lnTo>
                <a:lnTo>
                  <a:pt x="1341488" y="699236"/>
                </a:lnTo>
                <a:lnTo>
                  <a:pt x="1341869" y="699236"/>
                </a:lnTo>
                <a:lnTo>
                  <a:pt x="1341869" y="686536"/>
                </a:lnTo>
                <a:lnTo>
                  <a:pt x="1341869" y="597636"/>
                </a:lnTo>
                <a:lnTo>
                  <a:pt x="1544548" y="597636"/>
                </a:lnTo>
                <a:lnTo>
                  <a:pt x="1544548" y="534136"/>
                </a:lnTo>
                <a:lnTo>
                  <a:pt x="1273898" y="534136"/>
                </a:lnTo>
                <a:lnTo>
                  <a:pt x="1273898" y="597636"/>
                </a:lnTo>
                <a:lnTo>
                  <a:pt x="1273898" y="686536"/>
                </a:lnTo>
                <a:lnTo>
                  <a:pt x="1193584" y="686536"/>
                </a:lnTo>
                <a:lnTo>
                  <a:pt x="1193584" y="597636"/>
                </a:lnTo>
                <a:lnTo>
                  <a:pt x="1273898" y="597636"/>
                </a:lnTo>
                <a:lnTo>
                  <a:pt x="1273898" y="534136"/>
                </a:lnTo>
                <a:lnTo>
                  <a:pt x="878039" y="534136"/>
                </a:lnTo>
                <a:lnTo>
                  <a:pt x="875004" y="546836"/>
                </a:lnTo>
                <a:lnTo>
                  <a:pt x="866902" y="546836"/>
                </a:lnTo>
                <a:lnTo>
                  <a:pt x="862495" y="559536"/>
                </a:lnTo>
                <a:lnTo>
                  <a:pt x="860628" y="559536"/>
                </a:lnTo>
                <a:lnTo>
                  <a:pt x="857580" y="572236"/>
                </a:lnTo>
                <a:lnTo>
                  <a:pt x="856424" y="572236"/>
                </a:lnTo>
                <a:lnTo>
                  <a:pt x="854849" y="584936"/>
                </a:lnTo>
                <a:lnTo>
                  <a:pt x="854443" y="584936"/>
                </a:lnTo>
                <a:lnTo>
                  <a:pt x="854430" y="800836"/>
                </a:lnTo>
                <a:lnTo>
                  <a:pt x="791768" y="724636"/>
                </a:lnTo>
                <a:lnTo>
                  <a:pt x="785164" y="711936"/>
                </a:lnTo>
                <a:lnTo>
                  <a:pt x="778319" y="711936"/>
                </a:lnTo>
                <a:lnTo>
                  <a:pt x="771245" y="699236"/>
                </a:lnTo>
                <a:lnTo>
                  <a:pt x="763930" y="699236"/>
                </a:lnTo>
                <a:lnTo>
                  <a:pt x="756399" y="686536"/>
                </a:lnTo>
                <a:lnTo>
                  <a:pt x="748665" y="686536"/>
                </a:lnTo>
                <a:lnTo>
                  <a:pt x="740727" y="673836"/>
                </a:lnTo>
                <a:lnTo>
                  <a:pt x="732586" y="673836"/>
                </a:lnTo>
                <a:lnTo>
                  <a:pt x="724268" y="661136"/>
                </a:lnTo>
                <a:lnTo>
                  <a:pt x="707136" y="661136"/>
                </a:lnTo>
                <a:lnTo>
                  <a:pt x="698322" y="648436"/>
                </a:lnTo>
                <a:lnTo>
                  <a:pt x="680288" y="648436"/>
                </a:lnTo>
                <a:lnTo>
                  <a:pt x="671080" y="635736"/>
                </a:lnTo>
                <a:lnTo>
                  <a:pt x="633247" y="635736"/>
                </a:lnTo>
                <a:lnTo>
                  <a:pt x="623582" y="623036"/>
                </a:lnTo>
                <a:lnTo>
                  <a:pt x="525716" y="623036"/>
                </a:lnTo>
                <a:lnTo>
                  <a:pt x="516064" y="635736"/>
                </a:lnTo>
                <a:lnTo>
                  <a:pt x="478167" y="635736"/>
                </a:lnTo>
                <a:lnTo>
                  <a:pt x="468947" y="648436"/>
                </a:lnTo>
                <a:lnTo>
                  <a:pt x="450875" y="648436"/>
                </a:lnTo>
                <a:lnTo>
                  <a:pt x="442048" y="661136"/>
                </a:lnTo>
                <a:lnTo>
                  <a:pt x="424853" y="661136"/>
                </a:lnTo>
                <a:lnTo>
                  <a:pt x="416521" y="673836"/>
                </a:lnTo>
                <a:lnTo>
                  <a:pt x="408368" y="673836"/>
                </a:lnTo>
                <a:lnTo>
                  <a:pt x="400392" y="686536"/>
                </a:lnTo>
                <a:lnTo>
                  <a:pt x="392620" y="686536"/>
                </a:lnTo>
                <a:lnTo>
                  <a:pt x="385076" y="699236"/>
                </a:lnTo>
                <a:lnTo>
                  <a:pt x="377736" y="699236"/>
                </a:lnTo>
                <a:lnTo>
                  <a:pt x="370624" y="711936"/>
                </a:lnTo>
                <a:lnTo>
                  <a:pt x="363740" y="711936"/>
                </a:lnTo>
                <a:lnTo>
                  <a:pt x="357111" y="724636"/>
                </a:lnTo>
                <a:lnTo>
                  <a:pt x="350723" y="724636"/>
                </a:lnTo>
                <a:lnTo>
                  <a:pt x="344589" y="737336"/>
                </a:lnTo>
                <a:lnTo>
                  <a:pt x="338734" y="750036"/>
                </a:lnTo>
                <a:lnTo>
                  <a:pt x="333133" y="750036"/>
                </a:lnTo>
                <a:lnTo>
                  <a:pt x="327825" y="762736"/>
                </a:lnTo>
                <a:lnTo>
                  <a:pt x="322795" y="775436"/>
                </a:lnTo>
                <a:lnTo>
                  <a:pt x="318058" y="775436"/>
                </a:lnTo>
                <a:lnTo>
                  <a:pt x="313613" y="788136"/>
                </a:lnTo>
                <a:lnTo>
                  <a:pt x="309473" y="800836"/>
                </a:lnTo>
                <a:lnTo>
                  <a:pt x="305638" y="800836"/>
                </a:lnTo>
                <a:lnTo>
                  <a:pt x="302107" y="813536"/>
                </a:lnTo>
                <a:lnTo>
                  <a:pt x="298894" y="826236"/>
                </a:lnTo>
                <a:lnTo>
                  <a:pt x="295998" y="838936"/>
                </a:lnTo>
                <a:lnTo>
                  <a:pt x="293420" y="838936"/>
                </a:lnTo>
                <a:lnTo>
                  <a:pt x="4470" y="1981936"/>
                </a:lnTo>
                <a:lnTo>
                  <a:pt x="2870" y="1994636"/>
                </a:lnTo>
                <a:lnTo>
                  <a:pt x="1612" y="1994636"/>
                </a:lnTo>
                <a:lnTo>
                  <a:pt x="723" y="2007336"/>
                </a:lnTo>
                <a:lnTo>
                  <a:pt x="177" y="2007336"/>
                </a:lnTo>
                <a:lnTo>
                  <a:pt x="0" y="2020036"/>
                </a:lnTo>
                <a:lnTo>
                  <a:pt x="177" y="2032736"/>
                </a:lnTo>
                <a:lnTo>
                  <a:pt x="711" y="2032736"/>
                </a:lnTo>
                <a:lnTo>
                  <a:pt x="1600" y="2045436"/>
                </a:lnTo>
                <a:lnTo>
                  <a:pt x="2857" y="2045436"/>
                </a:lnTo>
                <a:lnTo>
                  <a:pt x="4457" y="2058136"/>
                </a:lnTo>
                <a:lnTo>
                  <a:pt x="6400" y="2058136"/>
                </a:lnTo>
                <a:lnTo>
                  <a:pt x="8699" y="2070836"/>
                </a:lnTo>
                <a:lnTo>
                  <a:pt x="11341" y="2070836"/>
                </a:lnTo>
                <a:lnTo>
                  <a:pt x="14300" y="2083536"/>
                </a:lnTo>
                <a:lnTo>
                  <a:pt x="17589" y="2096236"/>
                </a:lnTo>
                <a:lnTo>
                  <a:pt x="21196" y="2096236"/>
                </a:lnTo>
                <a:lnTo>
                  <a:pt x="25120" y="2108936"/>
                </a:lnTo>
                <a:lnTo>
                  <a:pt x="33820" y="2108936"/>
                </a:lnTo>
                <a:lnTo>
                  <a:pt x="38608" y="2121636"/>
                </a:lnTo>
                <a:lnTo>
                  <a:pt x="43662" y="2121636"/>
                </a:lnTo>
                <a:lnTo>
                  <a:pt x="48958" y="2134336"/>
                </a:lnTo>
                <a:lnTo>
                  <a:pt x="60274" y="2134336"/>
                </a:lnTo>
                <a:lnTo>
                  <a:pt x="66268" y="2147036"/>
                </a:lnTo>
                <a:lnTo>
                  <a:pt x="78816" y="2147036"/>
                </a:lnTo>
                <a:lnTo>
                  <a:pt x="85369" y="2159736"/>
                </a:lnTo>
                <a:lnTo>
                  <a:pt x="112915" y="2159736"/>
                </a:lnTo>
                <a:lnTo>
                  <a:pt x="120065" y="2172436"/>
                </a:lnTo>
                <a:lnTo>
                  <a:pt x="179095" y="2172436"/>
                </a:lnTo>
                <a:lnTo>
                  <a:pt x="185483" y="2159736"/>
                </a:lnTo>
                <a:lnTo>
                  <a:pt x="213067" y="2159736"/>
                </a:lnTo>
                <a:lnTo>
                  <a:pt x="219608" y="2147036"/>
                </a:lnTo>
                <a:lnTo>
                  <a:pt x="232206" y="2147036"/>
                </a:lnTo>
                <a:lnTo>
                  <a:pt x="238213" y="2134336"/>
                </a:lnTo>
                <a:lnTo>
                  <a:pt x="249567" y="2134336"/>
                </a:lnTo>
                <a:lnTo>
                  <a:pt x="254889" y="2121636"/>
                </a:lnTo>
                <a:lnTo>
                  <a:pt x="259956" y="2121636"/>
                </a:lnTo>
                <a:lnTo>
                  <a:pt x="264756" y="2108936"/>
                </a:lnTo>
                <a:lnTo>
                  <a:pt x="273532" y="2108936"/>
                </a:lnTo>
                <a:lnTo>
                  <a:pt x="277456" y="2096236"/>
                </a:lnTo>
                <a:lnTo>
                  <a:pt x="281089" y="2096236"/>
                </a:lnTo>
                <a:lnTo>
                  <a:pt x="284416" y="2083536"/>
                </a:lnTo>
                <a:lnTo>
                  <a:pt x="287401" y="2083536"/>
                </a:lnTo>
                <a:lnTo>
                  <a:pt x="290068" y="2070836"/>
                </a:lnTo>
                <a:lnTo>
                  <a:pt x="292379" y="2058136"/>
                </a:lnTo>
                <a:lnTo>
                  <a:pt x="294360" y="2058136"/>
                </a:lnTo>
                <a:lnTo>
                  <a:pt x="401408" y="1626336"/>
                </a:lnTo>
                <a:lnTo>
                  <a:pt x="494334" y="1715236"/>
                </a:lnTo>
                <a:lnTo>
                  <a:pt x="498094" y="1727936"/>
                </a:lnTo>
                <a:lnTo>
                  <a:pt x="500570" y="1727936"/>
                </a:lnTo>
                <a:lnTo>
                  <a:pt x="512076" y="1994636"/>
                </a:lnTo>
                <a:lnTo>
                  <a:pt x="512610" y="2007336"/>
                </a:lnTo>
                <a:lnTo>
                  <a:pt x="513461" y="2020036"/>
                </a:lnTo>
                <a:lnTo>
                  <a:pt x="514642" y="2020036"/>
                </a:lnTo>
                <a:lnTo>
                  <a:pt x="516140" y="2032736"/>
                </a:lnTo>
                <a:lnTo>
                  <a:pt x="517969" y="2032736"/>
                </a:lnTo>
                <a:lnTo>
                  <a:pt x="520090" y="2045436"/>
                </a:lnTo>
                <a:lnTo>
                  <a:pt x="522528" y="2045436"/>
                </a:lnTo>
                <a:lnTo>
                  <a:pt x="525284" y="2058136"/>
                </a:lnTo>
                <a:lnTo>
                  <a:pt x="528332" y="2058136"/>
                </a:lnTo>
                <a:lnTo>
                  <a:pt x="531660" y="2070836"/>
                </a:lnTo>
                <a:lnTo>
                  <a:pt x="539165" y="2070836"/>
                </a:lnTo>
                <a:lnTo>
                  <a:pt x="543318" y="2083536"/>
                </a:lnTo>
                <a:lnTo>
                  <a:pt x="547725" y="2083536"/>
                </a:lnTo>
                <a:lnTo>
                  <a:pt x="552373" y="2096236"/>
                </a:lnTo>
                <a:lnTo>
                  <a:pt x="562394" y="2096236"/>
                </a:lnTo>
                <a:lnTo>
                  <a:pt x="567715" y="2108936"/>
                </a:lnTo>
                <a:lnTo>
                  <a:pt x="578942" y="2108936"/>
                </a:lnTo>
                <a:lnTo>
                  <a:pt x="584835" y="2121636"/>
                </a:lnTo>
                <a:lnTo>
                  <a:pt x="609841" y="2121636"/>
                </a:lnTo>
                <a:lnTo>
                  <a:pt x="616369" y="2134336"/>
                </a:lnTo>
                <a:lnTo>
                  <a:pt x="697268" y="2134336"/>
                </a:lnTo>
                <a:lnTo>
                  <a:pt x="703719" y="2121636"/>
                </a:lnTo>
                <a:lnTo>
                  <a:pt x="722388" y="2121636"/>
                </a:lnTo>
                <a:lnTo>
                  <a:pt x="728306" y="2108936"/>
                </a:lnTo>
                <a:lnTo>
                  <a:pt x="739635" y="2108936"/>
                </a:lnTo>
                <a:lnTo>
                  <a:pt x="745007" y="2096236"/>
                </a:lnTo>
                <a:lnTo>
                  <a:pt x="755116" y="2096236"/>
                </a:lnTo>
                <a:lnTo>
                  <a:pt x="759828" y="2083536"/>
                </a:lnTo>
                <a:lnTo>
                  <a:pt x="768502" y="2083536"/>
                </a:lnTo>
                <a:lnTo>
                  <a:pt x="772464" y="2070836"/>
                </a:lnTo>
                <a:lnTo>
                  <a:pt x="776147" y="2070836"/>
                </a:lnTo>
                <a:lnTo>
                  <a:pt x="779538" y="2058136"/>
                </a:lnTo>
                <a:lnTo>
                  <a:pt x="782650" y="2058136"/>
                </a:lnTo>
                <a:lnTo>
                  <a:pt x="785469" y="2045436"/>
                </a:lnTo>
                <a:lnTo>
                  <a:pt x="787984" y="2045436"/>
                </a:lnTo>
                <a:lnTo>
                  <a:pt x="790194" y="2032736"/>
                </a:lnTo>
                <a:lnTo>
                  <a:pt x="792086" y="2032736"/>
                </a:lnTo>
                <a:lnTo>
                  <a:pt x="793661" y="2020036"/>
                </a:lnTo>
                <a:lnTo>
                  <a:pt x="794918" y="2020036"/>
                </a:lnTo>
                <a:lnTo>
                  <a:pt x="795845" y="2007336"/>
                </a:lnTo>
                <a:lnTo>
                  <a:pt x="796455" y="2007336"/>
                </a:lnTo>
                <a:lnTo>
                  <a:pt x="784694" y="1639036"/>
                </a:lnTo>
                <a:lnTo>
                  <a:pt x="777519" y="1600936"/>
                </a:lnTo>
                <a:lnTo>
                  <a:pt x="759053" y="1562836"/>
                </a:lnTo>
                <a:lnTo>
                  <a:pt x="615073" y="1423136"/>
                </a:lnTo>
                <a:lnTo>
                  <a:pt x="612622" y="1423136"/>
                </a:lnTo>
                <a:lnTo>
                  <a:pt x="610920" y="1410436"/>
                </a:lnTo>
                <a:lnTo>
                  <a:pt x="608952" y="1410436"/>
                </a:lnTo>
                <a:lnTo>
                  <a:pt x="609765" y="1397736"/>
                </a:lnTo>
                <a:lnTo>
                  <a:pt x="702614" y="1029436"/>
                </a:lnTo>
                <a:lnTo>
                  <a:pt x="800887" y="1143736"/>
                </a:lnTo>
                <a:lnTo>
                  <a:pt x="812533" y="1156436"/>
                </a:lnTo>
                <a:lnTo>
                  <a:pt x="825334" y="1169136"/>
                </a:lnTo>
                <a:lnTo>
                  <a:pt x="839304" y="1181836"/>
                </a:lnTo>
                <a:lnTo>
                  <a:pt x="854430" y="1181836"/>
                </a:lnTo>
                <a:lnTo>
                  <a:pt x="854430" y="1232636"/>
                </a:lnTo>
                <a:lnTo>
                  <a:pt x="854824" y="1232636"/>
                </a:lnTo>
                <a:lnTo>
                  <a:pt x="856373" y="1245336"/>
                </a:lnTo>
                <a:lnTo>
                  <a:pt x="857516" y="1245336"/>
                </a:lnTo>
                <a:lnTo>
                  <a:pt x="860552" y="1258036"/>
                </a:lnTo>
                <a:lnTo>
                  <a:pt x="866800" y="1258036"/>
                </a:lnTo>
                <a:lnTo>
                  <a:pt x="869302" y="1270736"/>
                </a:lnTo>
                <a:lnTo>
                  <a:pt x="877938" y="1270736"/>
                </a:lnTo>
                <a:lnTo>
                  <a:pt x="884516" y="1283436"/>
                </a:lnTo>
                <a:lnTo>
                  <a:pt x="1582724" y="1283436"/>
                </a:lnTo>
                <a:lnTo>
                  <a:pt x="1589252" y="1270736"/>
                </a:lnTo>
                <a:lnTo>
                  <a:pt x="1597837" y="1270736"/>
                </a:lnTo>
                <a:lnTo>
                  <a:pt x="1600314" y="1258036"/>
                </a:lnTo>
                <a:lnTo>
                  <a:pt x="1606511" y="1258036"/>
                </a:lnTo>
                <a:lnTo>
                  <a:pt x="1609496" y="1245336"/>
                </a:lnTo>
                <a:lnTo>
                  <a:pt x="1610626" y="1245336"/>
                </a:lnTo>
                <a:lnTo>
                  <a:pt x="1612150" y="1232636"/>
                </a:lnTo>
                <a:lnTo>
                  <a:pt x="1612519" y="1232636"/>
                </a:lnTo>
                <a:lnTo>
                  <a:pt x="1612519" y="1219936"/>
                </a:lnTo>
                <a:close/>
              </a:path>
              <a:path w="2515234" h="2172970">
                <a:moveTo>
                  <a:pt x="1707476" y="1889633"/>
                </a:moveTo>
                <a:lnTo>
                  <a:pt x="1559204" y="1889633"/>
                </a:lnTo>
                <a:lnTo>
                  <a:pt x="1559204" y="1957590"/>
                </a:lnTo>
                <a:lnTo>
                  <a:pt x="1707476" y="1957590"/>
                </a:lnTo>
                <a:lnTo>
                  <a:pt x="1707476" y="1889633"/>
                </a:lnTo>
                <a:close/>
              </a:path>
              <a:path w="2515234" h="2172970">
                <a:moveTo>
                  <a:pt x="2397607" y="1889671"/>
                </a:moveTo>
                <a:lnTo>
                  <a:pt x="2249335" y="1889671"/>
                </a:lnTo>
                <a:lnTo>
                  <a:pt x="2249335" y="1957628"/>
                </a:lnTo>
                <a:lnTo>
                  <a:pt x="2397607" y="1957628"/>
                </a:lnTo>
                <a:lnTo>
                  <a:pt x="2397607" y="1889671"/>
                </a:lnTo>
                <a:close/>
              </a:path>
              <a:path w="2515234" h="2172970">
                <a:moveTo>
                  <a:pt x="2397785" y="1198600"/>
                </a:moveTo>
                <a:lnTo>
                  <a:pt x="2249474" y="1198600"/>
                </a:lnTo>
                <a:lnTo>
                  <a:pt x="2249474" y="1266558"/>
                </a:lnTo>
                <a:lnTo>
                  <a:pt x="2397785" y="1266558"/>
                </a:lnTo>
                <a:lnTo>
                  <a:pt x="2397785" y="1198600"/>
                </a:lnTo>
                <a:close/>
              </a:path>
              <a:path w="2515234" h="2172970">
                <a:moveTo>
                  <a:pt x="2397963" y="504786"/>
                </a:moveTo>
                <a:lnTo>
                  <a:pt x="2249652" y="504786"/>
                </a:lnTo>
                <a:lnTo>
                  <a:pt x="2249652" y="572744"/>
                </a:lnTo>
                <a:lnTo>
                  <a:pt x="2397963" y="572744"/>
                </a:lnTo>
                <a:lnTo>
                  <a:pt x="2397963" y="504786"/>
                </a:lnTo>
                <a:close/>
              </a:path>
              <a:path w="2515234" h="2172970">
                <a:moveTo>
                  <a:pt x="2514701" y="50800"/>
                </a:moveTo>
                <a:lnTo>
                  <a:pt x="2514308" y="50800"/>
                </a:lnTo>
                <a:lnTo>
                  <a:pt x="2512771" y="38100"/>
                </a:lnTo>
                <a:lnTo>
                  <a:pt x="2511628" y="38100"/>
                </a:lnTo>
                <a:lnTo>
                  <a:pt x="2508605" y="25400"/>
                </a:lnTo>
                <a:lnTo>
                  <a:pt x="2506751" y="25400"/>
                </a:lnTo>
                <a:lnTo>
                  <a:pt x="2502370" y="12700"/>
                </a:lnTo>
                <a:lnTo>
                  <a:pt x="2494292" y="12700"/>
                </a:lnTo>
                <a:lnTo>
                  <a:pt x="2491257" y="0"/>
                </a:lnTo>
                <a:lnTo>
                  <a:pt x="2446731" y="0"/>
                </a:lnTo>
                <a:lnTo>
                  <a:pt x="2446731" y="63500"/>
                </a:lnTo>
                <a:lnTo>
                  <a:pt x="2446731" y="685800"/>
                </a:lnTo>
                <a:lnTo>
                  <a:pt x="2446553" y="685800"/>
                </a:lnTo>
                <a:lnTo>
                  <a:pt x="2446553" y="749300"/>
                </a:lnTo>
                <a:lnTo>
                  <a:pt x="2446553" y="1371600"/>
                </a:lnTo>
                <a:lnTo>
                  <a:pt x="2446375" y="1371600"/>
                </a:lnTo>
                <a:lnTo>
                  <a:pt x="2446375" y="1447800"/>
                </a:lnTo>
                <a:lnTo>
                  <a:pt x="2446375" y="2070100"/>
                </a:lnTo>
                <a:lnTo>
                  <a:pt x="1824202" y="2070100"/>
                </a:lnTo>
                <a:lnTo>
                  <a:pt x="1824202" y="1447800"/>
                </a:lnTo>
                <a:lnTo>
                  <a:pt x="2027364" y="1447800"/>
                </a:lnTo>
                <a:lnTo>
                  <a:pt x="2027326" y="1549400"/>
                </a:lnTo>
                <a:lnTo>
                  <a:pt x="2027669" y="1549400"/>
                </a:lnTo>
                <a:lnTo>
                  <a:pt x="2029155" y="1562100"/>
                </a:lnTo>
                <a:lnTo>
                  <a:pt x="2030272" y="1562100"/>
                </a:lnTo>
                <a:lnTo>
                  <a:pt x="2033270" y="1574800"/>
                </a:lnTo>
                <a:lnTo>
                  <a:pt x="2039493" y="1574800"/>
                </a:lnTo>
                <a:lnTo>
                  <a:pt x="2041982" y="1587500"/>
                </a:lnTo>
                <a:lnTo>
                  <a:pt x="2050630" y="1587500"/>
                </a:lnTo>
                <a:lnTo>
                  <a:pt x="2057222" y="1600200"/>
                </a:lnTo>
                <a:lnTo>
                  <a:pt x="2213622" y="1600200"/>
                </a:lnTo>
                <a:lnTo>
                  <a:pt x="2220176" y="1587500"/>
                </a:lnTo>
                <a:lnTo>
                  <a:pt x="2228786" y="1587500"/>
                </a:lnTo>
                <a:lnTo>
                  <a:pt x="2231288" y="1574800"/>
                </a:lnTo>
                <a:lnTo>
                  <a:pt x="2237524" y="1574800"/>
                </a:lnTo>
                <a:lnTo>
                  <a:pt x="2240546" y="1562100"/>
                </a:lnTo>
                <a:lnTo>
                  <a:pt x="2241689" y="1562100"/>
                </a:lnTo>
                <a:lnTo>
                  <a:pt x="2243226" y="1549400"/>
                </a:lnTo>
                <a:lnTo>
                  <a:pt x="2243620" y="1549400"/>
                </a:lnTo>
                <a:lnTo>
                  <a:pt x="2243620" y="1536700"/>
                </a:lnTo>
                <a:lnTo>
                  <a:pt x="2243620" y="1447800"/>
                </a:lnTo>
                <a:lnTo>
                  <a:pt x="2446375" y="1447800"/>
                </a:lnTo>
                <a:lnTo>
                  <a:pt x="2446375" y="1371600"/>
                </a:lnTo>
                <a:lnTo>
                  <a:pt x="2175649" y="1371600"/>
                </a:lnTo>
                <a:lnTo>
                  <a:pt x="2175649" y="1447800"/>
                </a:lnTo>
                <a:lnTo>
                  <a:pt x="2175649" y="1536700"/>
                </a:lnTo>
                <a:lnTo>
                  <a:pt x="2095334" y="1536700"/>
                </a:lnTo>
                <a:lnTo>
                  <a:pt x="2095334" y="1447800"/>
                </a:lnTo>
                <a:lnTo>
                  <a:pt x="2175649" y="1447800"/>
                </a:lnTo>
                <a:lnTo>
                  <a:pt x="2175649" y="1371600"/>
                </a:lnTo>
                <a:lnTo>
                  <a:pt x="1824393" y="1371600"/>
                </a:lnTo>
                <a:lnTo>
                  <a:pt x="1824393" y="749300"/>
                </a:lnTo>
                <a:lnTo>
                  <a:pt x="2027504" y="749300"/>
                </a:lnTo>
                <a:lnTo>
                  <a:pt x="2027504" y="850900"/>
                </a:lnTo>
                <a:lnTo>
                  <a:pt x="2027885" y="863600"/>
                </a:lnTo>
                <a:lnTo>
                  <a:pt x="2029434" y="863600"/>
                </a:lnTo>
                <a:lnTo>
                  <a:pt x="2030577" y="876300"/>
                </a:lnTo>
                <a:lnTo>
                  <a:pt x="2035454" y="876300"/>
                </a:lnTo>
                <a:lnTo>
                  <a:pt x="2039835" y="889000"/>
                </a:lnTo>
                <a:lnTo>
                  <a:pt x="2042325" y="889000"/>
                </a:lnTo>
                <a:lnTo>
                  <a:pt x="2047900" y="901700"/>
                </a:lnTo>
                <a:lnTo>
                  <a:pt x="2060956" y="901700"/>
                </a:lnTo>
                <a:lnTo>
                  <a:pt x="2068245" y="914400"/>
                </a:lnTo>
                <a:lnTo>
                  <a:pt x="2203043" y="914400"/>
                </a:lnTo>
                <a:lnTo>
                  <a:pt x="2210333" y="901700"/>
                </a:lnTo>
                <a:lnTo>
                  <a:pt x="2223389" y="901700"/>
                </a:lnTo>
                <a:lnTo>
                  <a:pt x="2228964" y="889000"/>
                </a:lnTo>
                <a:lnTo>
                  <a:pt x="2231466" y="889000"/>
                </a:lnTo>
                <a:lnTo>
                  <a:pt x="2235847" y="876300"/>
                </a:lnTo>
                <a:lnTo>
                  <a:pt x="2240724" y="876300"/>
                </a:lnTo>
                <a:lnTo>
                  <a:pt x="2241867" y="863600"/>
                </a:lnTo>
                <a:lnTo>
                  <a:pt x="2243404" y="863600"/>
                </a:lnTo>
                <a:lnTo>
                  <a:pt x="2243798" y="850900"/>
                </a:lnTo>
                <a:lnTo>
                  <a:pt x="2243798" y="838200"/>
                </a:lnTo>
                <a:lnTo>
                  <a:pt x="2243798" y="749300"/>
                </a:lnTo>
                <a:lnTo>
                  <a:pt x="2446553" y="749300"/>
                </a:lnTo>
                <a:lnTo>
                  <a:pt x="2446553" y="685800"/>
                </a:lnTo>
                <a:lnTo>
                  <a:pt x="2175827" y="685800"/>
                </a:lnTo>
                <a:lnTo>
                  <a:pt x="2175827" y="749300"/>
                </a:lnTo>
                <a:lnTo>
                  <a:pt x="2175827" y="838200"/>
                </a:lnTo>
                <a:lnTo>
                  <a:pt x="2095461" y="838200"/>
                </a:lnTo>
                <a:lnTo>
                  <a:pt x="2095461" y="749300"/>
                </a:lnTo>
                <a:lnTo>
                  <a:pt x="2175827" y="749300"/>
                </a:lnTo>
                <a:lnTo>
                  <a:pt x="2175827" y="685800"/>
                </a:lnTo>
                <a:lnTo>
                  <a:pt x="1824558" y="685800"/>
                </a:lnTo>
                <a:lnTo>
                  <a:pt x="1824558" y="63500"/>
                </a:lnTo>
                <a:lnTo>
                  <a:pt x="2027669" y="63500"/>
                </a:lnTo>
                <a:lnTo>
                  <a:pt x="2027682" y="165100"/>
                </a:lnTo>
                <a:lnTo>
                  <a:pt x="2028063" y="165100"/>
                </a:lnTo>
                <a:lnTo>
                  <a:pt x="2029612" y="177800"/>
                </a:lnTo>
                <a:lnTo>
                  <a:pt x="2030755" y="177800"/>
                </a:lnTo>
                <a:lnTo>
                  <a:pt x="2033778" y="190500"/>
                </a:lnTo>
                <a:lnTo>
                  <a:pt x="2040013" y="190500"/>
                </a:lnTo>
                <a:lnTo>
                  <a:pt x="2042502" y="203200"/>
                </a:lnTo>
                <a:lnTo>
                  <a:pt x="2051113" y="203200"/>
                </a:lnTo>
                <a:lnTo>
                  <a:pt x="2057679" y="215900"/>
                </a:lnTo>
                <a:lnTo>
                  <a:pt x="2213927" y="215900"/>
                </a:lnTo>
                <a:lnTo>
                  <a:pt x="2220493" y="203200"/>
                </a:lnTo>
                <a:lnTo>
                  <a:pt x="2229104" y="203200"/>
                </a:lnTo>
                <a:lnTo>
                  <a:pt x="2231593" y="190500"/>
                </a:lnTo>
                <a:lnTo>
                  <a:pt x="2237829" y="190500"/>
                </a:lnTo>
                <a:lnTo>
                  <a:pt x="2240851" y="177800"/>
                </a:lnTo>
                <a:lnTo>
                  <a:pt x="2241994" y="177800"/>
                </a:lnTo>
                <a:lnTo>
                  <a:pt x="2243544" y="165100"/>
                </a:lnTo>
                <a:lnTo>
                  <a:pt x="2243925" y="165100"/>
                </a:lnTo>
                <a:lnTo>
                  <a:pt x="2243925" y="152400"/>
                </a:lnTo>
                <a:lnTo>
                  <a:pt x="2243925" y="63500"/>
                </a:lnTo>
                <a:lnTo>
                  <a:pt x="2446731" y="63500"/>
                </a:lnTo>
                <a:lnTo>
                  <a:pt x="2446731" y="0"/>
                </a:lnTo>
                <a:lnTo>
                  <a:pt x="2175954" y="0"/>
                </a:lnTo>
                <a:lnTo>
                  <a:pt x="2175954" y="63500"/>
                </a:lnTo>
                <a:lnTo>
                  <a:pt x="2175954" y="152400"/>
                </a:lnTo>
                <a:lnTo>
                  <a:pt x="2095639" y="152400"/>
                </a:lnTo>
                <a:lnTo>
                  <a:pt x="2095639" y="63500"/>
                </a:lnTo>
                <a:lnTo>
                  <a:pt x="2175954" y="63500"/>
                </a:lnTo>
                <a:lnTo>
                  <a:pt x="2175954" y="0"/>
                </a:lnTo>
                <a:lnTo>
                  <a:pt x="1780032" y="0"/>
                </a:lnTo>
                <a:lnTo>
                  <a:pt x="1776996" y="12700"/>
                </a:lnTo>
                <a:lnTo>
                  <a:pt x="1768932" y="12700"/>
                </a:lnTo>
                <a:lnTo>
                  <a:pt x="1764550" y="25400"/>
                </a:lnTo>
                <a:lnTo>
                  <a:pt x="1762696" y="25400"/>
                </a:lnTo>
                <a:lnTo>
                  <a:pt x="1759673" y="38100"/>
                </a:lnTo>
                <a:lnTo>
                  <a:pt x="1758530" y="38100"/>
                </a:lnTo>
                <a:lnTo>
                  <a:pt x="1756981" y="50800"/>
                </a:lnTo>
                <a:lnTo>
                  <a:pt x="1756600" y="50800"/>
                </a:lnTo>
                <a:lnTo>
                  <a:pt x="1756283" y="63500"/>
                </a:lnTo>
                <a:lnTo>
                  <a:pt x="1756359" y="215900"/>
                </a:lnTo>
                <a:lnTo>
                  <a:pt x="1757172" y="444500"/>
                </a:lnTo>
                <a:lnTo>
                  <a:pt x="1757311" y="482600"/>
                </a:lnTo>
                <a:lnTo>
                  <a:pt x="1757502" y="558800"/>
                </a:lnTo>
                <a:lnTo>
                  <a:pt x="1757400" y="711200"/>
                </a:lnTo>
                <a:lnTo>
                  <a:pt x="1757032" y="736600"/>
                </a:lnTo>
                <a:lnTo>
                  <a:pt x="1756422" y="749300"/>
                </a:lnTo>
                <a:lnTo>
                  <a:pt x="1756422" y="1384300"/>
                </a:lnTo>
                <a:lnTo>
                  <a:pt x="1756244" y="1384300"/>
                </a:lnTo>
                <a:lnTo>
                  <a:pt x="1756244" y="1447800"/>
                </a:lnTo>
                <a:lnTo>
                  <a:pt x="1756244" y="2070100"/>
                </a:lnTo>
                <a:lnTo>
                  <a:pt x="1134097" y="2070100"/>
                </a:lnTo>
                <a:lnTo>
                  <a:pt x="1134097" y="1447800"/>
                </a:lnTo>
                <a:lnTo>
                  <a:pt x="1337221" y="1447800"/>
                </a:lnTo>
                <a:lnTo>
                  <a:pt x="1337183" y="1549400"/>
                </a:lnTo>
                <a:lnTo>
                  <a:pt x="1337538" y="1549400"/>
                </a:lnTo>
                <a:lnTo>
                  <a:pt x="1339024" y="1562100"/>
                </a:lnTo>
                <a:lnTo>
                  <a:pt x="1340142" y="1562100"/>
                </a:lnTo>
                <a:lnTo>
                  <a:pt x="1343126" y="1574800"/>
                </a:lnTo>
                <a:lnTo>
                  <a:pt x="1349349" y="1574800"/>
                </a:lnTo>
                <a:lnTo>
                  <a:pt x="1351851" y="1587500"/>
                </a:lnTo>
                <a:lnTo>
                  <a:pt x="1360487" y="1587500"/>
                </a:lnTo>
                <a:lnTo>
                  <a:pt x="1367078" y="1600200"/>
                </a:lnTo>
                <a:lnTo>
                  <a:pt x="1523479" y="1600200"/>
                </a:lnTo>
                <a:lnTo>
                  <a:pt x="1530045" y="1587500"/>
                </a:lnTo>
                <a:lnTo>
                  <a:pt x="1538655" y="1587500"/>
                </a:lnTo>
                <a:lnTo>
                  <a:pt x="1541145" y="1574800"/>
                </a:lnTo>
                <a:lnTo>
                  <a:pt x="1547380" y="1574800"/>
                </a:lnTo>
                <a:lnTo>
                  <a:pt x="1550403" y="1562100"/>
                </a:lnTo>
                <a:lnTo>
                  <a:pt x="1551546" y="1562100"/>
                </a:lnTo>
                <a:lnTo>
                  <a:pt x="1553095" y="1549400"/>
                </a:lnTo>
                <a:lnTo>
                  <a:pt x="1553476" y="1549400"/>
                </a:lnTo>
                <a:lnTo>
                  <a:pt x="1553476" y="1536700"/>
                </a:lnTo>
                <a:lnTo>
                  <a:pt x="1553476" y="1447800"/>
                </a:lnTo>
                <a:lnTo>
                  <a:pt x="1756244" y="1447800"/>
                </a:lnTo>
                <a:lnTo>
                  <a:pt x="1756244" y="1384300"/>
                </a:lnTo>
                <a:lnTo>
                  <a:pt x="1485506" y="1384300"/>
                </a:lnTo>
                <a:lnTo>
                  <a:pt x="1485506" y="1447800"/>
                </a:lnTo>
                <a:lnTo>
                  <a:pt x="1485506" y="1536700"/>
                </a:lnTo>
                <a:lnTo>
                  <a:pt x="1405191" y="1536700"/>
                </a:lnTo>
                <a:lnTo>
                  <a:pt x="1405191" y="1447800"/>
                </a:lnTo>
                <a:lnTo>
                  <a:pt x="1485506" y="1447800"/>
                </a:lnTo>
                <a:lnTo>
                  <a:pt x="1485506" y="1384300"/>
                </a:lnTo>
                <a:lnTo>
                  <a:pt x="1096124" y="1384300"/>
                </a:lnTo>
                <a:lnTo>
                  <a:pt x="1089558" y="1397000"/>
                </a:lnTo>
                <a:lnTo>
                  <a:pt x="1078458" y="1397000"/>
                </a:lnTo>
                <a:lnTo>
                  <a:pt x="1074077" y="1409700"/>
                </a:lnTo>
                <a:lnTo>
                  <a:pt x="1072222" y="1409700"/>
                </a:lnTo>
                <a:lnTo>
                  <a:pt x="1069200" y="1422400"/>
                </a:lnTo>
                <a:lnTo>
                  <a:pt x="1068057" y="1422400"/>
                </a:lnTo>
                <a:lnTo>
                  <a:pt x="1066507" y="1435100"/>
                </a:lnTo>
                <a:lnTo>
                  <a:pt x="1066126" y="1435100"/>
                </a:lnTo>
                <a:lnTo>
                  <a:pt x="1066126" y="2082800"/>
                </a:lnTo>
                <a:lnTo>
                  <a:pt x="1066507" y="2082800"/>
                </a:lnTo>
                <a:lnTo>
                  <a:pt x="1068057" y="2095500"/>
                </a:lnTo>
                <a:lnTo>
                  <a:pt x="1069200" y="2095500"/>
                </a:lnTo>
                <a:lnTo>
                  <a:pt x="1072222" y="2108200"/>
                </a:lnTo>
                <a:lnTo>
                  <a:pt x="1078458" y="2108200"/>
                </a:lnTo>
                <a:lnTo>
                  <a:pt x="1080947" y="2120900"/>
                </a:lnTo>
                <a:lnTo>
                  <a:pt x="1089558" y="2120900"/>
                </a:lnTo>
                <a:lnTo>
                  <a:pt x="1096124" y="2133600"/>
                </a:lnTo>
                <a:lnTo>
                  <a:pt x="2484348" y="2133600"/>
                </a:lnTo>
                <a:lnTo>
                  <a:pt x="2490901" y="2120900"/>
                </a:lnTo>
                <a:lnTo>
                  <a:pt x="2499525" y="2120900"/>
                </a:lnTo>
                <a:lnTo>
                  <a:pt x="2502014" y="2108200"/>
                </a:lnTo>
                <a:lnTo>
                  <a:pt x="2508250" y="2108200"/>
                </a:lnTo>
                <a:lnTo>
                  <a:pt x="2511272" y="2095500"/>
                </a:lnTo>
                <a:lnTo>
                  <a:pt x="2512415" y="2095500"/>
                </a:lnTo>
                <a:lnTo>
                  <a:pt x="2513952" y="2082800"/>
                </a:lnTo>
                <a:lnTo>
                  <a:pt x="2514346" y="2082800"/>
                </a:lnTo>
                <a:lnTo>
                  <a:pt x="2514346" y="2070100"/>
                </a:lnTo>
                <a:lnTo>
                  <a:pt x="2514396" y="1447800"/>
                </a:lnTo>
                <a:lnTo>
                  <a:pt x="2514396" y="1371600"/>
                </a:lnTo>
                <a:lnTo>
                  <a:pt x="2514447" y="749300"/>
                </a:lnTo>
                <a:lnTo>
                  <a:pt x="2514460" y="685800"/>
                </a:lnTo>
                <a:lnTo>
                  <a:pt x="2514574" y="419100"/>
                </a:lnTo>
                <a:lnTo>
                  <a:pt x="2514701" y="63500"/>
                </a:lnTo>
                <a:lnTo>
                  <a:pt x="2514701" y="50800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86325" y="7067743"/>
            <a:ext cx="2283460" cy="2146300"/>
          </a:xfrm>
          <a:custGeom>
            <a:avLst/>
            <a:gdLst/>
            <a:ahLst/>
            <a:cxnLst/>
            <a:rect l="l" t="t" r="r" b="b"/>
            <a:pathLst>
              <a:path w="2283459" h="2146300">
                <a:moveTo>
                  <a:pt x="34341" y="444500"/>
                </a:moveTo>
                <a:lnTo>
                  <a:pt x="11149" y="444500"/>
                </a:lnTo>
                <a:lnTo>
                  <a:pt x="2982" y="431800"/>
                </a:lnTo>
                <a:lnTo>
                  <a:pt x="0" y="431800"/>
                </a:lnTo>
                <a:lnTo>
                  <a:pt x="0" y="317500"/>
                </a:lnTo>
                <a:lnTo>
                  <a:pt x="968" y="304800"/>
                </a:lnTo>
                <a:lnTo>
                  <a:pt x="3735" y="304800"/>
                </a:lnTo>
                <a:lnTo>
                  <a:pt x="8090" y="292100"/>
                </a:lnTo>
                <a:lnTo>
                  <a:pt x="13825" y="292100"/>
                </a:lnTo>
                <a:lnTo>
                  <a:pt x="653375" y="0"/>
                </a:lnTo>
                <a:lnTo>
                  <a:pt x="673445" y="0"/>
                </a:lnTo>
                <a:lnTo>
                  <a:pt x="784748" y="50800"/>
                </a:lnTo>
                <a:lnTo>
                  <a:pt x="663633" y="50800"/>
                </a:lnTo>
                <a:lnTo>
                  <a:pt x="48166" y="330200"/>
                </a:lnTo>
                <a:lnTo>
                  <a:pt x="48166" y="393700"/>
                </a:lnTo>
                <a:lnTo>
                  <a:pt x="161002" y="393700"/>
                </a:lnTo>
                <a:lnTo>
                  <a:pt x="161002" y="406400"/>
                </a:lnTo>
                <a:lnTo>
                  <a:pt x="113281" y="406400"/>
                </a:lnTo>
                <a:lnTo>
                  <a:pt x="34341" y="444500"/>
                </a:lnTo>
                <a:close/>
              </a:path>
              <a:path w="2283459" h="2146300">
                <a:moveTo>
                  <a:pt x="1327266" y="393700"/>
                </a:moveTo>
                <a:lnTo>
                  <a:pt x="1278653" y="393700"/>
                </a:lnTo>
                <a:lnTo>
                  <a:pt x="1278653" y="330200"/>
                </a:lnTo>
                <a:lnTo>
                  <a:pt x="663633" y="50800"/>
                </a:lnTo>
                <a:lnTo>
                  <a:pt x="784748" y="50800"/>
                </a:lnTo>
                <a:lnTo>
                  <a:pt x="1313441" y="292100"/>
                </a:lnTo>
                <a:lnTo>
                  <a:pt x="1319176" y="292100"/>
                </a:lnTo>
                <a:lnTo>
                  <a:pt x="1323531" y="304800"/>
                </a:lnTo>
                <a:lnTo>
                  <a:pt x="1326298" y="304800"/>
                </a:lnTo>
                <a:lnTo>
                  <a:pt x="1327266" y="317500"/>
                </a:lnTo>
                <a:lnTo>
                  <a:pt x="1327266" y="393700"/>
                </a:lnTo>
                <a:close/>
              </a:path>
              <a:path w="2283459" h="2146300">
                <a:moveTo>
                  <a:pt x="161002" y="393700"/>
                </a:moveTo>
                <a:lnTo>
                  <a:pt x="48166" y="393700"/>
                </a:lnTo>
                <a:lnTo>
                  <a:pt x="546384" y="152400"/>
                </a:lnTo>
                <a:lnTo>
                  <a:pt x="627982" y="114300"/>
                </a:lnTo>
                <a:lnTo>
                  <a:pt x="653375" y="114300"/>
                </a:lnTo>
                <a:lnTo>
                  <a:pt x="659619" y="101600"/>
                </a:lnTo>
                <a:lnTo>
                  <a:pt x="667201" y="101600"/>
                </a:lnTo>
                <a:lnTo>
                  <a:pt x="673445" y="114300"/>
                </a:lnTo>
                <a:lnTo>
                  <a:pt x="726011" y="127000"/>
                </a:lnTo>
                <a:lnTo>
                  <a:pt x="775838" y="152400"/>
                </a:lnTo>
                <a:lnTo>
                  <a:pt x="663187" y="152400"/>
                </a:lnTo>
                <a:lnTo>
                  <a:pt x="638071" y="165100"/>
                </a:lnTo>
                <a:lnTo>
                  <a:pt x="552372" y="203200"/>
                </a:lnTo>
                <a:lnTo>
                  <a:pt x="161002" y="393700"/>
                </a:lnTo>
                <a:close/>
              </a:path>
              <a:path w="2283459" h="2146300">
                <a:moveTo>
                  <a:pt x="752385" y="1485900"/>
                </a:moveTo>
                <a:lnTo>
                  <a:pt x="704218" y="1485900"/>
                </a:lnTo>
                <a:lnTo>
                  <a:pt x="704218" y="1168400"/>
                </a:lnTo>
                <a:lnTo>
                  <a:pt x="706100" y="1168400"/>
                </a:lnTo>
                <a:lnTo>
                  <a:pt x="711242" y="1155700"/>
                </a:lnTo>
                <a:lnTo>
                  <a:pt x="718894" y="1155700"/>
                </a:lnTo>
                <a:lnTo>
                  <a:pt x="728302" y="1143000"/>
                </a:lnTo>
                <a:lnTo>
                  <a:pt x="1692086" y="1143000"/>
                </a:lnTo>
                <a:lnTo>
                  <a:pt x="1692086" y="838200"/>
                </a:lnTo>
                <a:lnTo>
                  <a:pt x="1174738" y="596900"/>
                </a:lnTo>
                <a:lnTo>
                  <a:pt x="1170278" y="596900"/>
                </a:lnTo>
                <a:lnTo>
                  <a:pt x="1167602" y="584200"/>
                </a:lnTo>
                <a:lnTo>
                  <a:pt x="1165372" y="584200"/>
                </a:lnTo>
                <a:lnTo>
                  <a:pt x="1165372" y="393700"/>
                </a:lnTo>
                <a:lnTo>
                  <a:pt x="663187" y="152400"/>
                </a:lnTo>
                <a:lnTo>
                  <a:pt x="775838" y="152400"/>
                </a:lnTo>
                <a:lnTo>
                  <a:pt x="950231" y="241300"/>
                </a:lnTo>
                <a:lnTo>
                  <a:pt x="1190645" y="342900"/>
                </a:lnTo>
                <a:lnTo>
                  <a:pt x="1263455" y="381000"/>
                </a:lnTo>
                <a:lnTo>
                  <a:pt x="1278653" y="393700"/>
                </a:lnTo>
                <a:lnTo>
                  <a:pt x="1327266" y="393700"/>
                </a:lnTo>
                <a:lnTo>
                  <a:pt x="1327266" y="406400"/>
                </a:lnTo>
                <a:lnTo>
                  <a:pt x="1214431" y="406400"/>
                </a:lnTo>
                <a:lnTo>
                  <a:pt x="1214431" y="457200"/>
                </a:lnTo>
                <a:lnTo>
                  <a:pt x="1328118" y="508000"/>
                </a:lnTo>
                <a:lnTo>
                  <a:pt x="1213985" y="508000"/>
                </a:lnTo>
                <a:lnTo>
                  <a:pt x="1213985" y="558800"/>
                </a:lnTo>
                <a:lnTo>
                  <a:pt x="1804922" y="838200"/>
                </a:lnTo>
                <a:lnTo>
                  <a:pt x="1853535" y="838200"/>
                </a:lnTo>
                <a:lnTo>
                  <a:pt x="1853535" y="863600"/>
                </a:lnTo>
                <a:lnTo>
                  <a:pt x="1740699" y="863600"/>
                </a:lnTo>
                <a:lnTo>
                  <a:pt x="1740799" y="1117600"/>
                </a:lnTo>
                <a:lnTo>
                  <a:pt x="1740906" y="1143000"/>
                </a:lnTo>
                <a:lnTo>
                  <a:pt x="1741013" y="1168400"/>
                </a:lnTo>
                <a:lnTo>
                  <a:pt x="1741146" y="1193800"/>
                </a:lnTo>
                <a:lnTo>
                  <a:pt x="752385" y="1193800"/>
                </a:lnTo>
                <a:lnTo>
                  <a:pt x="752385" y="1485900"/>
                </a:lnTo>
                <a:close/>
              </a:path>
              <a:path w="2283459" h="2146300">
                <a:moveTo>
                  <a:pt x="859088" y="381000"/>
                </a:moveTo>
                <a:lnTo>
                  <a:pt x="467732" y="381000"/>
                </a:lnTo>
                <a:lnTo>
                  <a:pt x="475383" y="368300"/>
                </a:lnTo>
                <a:lnTo>
                  <a:pt x="851437" y="368300"/>
                </a:lnTo>
                <a:lnTo>
                  <a:pt x="859088" y="381000"/>
                </a:lnTo>
                <a:close/>
              </a:path>
              <a:path w="2283459" h="2146300">
                <a:moveTo>
                  <a:pt x="864231" y="508000"/>
                </a:moveTo>
                <a:lnTo>
                  <a:pt x="462589" y="508000"/>
                </a:lnTo>
                <a:lnTo>
                  <a:pt x="460707" y="495300"/>
                </a:lnTo>
                <a:lnTo>
                  <a:pt x="460707" y="393700"/>
                </a:lnTo>
                <a:lnTo>
                  <a:pt x="462589" y="381000"/>
                </a:lnTo>
                <a:lnTo>
                  <a:pt x="864231" y="381000"/>
                </a:lnTo>
                <a:lnTo>
                  <a:pt x="866112" y="393700"/>
                </a:lnTo>
                <a:lnTo>
                  <a:pt x="866112" y="419100"/>
                </a:lnTo>
                <a:lnTo>
                  <a:pt x="508874" y="419100"/>
                </a:lnTo>
                <a:lnTo>
                  <a:pt x="508874" y="469900"/>
                </a:lnTo>
                <a:lnTo>
                  <a:pt x="866112" y="469900"/>
                </a:lnTo>
                <a:lnTo>
                  <a:pt x="866112" y="495300"/>
                </a:lnTo>
                <a:lnTo>
                  <a:pt x="864231" y="508000"/>
                </a:lnTo>
                <a:close/>
              </a:path>
              <a:path w="2283459" h="2146300">
                <a:moveTo>
                  <a:pt x="752385" y="1892300"/>
                </a:moveTo>
                <a:lnTo>
                  <a:pt x="704218" y="1892300"/>
                </a:lnTo>
                <a:lnTo>
                  <a:pt x="704218" y="1536700"/>
                </a:lnTo>
                <a:lnTo>
                  <a:pt x="127957" y="1536700"/>
                </a:lnTo>
                <a:lnTo>
                  <a:pt x="120305" y="1524000"/>
                </a:lnTo>
                <a:lnTo>
                  <a:pt x="115163" y="1524000"/>
                </a:lnTo>
                <a:lnTo>
                  <a:pt x="113281" y="1511300"/>
                </a:lnTo>
                <a:lnTo>
                  <a:pt x="113281" y="406400"/>
                </a:lnTo>
                <a:lnTo>
                  <a:pt x="161002" y="406400"/>
                </a:lnTo>
                <a:lnTo>
                  <a:pt x="161002" y="1485900"/>
                </a:lnTo>
                <a:lnTo>
                  <a:pt x="752385" y="1485900"/>
                </a:lnTo>
                <a:lnTo>
                  <a:pt x="752385" y="1892300"/>
                </a:lnTo>
                <a:close/>
              </a:path>
              <a:path w="2283459" h="2146300">
                <a:moveTo>
                  <a:pt x="1315949" y="444500"/>
                </a:moveTo>
                <a:lnTo>
                  <a:pt x="1292925" y="444500"/>
                </a:lnTo>
                <a:lnTo>
                  <a:pt x="1214431" y="406400"/>
                </a:lnTo>
                <a:lnTo>
                  <a:pt x="1327266" y="406400"/>
                </a:lnTo>
                <a:lnTo>
                  <a:pt x="1327266" y="419100"/>
                </a:lnTo>
                <a:lnTo>
                  <a:pt x="1324221" y="431800"/>
                </a:lnTo>
                <a:lnTo>
                  <a:pt x="1315949" y="444500"/>
                </a:lnTo>
                <a:close/>
              </a:path>
              <a:path w="2283459" h="2146300">
                <a:moveTo>
                  <a:pt x="866112" y="469900"/>
                </a:moveTo>
                <a:lnTo>
                  <a:pt x="817946" y="469900"/>
                </a:lnTo>
                <a:lnTo>
                  <a:pt x="817946" y="419100"/>
                </a:lnTo>
                <a:lnTo>
                  <a:pt x="866112" y="419100"/>
                </a:lnTo>
                <a:lnTo>
                  <a:pt x="866112" y="469900"/>
                </a:lnTo>
                <a:close/>
              </a:path>
              <a:path w="2283459" h="2146300">
                <a:moveTo>
                  <a:pt x="851437" y="520700"/>
                </a:moveTo>
                <a:lnTo>
                  <a:pt x="475383" y="520700"/>
                </a:lnTo>
                <a:lnTo>
                  <a:pt x="467732" y="508000"/>
                </a:lnTo>
                <a:lnTo>
                  <a:pt x="859088" y="508000"/>
                </a:lnTo>
                <a:lnTo>
                  <a:pt x="851437" y="520700"/>
                </a:lnTo>
                <a:close/>
              </a:path>
              <a:path w="2283459" h="2146300">
                <a:moveTo>
                  <a:pt x="1853535" y="838200"/>
                </a:moveTo>
                <a:lnTo>
                  <a:pt x="1804922" y="838200"/>
                </a:lnTo>
                <a:lnTo>
                  <a:pt x="1804922" y="774700"/>
                </a:lnTo>
                <a:lnTo>
                  <a:pt x="1213985" y="508000"/>
                </a:lnTo>
                <a:lnTo>
                  <a:pt x="1328118" y="508000"/>
                </a:lnTo>
                <a:lnTo>
                  <a:pt x="1839709" y="736600"/>
                </a:lnTo>
                <a:lnTo>
                  <a:pt x="1845444" y="749300"/>
                </a:lnTo>
                <a:lnTo>
                  <a:pt x="1852566" y="749300"/>
                </a:lnTo>
                <a:lnTo>
                  <a:pt x="1853535" y="762000"/>
                </a:lnTo>
                <a:lnTo>
                  <a:pt x="1853535" y="838200"/>
                </a:lnTo>
                <a:close/>
              </a:path>
              <a:path w="2283459" h="2146300">
                <a:moveTo>
                  <a:pt x="1068703" y="584200"/>
                </a:moveTo>
                <a:lnTo>
                  <a:pt x="267482" y="584200"/>
                </a:lnTo>
                <a:lnTo>
                  <a:pt x="275134" y="571500"/>
                </a:lnTo>
                <a:lnTo>
                  <a:pt x="1061052" y="571500"/>
                </a:lnTo>
                <a:lnTo>
                  <a:pt x="1068703" y="584200"/>
                </a:lnTo>
                <a:close/>
              </a:path>
              <a:path w="2283459" h="2146300">
                <a:moveTo>
                  <a:pt x="308625" y="1485900"/>
                </a:moveTo>
                <a:lnTo>
                  <a:pt x="260458" y="1485900"/>
                </a:lnTo>
                <a:lnTo>
                  <a:pt x="260458" y="596900"/>
                </a:lnTo>
                <a:lnTo>
                  <a:pt x="262339" y="584200"/>
                </a:lnTo>
                <a:lnTo>
                  <a:pt x="1073846" y="584200"/>
                </a:lnTo>
                <a:lnTo>
                  <a:pt x="1075728" y="596900"/>
                </a:lnTo>
                <a:lnTo>
                  <a:pt x="1075728" y="622300"/>
                </a:lnTo>
                <a:lnTo>
                  <a:pt x="308625" y="622300"/>
                </a:lnTo>
                <a:lnTo>
                  <a:pt x="308625" y="660400"/>
                </a:lnTo>
                <a:lnTo>
                  <a:pt x="1075728" y="660400"/>
                </a:lnTo>
                <a:lnTo>
                  <a:pt x="1075728" y="711200"/>
                </a:lnTo>
                <a:lnTo>
                  <a:pt x="308625" y="711200"/>
                </a:lnTo>
                <a:lnTo>
                  <a:pt x="308625" y="749300"/>
                </a:lnTo>
                <a:lnTo>
                  <a:pt x="1075728" y="749300"/>
                </a:lnTo>
                <a:lnTo>
                  <a:pt x="1075728" y="787400"/>
                </a:lnTo>
                <a:lnTo>
                  <a:pt x="308625" y="787400"/>
                </a:lnTo>
                <a:lnTo>
                  <a:pt x="308625" y="825500"/>
                </a:lnTo>
                <a:lnTo>
                  <a:pt x="1075728" y="825500"/>
                </a:lnTo>
                <a:lnTo>
                  <a:pt x="1075728" y="876300"/>
                </a:lnTo>
                <a:lnTo>
                  <a:pt x="308625" y="876300"/>
                </a:lnTo>
                <a:lnTo>
                  <a:pt x="308625" y="1485900"/>
                </a:lnTo>
                <a:close/>
              </a:path>
              <a:path w="2283459" h="2146300">
                <a:moveTo>
                  <a:pt x="1075728" y="660400"/>
                </a:moveTo>
                <a:lnTo>
                  <a:pt x="1028007" y="660400"/>
                </a:lnTo>
                <a:lnTo>
                  <a:pt x="1028007" y="622300"/>
                </a:lnTo>
                <a:lnTo>
                  <a:pt x="1075728" y="622300"/>
                </a:lnTo>
                <a:lnTo>
                  <a:pt x="1075728" y="660400"/>
                </a:lnTo>
                <a:close/>
              </a:path>
              <a:path w="2283459" h="2146300">
                <a:moveTo>
                  <a:pt x="1075728" y="749300"/>
                </a:moveTo>
                <a:lnTo>
                  <a:pt x="1028007" y="749300"/>
                </a:lnTo>
                <a:lnTo>
                  <a:pt x="1028007" y="711200"/>
                </a:lnTo>
                <a:lnTo>
                  <a:pt x="1075728" y="711200"/>
                </a:lnTo>
                <a:lnTo>
                  <a:pt x="1075728" y="749300"/>
                </a:lnTo>
                <a:close/>
              </a:path>
              <a:path w="2283459" h="2146300">
                <a:moveTo>
                  <a:pt x="1075728" y="825500"/>
                </a:moveTo>
                <a:lnTo>
                  <a:pt x="1028007" y="825500"/>
                </a:lnTo>
                <a:lnTo>
                  <a:pt x="1028007" y="787400"/>
                </a:lnTo>
                <a:lnTo>
                  <a:pt x="1075728" y="787400"/>
                </a:lnTo>
                <a:lnTo>
                  <a:pt x="1075728" y="825500"/>
                </a:lnTo>
                <a:close/>
              </a:path>
              <a:path w="2283459" h="2146300">
                <a:moveTo>
                  <a:pt x="1835249" y="901700"/>
                </a:moveTo>
                <a:lnTo>
                  <a:pt x="1819194" y="901700"/>
                </a:lnTo>
                <a:lnTo>
                  <a:pt x="1740699" y="863600"/>
                </a:lnTo>
                <a:lnTo>
                  <a:pt x="1853535" y="863600"/>
                </a:lnTo>
                <a:lnTo>
                  <a:pt x="1853535" y="876300"/>
                </a:lnTo>
                <a:lnTo>
                  <a:pt x="1849521" y="889000"/>
                </a:lnTo>
                <a:lnTo>
                  <a:pt x="1842385" y="889000"/>
                </a:lnTo>
                <a:lnTo>
                  <a:pt x="1835249" y="901700"/>
                </a:lnTo>
                <a:close/>
              </a:path>
              <a:path w="2283459" h="2146300">
                <a:moveTo>
                  <a:pt x="1075728" y="1143000"/>
                </a:moveTo>
                <a:lnTo>
                  <a:pt x="1028007" y="1143000"/>
                </a:lnTo>
                <a:lnTo>
                  <a:pt x="1028007" y="876300"/>
                </a:lnTo>
                <a:lnTo>
                  <a:pt x="1075728" y="876300"/>
                </a:lnTo>
                <a:lnTo>
                  <a:pt x="1075728" y="1143000"/>
                </a:lnTo>
                <a:close/>
              </a:path>
              <a:path w="2283459" h="2146300">
                <a:moveTo>
                  <a:pt x="1613258" y="889000"/>
                </a:moveTo>
                <a:lnTo>
                  <a:pt x="1172396" y="889000"/>
                </a:lnTo>
                <a:lnTo>
                  <a:pt x="1180048" y="876300"/>
                </a:lnTo>
                <a:lnTo>
                  <a:pt x="1605606" y="876300"/>
                </a:lnTo>
                <a:lnTo>
                  <a:pt x="1613258" y="889000"/>
                </a:lnTo>
                <a:close/>
              </a:path>
              <a:path w="2283459" h="2146300">
                <a:moveTo>
                  <a:pt x="1213539" y="1143000"/>
                </a:moveTo>
                <a:lnTo>
                  <a:pt x="1165372" y="1143000"/>
                </a:lnTo>
                <a:lnTo>
                  <a:pt x="1165372" y="901700"/>
                </a:lnTo>
                <a:lnTo>
                  <a:pt x="1167253" y="889000"/>
                </a:lnTo>
                <a:lnTo>
                  <a:pt x="1618400" y="889000"/>
                </a:lnTo>
                <a:lnTo>
                  <a:pt x="1620282" y="901700"/>
                </a:lnTo>
                <a:lnTo>
                  <a:pt x="1620282" y="927100"/>
                </a:lnTo>
                <a:lnTo>
                  <a:pt x="1213539" y="927100"/>
                </a:lnTo>
                <a:lnTo>
                  <a:pt x="1213539" y="1143000"/>
                </a:lnTo>
                <a:close/>
              </a:path>
              <a:path w="2283459" h="2146300">
                <a:moveTo>
                  <a:pt x="1620282" y="1143000"/>
                </a:moveTo>
                <a:lnTo>
                  <a:pt x="1572115" y="1143000"/>
                </a:lnTo>
                <a:lnTo>
                  <a:pt x="1572115" y="927100"/>
                </a:lnTo>
                <a:lnTo>
                  <a:pt x="1620282" y="927100"/>
                </a:lnTo>
                <a:lnTo>
                  <a:pt x="1620282" y="1143000"/>
                </a:lnTo>
                <a:close/>
              </a:path>
              <a:path w="2283459" h="2146300">
                <a:moveTo>
                  <a:pt x="1741591" y="1892300"/>
                </a:moveTo>
                <a:lnTo>
                  <a:pt x="1692978" y="1892300"/>
                </a:lnTo>
                <a:lnTo>
                  <a:pt x="1692978" y="1193800"/>
                </a:lnTo>
                <a:lnTo>
                  <a:pt x="1741146" y="1193800"/>
                </a:lnTo>
                <a:lnTo>
                  <a:pt x="1741279" y="1219200"/>
                </a:lnTo>
                <a:lnTo>
                  <a:pt x="1741591" y="1244600"/>
                </a:lnTo>
                <a:lnTo>
                  <a:pt x="2002049" y="1244600"/>
                </a:lnTo>
                <a:lnTo>
                  <a:pt x="2045311" y="1295400"/>
                </a:lnTo>
                <a:lnTo>
                  <a:pt x="2104934" y="1295400"/>
                </a:lnTo>
                <a:lnTo>
                  <a:pt x="2111540" y="1308100"/>
                </a:lnTo>
                <a:lnTo>
                  <a:pt x="2116808" y="1308100"/>
                </a:lnTo>
                <a:lnTo>
                  <a:pt x="2120237" y="1320800"/>
                </a:lnTo>
                <a:lnTo>
                  <a:pt x="2128691" y="1346200"/>
                </a:lnTo>
                <a:lnTo>
                  <a:pt x="1741591" y="1346200"/>
                </a:lnTo>
                <a:lnTo>
                  <a:pt x="1741591" y="1892300"/>
                </a:lnTo>
                <a:close/>
              </a:path>
              <a:path w="2283459" h="2146300">
                <a:moveTo>
                  <a:pt x="2218801" y="1663700"/>
                </a:moveTo>
                <a:lnTo>
                  <a:pt x="2170634" y="1663700"/>
                </a:lnTo>
                <a:lnTo>
                  <a:pt x="2170634" y="1625600"/>
                </a:lnTo>
                <a:lnTo>
                  <a:pt x="2105965" y="1435100"/>
                </a:lnTo>
                <a:lnTo>
                  <a:pt x="1751361" y="1435100"/>
                </a:lnTo>
                <a:lnTo>
                  <a:pt x="1745271" y="1422400"/>
                </a:lnTo>
                <a:lnTo>
                  <a:pt x="1751054" y="1397000"/>
                </a:lnTo>
                <a:lnTo>
                  <a:pt x="2094815" y="1397000"/>
                </a:lnTo>
                <a:lnTo>
                  <a:pt x="2080098" y="1346200"/>
                </a:lnTo>
                <a:lnTo>
                  <a:pt x="2128691" y="1346200"/>
                </a:lnTo>
                <a:lnTo>
                  <a:pt x="2217463" y="1612900"/>
                </a:lnTo>
                <a:lnTo>
                  <a:pt x="2218355" y="1612900"/>
                </a:lnTo>
                <a:lnTo>
                  <a:pt x="2218801" y="1625600"/>
                </a:lnTo>
                <a:lnTo>
                  <a:pt x="2218801" y="1663700"/>
                </a:lnTo>
                <a:close/>
              </a:path>
              <a:path w="2283459" h="2146300">
                <a:moveTo>
                  <a:pt x="1405175" y="1714500"/>
                </a:moveTo>
                <a:lnTo>
                  <a:pt x="1040634" y="1714500"/>
                </a:lnTo>
                <a:lnTo>
                  <a:pt x="1037819" y="1701800"/>
                </a:lnTo>
                <a:lnTo>
                  <a:pt x="1037819" y="1397000"/>
                </a:lnTo>
                <a:lnTo>
                  <a:pt x="1040634" y="1384300"/>
                </a:lnTo>
                <a:lnTo>
                  <a:pt x="1048299" y="1371600"/>
                </a:lnTo>
                <a:lnTo>
                  <a:pt x="1059644" y="1358900"/>
                </a:lnTo>
                <a:lnTo>
                  <a:pt x="1386165" y="1358900"/>
                </a:lnTo>
                <a:lnTo>
                  <a:pt x="1397510" y="1371600"/>
                </a:lnTo>
                <a:lnTo>
                  <a:pt x="1405175" y="1384300"/>
                </a:lnTo>
                <a:lnTo>
                  <a:pt x="1407990" y="1397000"/>
                </a:lnTo>
                <a:lnTo>
                  <a:pt x="1407990" y="1409700"/>
                </a:lnTo>
                <a:lnTo>
                  <a:pt x="1085986" y="1409700"/>
                </a:lnTo>
                <a:lnTo>
                  <a:pt x="1085986" y="1689100"/>
                </a:lnTo>
                <a:lnTo>
                  <a:pt x="1407990" y="1689100"/>
                </a:lnTo>
                <a:lnTo>
                  <a:pt x="1407990" y="1701800"/>
                </a:lnTo>
                <a:lnTo>
                  <a:pt x="1405175" y="1714500"/>
                </a:lnTo>
                <a:close/>
              </a:path>
              <a:path w="2283459" h="2146300">
                <a:moveTo>
                  <a:pt x="1178403" y="1574800"/>
                </a:moveTo>
                <a:lnTo>
                  <a:pt x="1164257" y="1574800"/>
                </a:lnTo>
                <a:lnTo>
                  <a:pt x="1152787" y="1562100"/>
                </a:lnTo>
                <a:lnTo>
                  <a:pt x="1148424" y="1549400"/>
                </a:lnTo>
                <a:lnTo>
                  <a:pt x="1148424" y="1409700"/>
                </a:lnTo>
                <a:lnTo>
                  <a:pt x="1196591" y="1409700"/>
                </a:lnTo>
                <a:lnTo>
                  <a:pt x="1196591" y="1485900"/>
                </a:lnTo>
                <a:lnTo>
                  <a:pt x="1297385" y="1485900"/>
                </a:lnTo>
                <a:lnTo>
                  <a:pt x="1297385" y="1524000"/>
                </a:lnTo>
                <a:lnTo>
                  <a:pt x="1222905" y="1524000"/>
                </a:lnTo>
                <a:lnTo>
                  <a:pt x="1190793" y="1562100"/>
                </a:lnTo>
                <a:lnTo>
                  <a:pt x="1178403" y="1574800"/>
                </a:lnTo>
                <a:close/>
              </a:path>
              <a:path w="2283459" h="2146300">
                <a:moveTo>
                  <a:pt x="1297385" y="1485900"/>
                </a:moveTo>
                <a:lnTo>
                  <a:pt x="1249218" y="1485900"/>
                </a:lnTo>
                <a:lnTo>
                  <a:pt x="1249218" y="1409700"/>
                </a:lnTo>
                <a:lnTo>
                  <a:pt x="1297385" y="1409700"/>
                </a:lnTo>
                <a:lnTo>
                  <a:pt x="1297385" y="1485900"/>
                </a:lnTo>
                <a:close/>
              </a:path>
              <a:path w="2283459" h="2146300">
                <a:moveTo>
                  <a:pt x="1407990" y="1689100"/>
                </a:moveTo>
                <a:lnTo>
                  <a:pt x="1359824" y="1689100"/>
                </a:lnTo>
                <a:lnTo>
                  <a:pt x="1359824" y="1409700"/>
                </a:lnTo>
                <a:lnTo>
                  <a:pt x="1407990" y="1409700"/>
                </a:lnTo>
                <a:lnTo>
                  <a:pt x="1407990" y="1689100"/>
                </a:lnTo>
                <a:close/>
              </a:path>
              <a:path w="2283459" h="2146300">
                <a:moveTo>
                  <a:pt x="2226501" y="1854200"/>
                </a:moveTo>
                <a:lnTo>
                  <a:pt x="2121575" y="1854200"/>
                </a:lnTo>
                <a:lnTo>
                  <a:pt x="2114063" y="1841500"/>
                </a:lnTo>
                <a:lnTo>
                  <a:pt x="2111317" y="1828800"/>
                </a:lnTo>
                <a:lnTo>
                  <a:pt x="2111317" y="1765300"/>
                </a:lnTo>
                <a:lnTo>
                  <a:pt x="2114125" y="1752600"/>
                </a:lnTo>
                <a:lnTo>
                  <a:pt x="2121742" y="1739900"/>
                </a:lnTo>
                <a:lnTo>
                  <a:pt x="2132955" y="1727200"/>
                </a:lnTo>
                <a:lnTo>
                  <a:pt x="2170634" y="1727200"/>
                </a:lnTo>
                <a:lnTo>
                  <a:pt x="2170634" y="1714500"/>
                </a:lnTo>
                <a:lnTo>
                  <a:pt x="1787974" y="1625600"/>
                </a:lnTo>
                <a:lnTo>
                  <a:pt x="1780532" y="1625600"/>
                </a:lnTo>
                <a:lnTo>
                  <a:pt x="1774594" y="1612900"/>
                </a:lnTo>
                <a:lnTo>
                  <a:pt x="1770664" y="1612900"/>
                </a:lnTo>
                <a:lnTo>
                  <a:pt x="1769243" y="1600200"/>
                </a:lnTo>
                <a:lnTo>
                  <a:pt x="1769243" y="1435100"/>
                </a:lnTo>
                <a:lnTo>
                  <a:pt x="1817409" y="1435100"/>
                </a:lnTo>
                <a:lnTo>
                  <a:pt x="1817409" y="1587500"/>
                </a:lnTo>
                <a:lnTo>
                  <a:pt x="2170634" y="1663700"/>
                </a:lnTo>
                <a:lnTo>
                  <a:pt x="2218801" y="1663700"/>
                </a:lnTo>
                <a:lnTo>
                  <a:pt x="2218801" y="1727200"/>
                </a:lnTo>
                <a:lnTo>
                  <a:pt x="2226501" y="1739900"/>
                </a:lnTo>
                <a:lnTo>
                  <a:pt x="2232571" y="1739900"/>
                </a:lnTo>
                <a:lnTo>
                  <a:pt x="2236550" y="1752600"/>
                </a:lnTo>
                <a:lnTo>
                  <a:pt x="2237978" y="1765300"/>
                </a:lnTo>
                <a:lnTo>
                  <a:pt x="2237978" y="1778000"/>
                </a:lnTo>
                <a:lnTo>
                  <a:pt x="2159930" y="1778000"/>
                </a:lnTo>
                <a:lnTo>
                  <a:pt x="2159930" y="1816100"/>
                </a:lnTo>
                <a:lnTo>
                  <a:pt x="2237978" y="1816100"/>
                </a:lnTo>
                <a:lnTo>
                  <a:pt x="2237978" y="1828800"/>
                </a:lnTo>
                <a:lnTo>
                  <a:pt x="2236550" y="1828800"/>
                </a:lnTo>
                <a:lnTo>
                  <a:pt x="2232571" y="1841500"/>
                </a:lnTo>
                <a:lnTo>
                  <a:pt x="2226501" y="1854200"/>
                </a:lnTo>
                <a:close/>
              </a:path>
              <a:path w="2283459" h="2146300">
                <a:moveTo>
                  <a:pt x="1237901" y="1473200"/>
                </a:moveTo>
                <a:lnTo>
                  <a:pt x="1207741" y="1473200"/>
                </a:lnTo>
                <a:lnTo>
                  <a:pt x="1214779" y="1460500"/>
                </a:lnTo>
                <a:lnTo>
                  <a:pt x="1230967" y="1460500"/>
                </a:lnTo>
                <a:lnTo>
                  <a:pt x="1237901" y="1473200"/>
                </a:lnTo>
                <a:close/>
              </a:path>
              <a:path w="2283459" h="2146300">
                <a:moveTo>
                  <a:pt x="1249218" y="1485900"/>
                </a:moveTo>
                <a:lnTo>
                  <a:pt x="1196591" y="1485900"/>
                </a:lnTo>
                <a:lnTo>
                  <a:pt x="1201706" y="1473200"/>
                </a:lnTo>
                <a:lnTo>
                  <a:pt x="1243915" y="1473200"/>
                </a:lnTo>
                <a:lnTo>
                  <a:pt x="1249218" y="1485900"/>
                </a:lnTo>
                <a:close/>
              </a:path>
              <a:path w="2283459" h="2146300">
                <a:moveTo>
                  <a:pt x="2013924" y="1574800"/>
                </a:moveTo>
                <a:lnTo>
                  <a:pt x="1973952" y="1574800"/>
                </a:lnTo>
                <a:lnTo>
                  <a:pt x="1914189" y="1511300"/>
                </a:lnTo>
                <a:lnTo>
                  <a:pt x="1907653" y="1498600"/>
                </a:lnTo>
                <a:lnTo>
                  <a:pt x="1915750" y="1473200"/>
                </a:lnTo>
                <a:lnTo>
                  <a:pt x="1949423" y="1473200"/>
                </a:lnTo>
                <a:lnTo>
                  <a:pt x="2009631" y="1536700"/>
                </a:lnTo>
                <a:lnTo>
                  <a:pt x="2015938" y="1549400"/>
                </a:lnTo>
                <a:lnTo>
                  <a:pt x="2013924" y="1574800"/>
                </a:lnTo>
                <a:close/>
              </a:path>
              <a:path w="2283459" h="2146300">
                <a:moveTo>
                  <a:pt x="2091080" y="1574800"/>
                </a:moveTo>
                <a:lnTo>
                  <a:pt x="2051108" y="1574800"/>
                </a:lnTo>
                <a:lnTo>
                  <a:pt x="2041959" y="1562100"/>
                </a:lnTo>
                <a:lnTo>
                  <a:pt x="2021394" y="1549400"/>
                </a:lnTo>
                <a:lnTo>
                  <a:pt x="1991346" y="1511300"/>
                </a:lnTo>
                <a:lnTo>
                  <a:pt x="1984809" y="1498600"/>
                </a:lnTo>
                <a:lnTo>
                  <a:pt x="1992907" y="1473200"/>
                </a:lnTo>
                <a:lnTo>
                  <a:pt x="2026579" y="1473200"/>
                </a:lnTo>
                <a:lnTo>
                  <a:pt x="2086788" y="1536700"/>
                </a:lnTo>
                <a:lnTo>
                  <a:pt x="2093094" y="1549400"/>
                </a:lnTo>
                <a:lnTo>
                  <a:pt x="2091080" y="1574800"/>
                </a:lnTo>
                <a:close/>
              </a:path>
              <a:path w="2283459" h="2146300">
                <a:moveTo>
                  <a:pt x="1281720" y="1574800"/>
                </a:moveTo>
                <a:lnTo>
                  <a:pt x="1267594" y="1574800"/>
                </a:lnTo>
                <a:lnTo>
                  <a:pt x="1255016" y="1562100"/>
                </a:lnTo>
                <a:lnTo>
                  <a:pt x="1222905" y="1524000"/>
                </a:lnTo>
                <a:lnTo>
                  <a:pt x="1297385" y="1524000"/>
                </a:lnTo>
                <a:lnTo>
                  <a:pt x="1297385" y="1549400"/>
                </a:lnTo>
                <a:lnTo>
                  <a:pt x="1293086" y="1562100"/>
                </a:lnTo>
                <a:lnTo>
                  <a:pt x="1281720" y="1574800"/>
                </a:lnTo>
                <a:close/>
              </a:path>
              <a:path w="2283459" h="2146300">
                <a:moveTo>
                  <a:pt x="1991792" y="1587500"/>
                </a:moveTo>
                <a:lnTo>
                  <a:pt x="1985548" y="1587500"/>
                </a:lnTo>
                <a:lnTo>
                  <a:pt x="1978858" y="1574800"/>
                </a:lnTo>
                <a:lnTo>
                  <a:pt x="2005304" y="1574800"/>
                </a:lnTo>
                <a:lnTo>
                  <a:pt x="1991792" y="1587500"/>
                </a:lnTo>
                <a:close/>
              </a:path>
              <a:path w="2283459" h="2146300">
                <a:moveTo>
                  <a:pt x="2068948" y="1587500"/>
                </a:moveTo>
                <a:lnTo>
                  <a:pt x="2062704" y="1587500"/>
                </a:lnTo>
                <a:lnTo>
                  <a:pt x="2056014" y="1574800"/>
                </a:lnTo>
                <a:lnTo>
                  <a:pt x="2082460" y="1574800"/>
                </a:lnTo>
                <a:lnTo>
                  <a:pt x="2068948" y="1587500"/>
                </a:lnTo>
                <a:close/>
              </a:path>
              <a:path w="2283459" h="2146300">
                <a:moveTo>
                  <a:pt x="1386165" y="1727200"/>
                </a:moveTo>
                <a:lnTo>
                  <a:pt x="1059644" y="1727200"/>
                </a:lnTo>
                <a:lnTo>
                  <a:pt x="1048299" y="1714500"/>
                </a:lnTo>
                <a:lnTo>
                  <a:pt x="1397510" y="1714500"/>
                </a:lnTo>
                <a:lnTo>
                  <a:pt x="1386165" y="1727200"/>
                </a:lnTo>
                <a:close/>
              </a:path>
              <a:path w="2283459" h="2146300">
                <a:moveTo>
                  <a:pt x="1869312" y="1765300"/>
                </a:moveTo>
                <a:lnTo>
                  <a:pt x="1812504" y="1765300"/>
                </a:lnTo>
                <a:lnTo>
                  <a:pt x="1794692" y="1752600"/>
                </a:lnTo>
                <a:lnTo>
                  <a:pt x="1788755" y="1739900"/>
                </a:lnTo>
                <a:lnTo>
                  <a:pt x="1794692" y="1727200"/>
                </a:lnTo>
                <a:lnTo>
                  <a:pt x="1812504" y="1714500"/>
                </a:lnTo>
                <a:lnTo>
                  <a:pt x="1851751" y="1714500"/>
                </a:lnTo>
                <a:lnTo>
                  <a:pt x="1869312" y="1727200"/>
                </a:lnTo>
                <a:lnTo>
                  <a:pt x="1875165" y="1739900"/>
                </a:lnTo>
                <a:lnTo>
                  <a:pt x="1869312" y="1765300"/>
                </a:lnTo>
                <a:close/>
              </a:path>
              <a:path w="2283459" h="2146300">
                <a:moveTo>
                  <a:pt x="2237978" y="1816100"/>
                </a:moveTo>
                <a:lnTo>
                  <a:pt x="2189811" y="1816100"/>
                </a:lnTo>
                <a:lnTo>
                  <a:pt x="2189811" y="1778000"/>
                </a:lnTo>
                <a:lnTo>
                  <a:pt x="2237978" y="1778000"/>
                </a:lnTo>
                <a:lnTo>
                  <a:pt x="2237978" y="1816100"/>
                </a:lnTo>
                <a:close/>
              </a:path>
              <a:path w="2283459" h="2146300">
                <a:moveTo>
                  <a:pt x="2218801" y="1892300"/>
                </a:moveTo>
                <a:lnTo>
                  <a:pt x="2170634" y="1892300"/>
                </a:lnTo>
                <a:lnTo>
                  <a:pt x="2170634" y="1854200"/>
                </a:lnTo>
                <a:lnTo>
                  <a:pt x="2218801" y="1854200"/>
                </a:lnTo>
                <a:lnTo>
                  <a:pt x="2218801" y="1892300"/>
                </a:lnTo>
                <a:close/>
              </a:path>
              <a:path w="2283459" h="2146300">
                <a:moveTo>
                  <a:pt x="1048077" y="1892300"/>
                </a:moveTo>
                <a:lnTo>
                  <a:pt x="866112" y="1892300"/>
                </a:lnTo>
                <a:lnTo>
                  <a:pt x="909095" y="1866900"/>
                </a:lnTo>
                <a:lnTo>
                  <a:pt x="1005094" y="1866900"/>
                </a:lnTo>
                <a:lnTo>
                  <a:pt x="1048077" y="1892300"/>
                </a:lnTo>
                <a:close/>
              </a:path>
              <a:path w="2283459" h="2146300">
                <a:moveTo>
                  <a:pt x="1359378" y="1892300"/>
                </a:moveTo>
                <a:lnTo>
                  <a:pt x="1176968" y="1892300"/>
                </a:lnTo>
                <a:lnTo>
                  <a:pt x="1219769" y="1866900"/>
                </a:lnTo>
                <a:lnTo>
                  <a:pt x="1316576" y="1866900"/>
                </a:lnTo>
                <a:lnTo>
                  <a:pt x="1359378" y="1892300"/>
                </a:lnTo>
                <a:close/>
              </a:path>
              <a:path w="2283459" h="2146300">
                <a:moveTo>
                  <a:pt x="2019889" y="1892300"/>
                </a:moveTo>
                <a:lnTo>
                  <a:pt x="1837479" y="1892300"/>
                </a:lnTo>
                <a:lnTo>
                  <a:pt x="1880280" y="1866900"/>
                </a:lnTo>
                <a:lnTo>
                  <a:pt x="1977088" y="1866900"/>
                </a:lnTo>
                <a:lnTo>
                  <a:pt x="2019889" y="1892300"/>
                </a:lnTo>
                <a:close/>
              </a:path>
              <a:path w="2283459" h="2146300">
                <a:moveTo>
                  <a:pt x="2258124" y="1905000"/>
                </a:moveTo>
                <a:lnTo>
                  <a:pt x="672929" y="1905000"/>
                </a:lnTo>
                <a:lnTo>
                  <a:pt x="688608" y="1892300"/>
                </a:lnTo>
                <a:lnTo>
                  <a:pt x="2242438" y="1892300"/>
                </a:lnTo>
                <a:lnTo>
                  <a:pt x="2258124" y="1905000"/>
                </a:lnTo>
                <a:close/>
              </a:path>
              <a:path w="2283459" h="2146300">
                <a:moveTo>
                  <a:pt x="974298" y="2146300"/>
                </a:moveTo>
                <a:lnTo>
                  <a:pt x="939891" y="2146300"/>
                </a:lnTo>
                <a:lnTo>
                  <a:pt x="906403" y="2133600"/>
                </a:lnTo>
                <a:lnTo>
                  <a:pt x="875672" y="2120900"/>
                </a:lnTo>
                <a:lnTo>
                  <a:pt x="849534" y="2095500"/>
                </a:lnTo>
                <a:lnTo>
                  <a:pt x="829828" y="2057400"/>
                </a:lnTo>
                <a:lnTo>
                  <a:pt x="818392" y="2019300"/>
                </a:lnTo>
                <a:lnTo>
                  <a:pt x="672929" y="2019300"/>
                </a:lnTo>
                <a:lnTo>
                  <a:pt x="660176" y="2006600"/>
                </a:lnTo>
                <a:lnTo>
                  <a:pt x="651605" y="1993900"/>
                </a:lnTo>
                <a:lnTo>
                  <a:pt x="648469" y="1981200"/>
                </a:lnTo>
                <a:lnTo>
                  <a:pt x="648469" y="1943100"/>
                </a:lnTo>
                <a:lnTo>
                  <a:pt x="651605" y="1917700"/>
                </a:lnTo>
                <a:lnTo>
                  <a:pt x="660176" y="1905000"/>
                </a:lnTo>
                <a:lnTo>
                  <a:pt x="2270926" y="1905000"/>
                </a:lnTo>
                <a:lnTo>
                  <a:pt x="2279630" y="1917700"/>
                </a:lnTo>
                <a:lnTo>
                  <a:pt x="922300" y="1917700"/>
                </a:lnTo>
                <a:lnTo>
                  <a:pt x="892426" y="1943100"/>
                </a:lnTo>
                <a:lnTo>
                  <a:pt x="697082" y="1943100"/>
                </a:lnTo>
                <a:lnTo>
                  <a:pt x="697082" y="1968500"/>
                </a:lnTo>
                <a:lnTo>
                  <a:pt x="876901" y="1968500"/>
                </a:lnTo>
                <a:lnTo>
                  <a:pt x="869138" y="1981200"/>
                </a:lnTo>
                <a:lnTo>
                  <a:pt x="866894" y="2019300"/>
                </a:lnTo>
                <a:lnTo>
                  <a:pt x="882760" y="2057400"/>
                </a:lnTo>
                <a:lnTo>
                  <a:pt x="913805" y="2082800"/>
                </a:lnTo>
                <a:lnTo>
                  <a:pt x="957094" y="2095500"/>
                </a:lnTo>
                <a:lnTo>
                  <a:pt x="1064654" y="2095500"/>
                </a:lnTo>
                <a:lnTo>
                  <a:pt x="1038517" y="2120900"/>
                </a:lnTo>
                <a:lnTo>
                  <a:pt x="1007786" y="2133600"/>
                </a:lnTo>
                <a:lnTo>
                  <a:pt x="974298" y="2146300"/>
                </a:lnTo>
                <a:close/>
              </a:path>
              <a:path w="2283459" h="2146300">
                <a:moveTo>
                  <a:pt x="1064654" y="2095500"/>
                </a:moveTo>
                <a:lnTo>
                  <a:pt x="957094" y="2095500"/>
                </a:lnTo>
                <a:lnTo>
                  <a:pt x="1000259" y="2082800"/>
                </a:lnTo>
                <a:lnTo>
                  <a:pt x="1031393" y="2057400"/>
                </a:lnTo>
                <a:lnTo>
                  <a:pt x="1047456" y="2019300"/>
                </a:lnTo>
                <a:lnTo>
                  <a:pt x="1045408" y="1981200"/>
                </a:lnTo>
                <a:lnTo>
                  <a:pt x="1022209" y="1943100"/>
                </a:lnTo>
                <a:lnTo>
                  <a:pt x="992084" y="1917700"/>
                </a:lnTo>
                <a:lnTo>
                  <a:pt x="1225253" y="1917700"/>
                </a:lnTo>
                <a:lnTo>
                  <a:pt x="1196482" y="1943100"/>
                </a:lnTo>
                <a:lnTo>
                  <a:pt x="1085094" y="1943100"/>
                </a:lnTo>
                <a:lnTo>
                  <a:pt x="1087484" y="1955800"/>
                </a:lnTo>
                <a:lnTo>
                  <a:pt x="1089832" y="1955800"/>
                </a:lnTo>
                <a:lnTo>
                  <a:pt x="1091930" y="1968500"/>
                </a:lnTo>
                <a:lnTo>
                  <a:pt x="1184364" y="1968500"/>
                </a:lnTo>
                <a:lnTo>
                  <a:pt x="1178306" y="1981200"/>
                </a:lnTo>
                <a:lnTo>
                  <a:pt x="1178232" y="2019300"/>
                </a:lnTo>
                <a:lnTo>
                  <a:pt x="1095797" y="2019300"/>
                </a:lnTo>
                <a:lnTo>
                  <a:pt x="1084360" y="2057400"/>
                </a:lnTo>
                <a:lnTo>
                  <a:pt x="1064654" y="2095500"/>
                </a:lnTo>
                <a:close/>
              </a:path>
              <a:path w="2283459" h="2146300">
                <a:moveTo>
                  <a:pt x="1375673" y="2095500"/>
                </a:moveTo>
                <a:lnTo>
                  <a:pt x="1274108" y="2095500"/>
                </a:lnTo>
                <a:lnTo>
                  <a:pt x="1305033" y="2082800"/>
                </a:lnTo>
                <a:lnTo>
                  <a:pt x="1331905" y="2070100"/>
                </a:lnTo>
                <a:lnTo>
                  <a:pt x="1351308" y="2044700"/>
                </a:lnTo>
                <a:lnTo>
                  <a:pt x="1359824" y="2006600"/>
                </a:lnTo>
                <a:lnTo>
                  <a:pt x="1350167" y="1968500"/>
                </a:lnTo>
                <a:lnTo>
                  <a:pt x="1327075" y="1930400"/>
                </a:lnTo>
                <a:lnTo>
                  <a:pt x="1295355" y="1917700"/>
                </a:lnTo>
                <a:lnTo>
                  <a:pt x="1905409" y="1917700"/>
                </a:lnTo>
                <a:lnTo>
                  <a:pt x="1865576" y="1930400"/>
                </a:lnTo>
                <a:lnTo>
                  <a:pt x="1857424" y="1943100"/>
                </a:lnTo>
                <a:lnTo>
                  <a:pt x="1395949" y="1943100"/>
                </a:lnTo>
                <a:lnTo>
                  <a:pt x="1398792" y="1955800"/>
                </a:lnTo>
                <a:lnTo>
                  <a:pt x="1401301" y="1955800"/>
                </a:lnTo>
                <a:lnTo>
                  <a:pt x="1403475" y="1968500"/>
                </a:lnTo>
                <a:lnTo>
                  <a:pt x="1841118" y="1968500"/>
                </a:lnTo>
                <a:lnTo>
                  <a:pt x="1838068" y="2019300"/>
                </a:lnTo>
                <a:lnTo>
                  <a:pt x="1406653" y="2019300"/>
                </a:lnTo>
                <a:lnTo>
                  <a:pt x="1395316" y="2057400"/>
                </a:lnTo>
                <a:lnTo>
                  <a:pt x="1375673" y="2095500"/>
                </a:lnTo>
                <a:close/>
              </a:path>
              <a:path w="2283459" h="2146300">
                <a:moveTo>
                  <a:pt x="2036021" y="2095500"/>
                </a:moveTo>
                <a:lnTo>
                  <a:pt x="1928461" y="2095500"/>
                </a:lnTo>
                <a:lnTo>
                  <a:pt x="1971262" y="2082800"/>
                </a:lnTo>
                <a:lnTo>
                  <a:pt x="2003276" y="2057400"/>
                </a:lnTo>
                <a:lnTo>
                  <a:pt x="2019401" y="2019300"/>
                </a:lnTo>
                <a:lnTo>
                  <a:pt x="2014537" y="1968500"/>
                </a:lnTo>
                <a:lnTo>
                  <a:pt x="1989757" y="1930400"/>
                </a:lnTo>
                <a:lnTo>
                  <a:pt x="1950092" y="1917700"/>
                </a:lnTo>
                <a:lnTo>
                  <a:pt x="2279630" y="1917700"/>
                </a:lnTo>
                <a:lnTo>
                  <a:pt x="2283023" y="1943100"/>
                </a:lnTo>
                <a:lnTo>
                  <a:pt x="2056014" y="1943100"/>
                </a:lnTo>
                <a:lnTo>
                  <a:pt x="2058669" y="1955800"/>
                </a:lnTo>
                <a:lnTo>
                  <a:pt x="2061199" y="1955800"/>
                </a:lnTo>
                <a:lnTo>
                  <a:pt x="2063478" y="1968500"/>
                </a:lnTo>
                <a:lnTo>
                  <a:pt x="2283023" y="1968500"/>
                </a:lnTo>
                <a:lnTo>
                  <a:pt x="2283023" y="1981200"/>
                </a:lnTo>
                <a:lnTo>
                  <a:pt x="2279818" y="1993900"/>
                </a:lnTo>
                <a:lnTo>
                  <a:pt x="2271093" y="2006600"/>
                </a:lnTo>
                <a:lnTo>
                  <a:pt x="2258187" y="2019300"/>
                </a:lnTo>
                <a:lnTo>
                  <a:pt x="2067164" y="2019300"/>
                </a:lnTo>
                <a:lnTo>
                  <a:pt x="2055727" y="2057400"/>
                </a:lnTo>
                <a:lnTo>
                  <a:pt x="2036021" y="2095500"/>
                </a:lnTo>
                <a:close/>
              </a:path>
              <a:path w="2283459" h="2146300">
                <a:moveTo>
                  <a:pt x="957094" y="2082800"/>
                </a:moveTo>
                <a:lnTo>
                  <a:pt x="920045" y="2070100"/>
                </a:lnTo>
                <a:lnTo>
                  <a:pt x="895306" y="2044700"/>
                </a:lnTo>
                <a:lnTo>
                  <a:pt x="882901" y="2019300"/>
                </a:lnTo>
                <a:lnTo>
                  <a:pt x="882855" y="1993900"/>
                </a:lnTo>
                <a:lnTo>
                  <a:pt x="895189" y="1955800"/>
                </a:lnTo>
                <a:lnTo>
                  <a:pt x="919928" y="1930400"/>
                </a:lnTo>
                <a:lnTo>
                  <a:pt x="994285" y="1930400"/>
                </a:lnTo>
                <a:lnTo>
                  <a:pt x="1019078" y="1955800"/>
                </a:lnTo>
                <a:lnTo>
                  <a:pt x="1031475" y="1981200"/>
                </a:lnTo>
                <a:lnTo>
                  <a:pt x="936021" y="1981200"/>
                </a:lnTo>
                <a:lnTo>
                  <a:pt x="928997" y="2006600"/>
                </a:lnTo>
                <a:lnTo>
                  <a:pt x="936021" y="2019300"/>
                </a:lnTo>
                <a:lnTo>
                  <a:pt x="957094" y="2032000"/>
                </a:lnTo>
                <a:lnTo>
                  <a:pt x="1025276" y="2032000"/>
                </a:lnTo>
                <a:lnTo>
                  <a:pt x="1019078" y="2044700"/>
                </a:lnTo>
                <a:lnTo>
                  <a:pt x="994285" y="2070100"/>
                </a:lnTo>
                <a:lnTo>
                  <a:pt x="957094" y="2082800"/>
                </a:lnTo>
                <a:close/>
              </a:path>
              <a:path w="2283459" h="2146300">
                <a:moveTo>
                  <a:pt x="1267950" y="2082800"/>
                </a:moveTo>
                <a:lnTo>
                  <a:pt x="1230900" y="2070100"/>
                </a:lnTo>
                <a:lnTo>
                  <a:pt x="1206161" y="2044700"/>
                </a:lnTo>
                <a:lnTo>
                  <a:pt x="1193757" y="2019300"/>
                </a:lnTo>
                <a:lnTo>
                  <a:pt x="1193710" y="1993900"/>
                </a:lnTo>
                <a:lnTo>
                  <a:pt x="1206044" y="1955800"/>
                </a:lnTo>
                <a:lnTo>
                  <a:pt x="1230783" y="1930400"/>
                </a:lnTo>
                <a:lnTo>
                  <a:pt x="1305140" y="1930400"/>
                </a:lnTo>
                <a:lnTo>
                  <a:pt x="1329933" y="1955800"/>
                </a:lnTo>
                <a:lnTo>
                  <a:pt x="1342330" y="1981200"/>
                </a:lnTo>
                <a:lnTo>
                  <a:pt x="1246877" y="1981200"/>
                </a:lnTo>
                <a:lnTo>
                  <a:pt x="1239852" y="2006600"/>
                </a:lnTo>
                <a:lnTo>
                  <a:pt x="1246877" y="2019300"/>
                </a:lnTo>
                <a:lnTo>
                  <a:pt x="1267950" y="2032000"/>
                </a:lnTo>
                <a:lnTo>
                  <a:pt x="1336132" y="2032000"/>
                </a:lnTo>
                <a:lnTo>
                  <a:pt x="1329933" y="2044700"/>
                </a:lnTo>
                <a:lnTo>
                  <a:pt x="1305140" y="2070100"/>
                </a:lnTo>
                <a:lnTo>
                  <a:pt x="1267950" y="2082800"/>
                </a:lnTo>
                <a:close/>
              </a:path>
              <a:path w="2283459" h="2146300">
                <a:moveTo>
                  <a:pt x="1928461" y="2082800"/>
                </a:moveTo>
                <a:lnTo>
                  <a:pt x="1891435" y="2070100"/>
                </a:lnTo>
                <a:lnTo>
                  <a:pt x="1866751" y="2044700"/>
                </a:lnTo>
                <a:lnTo>
                  <a:pt x="1854408" y="2019300"/>
                </a:lnTo>
                <a:lnTo>
                  <a:pt x="1854408" y="1993900"/>
                </a:lnTo>
                <a:lnTo>
                  <a:pt x="1866751" y="1955800"/>
                </a:lnTo>
                <a:lnTo>
                  <a:pt x="1891435" y="1930400"/>
                </a:lnTo>
                <a:lnTo>
                  <a:pt x="1965651" y="1930400"/>
                </a:lnTo>
                <a:lnTo>
                  <a:pt x="1990445" y="1955800"/>
                </a:lnTo>
                <a:lnTo>
                  <a:pt x="2002841" y="1981200"/>
                </a:lnTo>
                <a:lnTo>
                  <a:pt x="1907388" y="1981200"/>
                </a:lnTo>
                <a:lnTo>
                  <a:pt x="1900364" y="2006600"/>
                </a:lnTo>
                <a:lnTo>
                  <a:pt x="1907388" y="2019300"/>
                </a:lnTo>
                <a:lnTo>
                  <a:pt x="1928461" y="2032000"/>
                </a:lnTo>
                <a:lnTo>
                  <a:pt x="1996643" y="2032000"/>
                </a:lnTo>
                <a:lnTo>
                  <a:pt x="1990445" y="2044700"/>
                </a:lnTo>
                <a:lnTo>
                  <a:pt x="1965651" y="2070100"/>
                </a:lnTo>
                <a:lnTo>
                  <a:pt x="1928461" y="2082800"/>
                </a:lnTo>
                <a:close/>
              </a:path>
              <a:path w="2283459" h="2146300">
                <a:moveTo>
                  <a:pt x="876901" y="1968500"/>
                </a:moveTo>
                <a:lnTo>
                  <a:pt x="822022" y="1968500"/>
                </a:lnTo>
                <a:lnTo>
                  <a:pt x="824245" y="1955800"/>
                </a:lnTo>
                <a:lnTo>
                  <a:pt x="826886" y="1955800"/>
                </a:lnTo>
                <a:lnTo>
                  <a:pt x="829987" y="1943100"/>
                </a:lnTo>
                <a:lnTo>
                  <a:pt x="892426" y="1943100"/>
                </a:lnTo>
                <a:lnTo>
                  <a:pt x="876901" y="1968500"/>
                </a:lnTo>
                <a:close/>
              </a:path>
              <a:path w="2283459" h="2146300">
                <a:moveTo>
                  <a:pt x="1184364" y="1968500"/>
                </a:moveTo>
                <a:lnTo>
                  <a:pt x="1132877" y="1968500"/>
                </a:lnTo>
                <a:lnTo>
                  <a:pt x="1135100" y="1955800"/>
                </a:lnTo>
                <a:lnTo>
                  <a:pt x="1137741" y="1955800"/>
                </a:lnTo>
                <a:lnTo>
                  <a:pt x="1140842" y="1943100"/>
                </a:lnTo>
                <a:lnTo>
                  <a:pt x="1196482" y="1943100"/>
                </a:lnTo>
                <a:lnTo>
                  <a:pt x="1184364" y="1968500"/>
                </a:lnTo>
                <a:close/>
              </a:path>
              <a:path w="2283459" h="2146300">
                <a:moveTo>
                  <a:pt x="1841118" y="1968500"/>
                </a:moveTo>
                <a:lnTo>
                  <a:pt x="1794218" y="1968500"/>
                </a:lnTo>
                <a:lnTo>
                  <a:pt x="1796002" y="1955800"/>
                </a:lnTo>
                <a:lnTo>
                  <a:pt x="1799124" y="1955800"/>
                </a:lnTo>
                <a:lnTo>
                  <a:pt x="1801354" y="1943100"/>
                </a:lnTo>
                <a:lnTo>
                  <a:pt x="1857424" y="1943100"/>
                </a:lnTo>
                <a:lnTo>
                  <a:pt x="1841118" y="1968500"/>
                </a:lnTo>
                <a:close/>
              </a:path>
              <a:path w="2283459" h="2146300">
                <a:moveTo>
                  <a:pt x="2283023" y="1968500"/>
                </a:moveTo>
                <a:lnTo>
                  <a:pt x="2234410" y="1968500"/>
                </a:lnTo>
                <a:lnTo>
                  <a:pt x="2234410" y="1943100"/>
                </a:lnTo>
                <a:lnTo>
                  <a:pt x="2283023" y="1943100"/>
                </a:lnTo>
                <a:lnTo>
                  <a:pt x="2283023" y="1968500"/>
                </a:lnTo>
                <a:close/>
              </a:path>
              <a:path w="2283459" h="2146300">
                <a:moveTo>
                  <a:pt x="1025276" y="2032000"/>
                </a:moveTo>
                <a:lnTo>
                  <a:pt x="957094" y="2032000"/>
                </a:lnTo>
                <a:lnTo>
                  <a:pt x="978168" y="2019300"/>
                </a:lnTo>
                <a:lnTo>
                  <a:pt x="985192" y="2006600"/>
                </a:lnTo>
                <a:lnTo>
                  <a:pt x="978168" y="1981200"/>
                </a:lnTo>
                <a:lnTo>
                  <a:pt x="1031475" y="1981200"/>
                </a:lnTo>
                <a:lnTo>
                  <a:pt x="1031475" y="2019300"/>
                </a:lnTo>
                <a:lnTo>
                  <a:pt x="1025276" y="2032000"/>
                </a:lnTo>
                <a:close/>
              </a:path>
              <a:path w="2283459" h="2146300">
                <a:moveTo>
                  <a:pt x="1336132" y="2032000"/>
                </a:moveTo>
                <a:lnTo>
                  <a:pt x="1267950" y="2032000"/>
                </a:lnTo>
                <a:lnTo>
                  <a:pt x="1289023" y="2019300"/>
                </a:lnTo>
                <a:lnTo>
                  <a:pt x="1296047" y="2006600"/>
                </a:lnTo>
                <a:lnTo>
                  <a:pt x="1289023" y="1981200"/>
                </a:lnTo>
                <a:lnTo>
                  <a:pt x="1342330" y="1981200"/>
                </a:lnTo>
                <a:lnTo>
                  <a:pt x="1342330" y="2019300"/>
                </a:lnTo>
                <a:lnTo>
                  <a:pt x="1336132" y="2032000"/>
                </a:lnTo>
                <a:close/>
              </a:path>
              <a:path w="2283459" h="2146300">
                <a:moveTo>
                  <a:pt x="1996643" y="2032000"/>
                </a:moveTo>
                <a:lnTo>
                  <a:pt x="1928461" y="2032000"/>
                </a:lnTo>
                <a:lnTo>
                  <a:pt x="1949534" y="2019300"/>
                </a:lnTo>
                <a:lnTo>
                  <a:pt x="1956558" y="2006600"/>
                </a:lnTo>
                <a:lnTo>
                  <a:pt x="1949534" y="1981200"/>
                </a:lnTo>
                <a:lnTo>
                  <a:pt x="2002841" y="1981200"/>
                </a:lnTo>
                <a:lnTo>
                  <a:pt x="2002841" y="2019300"/>
                </a:lnTo>
                <a:lnTo>
                  <a:pt x="1996643" y="2032000"/>
                </a:lnTo>
                <a:close/>
              </a:path>
              <a:path w="2283459" h="2146300">
                <a:moveTo>
                  <a:pt x="1285334" y="2146300"/>
                </a:moveTo>
                <a:lnTo>
                  <a:pt x="1250897" y="2146300"/>
                </a:lnTo>
                <a:lnTo>
                  <a:pt x="1217371" y="2133600"/>
                </a:lnTo>
                <a:lnTo>
                  <a:pt x="1186599" y="2120900"/>
                </a:lnTo>
                <a:lnTo>
                  <a:pt x="1160426" y="2095500"/>
                </a:lnTo>
                <a:lnTo>
                  <a:pt x="1140694" y="2057400"/>
                </a:lnTo>
                <a:lnTo>
                  <a:pt x="1129247" y="2019300"/>
                </a:lnTo>
                <a:lnTo>
                  <a:pt x="1178232" y="2019300"/>
                </a:lnTo>
                <a:lnTo>
                  <a:pt x="1191192" y="2057400"/>
                </a:lnTo>
                <a:lnTo>
                  <a:pt x="1213770" y="2082800"/>
                </a:lnTo>
                <a:lnTo>
                  <a:pt x="1242548" y="2095500"/>
                </a:lnTo>
                <a:lnTo>
                  <a:pt x="1375673" y="2095500"/>
                </a:lnTo>
                <a:lnTo>
                  <a:pt x="1349565" y="2120900"/>
                </a:lnTo>
                <a:lnTo>
                  <a:pt x="1318838" y="2133600"/>
                </a:lnTo>
                <a:lnTo>
                  <a:pt x="1285334" y="2146300"/>
                </a:lnTo>
                <a:close/>
              </a:path>
              <a:path w="2283459" h="2146300">
                <a:moveTo>
                  <a:pt x="1945664" y="2146300"/>
                </a:moveTo>
                <a:lnTo>
                  <a:pt x="1911258" y="2146300"/>
                </a:lnTo>
                <a:lnTo>
                  <a:pt x="1877770" y="2133600"/>
                </a:lnTo>
                <a:lnTo>
                  <a:pt x="1847039" y="2120900"/>
                </a:lnTo>
                <a:lnTo>
                  <a:pt x="1820901" y="2095500"/>
                </a:lnTo>
                <a:lnTo>
                  <a:pt x="1801195" y="2057400"/>
                </a:lnTo>
                <a:lnTo>
                  <a:pt x="1789758" y="2019300"/>
                </a:lnTo>
                <a:lnTo>
                  <a:pt x="1838068" y="2019300"/>
                </a:lnTo>
                <a:lnTo>
                  <a:pt x="1853535" y="2057400"/>
                </a:lnTo>
                <a:lnTo>
                  <a:pt x="1884629" y="2082800"/>
                </a:lnTo>
                <a:lnTo>
                  <a:pt x="1928461" y="2095500"/>
                </a:lnTo>
                <a:lnTo>
                  <a:pt x="2036021" y="2095500"/>
                </a:lnTo>
                <a:lnTo>
                  <a:pt x="2009884" y="2120900"/>
                </a:lnTo>
                <a:lnTo>
                  <a:pt x="1979152" y="2133600"/>
                </a:lnTo>
                <a:lnTo>
                  <a:pt x="1945664" y="2146300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90590" y="8806876"/>
            <a:ext cx="3667124" cy="9048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80"/>
              <a:t>R</a:t>
            </a:r>
            <a:r>
              <a:rPr dirty="0" spc="-935"/>
              <a:t> </a:t>
            </a:r>
            <a:r>
              <a:rPr dirty="0" spc="260"/>
              <a:t>E</a:t>
            </a:r>
            <a:r>
              <a:rPr dirty="0" spc="-930"/>
              <a:t> </a:t>
            </a:r>
            <a:r>
              <a:rPr dirty="0" spc="-190"/>
              <a:t>Q</a:t>
            </a:r>
            <a:r>
              <a:rPr dirty="0" spc="-930"/>
              <a:t> </a:t>
            </a:r>
            <a:r>
              <a:rPr dirty="0" spc="459"/>
              <a:t>U</a:t>
            </a:r>
            <a:r>
              <a:rPr dirty="0" spc="-935"/>
              <a:t> </a:t>
            </a:r>
            <a:r>
              <a:rPr dirty="0" spc="260"/>
              <a:t>E</a:t>
            </a:r>
            <a:r>
              <a:rPr dirty="0" spc="-930"/>
              <a:t> </a:t>
            </a:r>
            <a:r>
              <a:rPr dirty="0" spc="580"/>
              <a:t>R</a:t>
            </a:r>
            <a:r>
              <a:rPr dirty="0" spc="-930"/>
              <a:t> </a:t>
            </a:r>
            <a:r>
              <a:rPr dirty="0" spc="340"/>
              <a:t>I</a:t>
            </a:r>
            <a:r>
              <a:rPr dirty="0" spc="-930"/>
              <a:t> </a:t>
            </a:r>
            <a:r>
              <a:rPr dirty="0" spc="385"/>
              <a:t>M</a:t>
            </a:r>
            <a:r>
              <a:rPr dirty="0" spc="-935"/>
              <a:t> </a:t>
            </a:r>
            <a:r>
              <a:rPr dirty="0" spc="340"/>
              <a:t>I</a:t>
            </a:r>
            <a:r>
              <a:rPr dirty="0" spc="-930"/>
              <a:t> </a:t>
            </a:r>
            <a:r>
              <a:rPr dirty="0" spc="260"/>
              <a:t>E</a:t>
            </a:r>
            <a:r>
              <a:rPr dirty="0" spc="-930"/>
              <a:t> </a:t>
            </a:r>
            <a:r>
              <a:rPr dirty="0" spc="475"/>
              <a:t>N</a:t>
            </a:r>
            <a:r>
              <a:rPr dirty="0" spc="-935"/>
              <a:t> </a:t>
            </a:r>
            <a:r>
              <a:rPr dirty="0" spc="695"/>
              <a:t>T</a:t>
            </a:r>
            <a:r>
              <a:rPr dirty="0" spc="-930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23937" y="2174223"/>
          <a:ext cx="12297410" cy="707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3114"/>
                <a:gridCol w="2063114"/>
                <a:gridCol w="2063114"/>
                <a:gridCol w="1850389"/>
                <a:gridCol w="4173220"/>
              </a:tblGrid>
              <a:tr h="598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2000" spc="-25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ID</a:t>
                      </a:r>
                      <a:endParaRPr sz="20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866140">
                        <a:lnSpc>
                          <a:spcPct val="114599"/>
                        </a:lnSpc>
                        <a:spcBef>
                          <a:spcPts val="540"/>
                        </a:spcBef>
                      </a:pPr>
                      <a:r>
                        <a:rPr dirty="0" sz="1200" spc="-5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Nombre</a:t>
                      </a:r>
                      <a:r>
                        <a:rPr dirty="0" sz="1200" spc="15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del </a:t>
                      </a:r>
                      <a:r>
                        <a:rPr dirty="0" sz="1200" spc="-5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Requerimiento</a:t>
                      </a:r>
                      <a:endParaRPr sz="12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6858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Tipo</a:t>
                      </a:r>
                      <a:endParaRPr sz="12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Actores</a:t>
                      </a:r>
                      <a:endParaRPr sz="12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Descripción</a:t>
                      </a:r>
                      <a:r>
                        <a:rPr dirty="0" sz="1200" spc="25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Clave</a:t>
                      </a:r>
                      <a:endParaRPr sz="12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2000" spc="-25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R.1</a:t>
                      </a:r>
                      <a:endParaRPr sz="20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Autenticación</a:t>
                      </a:r>
                      <a:r>
                        <a:rPr dirty="0" sz="1200" spc="114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200" spc="114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usuarios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Funcional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Todos</a:t>
                      </a:r>
                      <a:r>
                        <a:rPr dirty="0" sz="1200" spc="7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los</a:t>
                      </a:r>
                      <a:r>
                        <a:rPr dirty="0" sz="1200" spc="7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usuarios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1120">
                        <a:lnSpc>
                          <a:spcPct val="114599"/>
                        </a:lnSpc>
                        <a:spcBef>
                          <a:spcPts val="540"/>
                        </a:spcBef>
                      </a:pP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Validar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credenciales</a:t>
                      </a:r>
                      <a:r>
                        <a:rPr dirty="0" sz="1200" spc="5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y</a:t>
                      </a:r>
                      <a:r>
                        <a:rPr dirty="0" sz="1200" spc="5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emitir</a:t>
                      </a:r>
                      <a:r>
                        <a:rPr dirty="0" sz="1200" spc="5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token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JWT</a:t>
                      </a:r>
                      <a:r>
                        <a:rPr dirty="0" sz="1200" spc="5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con</a:t>
                      </a:r>
                      <a:r>
                        <a:rPr dirty="0" sz="1200" spc="5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asignación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empresa,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roles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y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permisos.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6858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</a:tr>
              <a:tr h="871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R.18</a:t>
                      </a:r>
                      <a:endParaRPr sz="20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26987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375285">
                        <a:lnSpc>
                          <a:spcPct val="1198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Consulta</a:t>
                      </a:r>
                      <a:r>
                        <a:rPr dirty="0" sz="1200" spc="10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200" spc="1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stock</a:t>
                      </a:r>
                      <a:r>
                        <a:rPr dirty="0" sz="1200" spc="1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por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ubicación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1651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Funcional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16764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438784">
                        <a:lnSpc>
                          <a:spcPct val="1198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Operador,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9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Jefe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Almacén,</a:t>
                      </a:r>
                      <a:r>
                        <a:rPr dirty="0" sz="1200" spc="18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Admin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1651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504825">
                        <a:lnSpc>
                          <a:spcPct val="1198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Visualizar</a:t>
                      </a:r>
                      <a:r>
                        <a:rPr dirty="0" sz="1200" spc="17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inventario</a:t>
                      </a:r>
                      <a:r>
                        <a:rPr dirty="0" sz="1200" spc="1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consolidado</a:t>
                      </a:r>
                      <a:r>
                        <a:rPr dirty="0" sz="1200" spc="1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y</a:t>
                      </a:r>
                      <a:r>
                        <a:rPr dirty="0" sz="1200" spc="1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detallado</a:t>
                      </a:r>
                      <a:r>
                        <a:rPr dirty="0" sz="1200" spc="1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por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producto,</a:t>
                      </a:r>
                      <a:r>
                        <a:rPr dirty="0" sz="1200" spc="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bodega</a:t>
                      </a:r>
                      <a:r>
                        <a:rPr dirty="0" sz="1200" spc="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y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zona</a:t>
                      </a:r>
                      <a:r>
                        <a:rPr dirty="0" sz="1200" spc="8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geográfica.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1651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</a:tr>
              <a:tr h="8185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R.19</a:t>
                      </a:r>
                      <a:endParaRPr sz="20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2413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Recepción</a:t>
                      </a:r>
                      <a:r>
                        <a:rPr dirty="0" sz="1200" spc="14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200" spc="1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mercadería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1390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Funcional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1390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438784">
                        <a:lnSpc>
                          <a:spcPct val="114599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Operador,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9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Jefe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Almacén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698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 marR="584200">
                        <a:lnSpc>
                          <a:spcPct val="114599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Registrar</a:t>
                      </a:r>
                      <a:r>
                        <a:rPr dirty="0" sz="1200" spc="6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ingresos</a:t>
                      </a:r>
                      <a:r>
                        <a:rPr dirty="0" sz="1200" spc="7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200" spc="7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stock</a:t>
                      </a:r>
                      <a:r>
                        <a:rPr dirty="0" sz="1200" spc="6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en</a:t>
                      </a:r>
                      <a:r>
                        <a:rPr dirty="0" sz="1200" spc="7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zonas</a:t>
                      </a:r>
                      <a:r>
                        <a:rPr dirty="0" sz="1200" spc="7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específicas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garantizando</a:t>
                      </a:r>
                      <a:r>
                        <a:rPr dirty="0" sz="1200" spc="18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trazabilidad</a:t>
                      </a:r>
                      <a:r>
                        <a:rPr dirty="0" sz="1200" spc="18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completa.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698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R.20</a:t>
                      </a:r>
                      <a:endParaRPr sz="20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Traslado</a:t>
                      </a:r>
                      <a:r>
                        <a:rPr dirty="0" sz="1200" spc="12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interno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Funcional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438784">
                        <a:lnSpc>
                          <a:spcPct val="114599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Operador,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9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Jefe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Almacén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6858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447675">
                        <a:lnSpc>
                          <a:spcPct val="114599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Mover</a:t>
                      </a:r>
                      <a:r>
                        <a:rPr dirty="0" sz="1200" spc="5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inventario</a:t>
                      </a:r>
                      <a:r>
                        <a:rPr dirty="0" sz="1200" spc="6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entre</a:t>
                      </a:r>
                      <a:r>
                        <a:rPr dirty="0" sz="1200" spc="5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zonas</a:t>
                      </a:r>
                      <a:r>
                        <a:rPr dirty="0" sz="1200" spc="6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200" spc="6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la</a:t>
                      </a:r>
                      <a:r>
                        <a:rPr dirty="0" sz="1200" spc="5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misma</a:t>
                      </a:r>
                      <a:r>
                        <a:rPr dirty="0" sz="1200" spc="6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bodega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validando</a:t>
                      </a:r>
                      <a:r>
                        <a:rPr dirty="0" sz="1200" spc="1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el</a:t>
                      </a:r>
                      <a:r>
                        <a:rPr dirty="0" sz="1200" spc="1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saldo</a:t>
                      </a:r>
                      <a:r>
                        <a:rPr dirty="0" sz="1200" spc="114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disponible.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6858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R.21</a:t>
                      </a:r>
                      <a:endParaRPr sz="20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Despacho</a:t>
                      </a:r>
                      <a:r>
                        <a:rPr dirty="0" sz="1200" spc="1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200" spc="1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productos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Funcional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438784">
                        <a:lnSpc>
                          <a:spcPct val="114599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Operador,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9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Jefe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Almacén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6858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Registrar</a:t>
                      </a:r>
                      <a:r>
                        <a:rPr dirty="0" sz="1200" spc="1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salidas</a:t>
                      </a:r>
                      <a:r>
                        <a:rPr dirty="0" sz="1200" spc="1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200" spc="13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mercadería</a:t>
                      </a:r>
                      <a:r>
                        <a:rPr dirty="0" sz="1200" spc="1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validando</a:t>
                      </a:r>
                      <a:endParaRPr sz="1200">
                        <a:latin typeface="Open Sans"/>
                        <a:cs typeface="Open Sans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disponibilidad</a:t>
                      </a:r>
                      <a:r>
                        <a:rPr dirty="0" sz="1200" spc="3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y</a:t>
                      </a:r>
                      <a:r>
                        <a:rPr dirty="0" sz="1200" spc="3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dejando</a:t>
                      </a:r>
                      <a:r>
                        <a:rPr dirty="0" sz="1200" spc="3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registro</a:t>
                      </a:r>
                      <a:r>
                        <a:rPr dirty="0" sz="1200" spc="3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200" spc="3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movimiento.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9525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R.23</a:t>
                      </a:r>
                      <a:endParaRPr sz="20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Exportación</a:t>
                      </a:r>
                      <a:r>
                        <a:rPr dirty="0" sz="1200" spc="13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200" spc="13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reportes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Funcional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438784">
                        <a:lnSpc>
                          <a:spcPct val="114599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Operador,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9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Jefe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Almacén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6858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299720">
                        <a:lnSpc>
                          <a:spcPct val="114599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Generar</a:t>
                      </a:r>
                      <a:r>
                        <a:rPr dirty="0" sz="1200" spc="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y</a:t>
                      </a:r>
                      <a:r>
                        <a:rPr dirty="0" sz="1200" spc="8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descargar</a:t>
                      </a:r>
                      <a:r>
                        <a:rPr dirty="0" sz="1200" spc="8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reportes</a:t>
                      </a:r>
                      <a:r>
                        <a:rPr dirty="0" sz="1200" spc="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200" spc="8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stock</a:t>
                      </a:r>
                      <a:r>
                        <a:rPr dirty="0" sz="1200" spc="8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</a:t>
                      </a:r>
                      <a:r>
                        <a:rPr dirty="0" sz="1200" spc="8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historial</a:t>
                      </a:r>
                      <a:r>
                        <a:rPr dirty="0" sz="1200" spc="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en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formatos</a:t>
                      </a:r>
                      <a:r>
                        <a:rPr dirty="0" sz="1200" spc="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PDF</a:t>
                      </a:r>
                      <a:r>
                        <a:rPr dirty="0" sz="1200" spc="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y</a:t>
                      </a:r>
                      <a:r>
                        <a:rPr dirty="0" sz="1200" spc="8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Excel.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6858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R.31</a:t>
                      </a:r>
                      <a:endParaRPr sz="20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Aislamiento</a:t>
                      </a:r>
                      <a:r>
                        <a:rPr dirty="0" sz="1200" spc="34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multi-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tenat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Funcional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Operador,</a:t>
                      </a:r>
                      <a:r>
                        <a:rPr dirty="0" sz="1200" spc="9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Admin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196215">
                        <a:lnSpc>
                          <a:spcPct val="114599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Garantizar</a:t>
                      </a:r>
                      <a:r>
                        <a:rPr dirty="0" sz="1200" spc="10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que</a:t>
                      </a:r>
                      <a:r>
                        <a:rPr dirty="0" sz="1200" spc="1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cada</a:t>
                      </a:r>
                      <a:r>
                        <a:rPr dirty="0" sz="1200" spc="1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consulta</a:t>
                      </a:r>
                      <a:r>
                        <a:rPr dirty="0" sz="1200" spc="1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y</a:t>
                      </a:r>
                      <a:r>
                        <a:rPr dirty="0" sz="1200" spc="1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operación</a:t>
                      </a:r>
                      <a:r>
                        <a:rPr dirty="0" sz="1200" spc="1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filtre</a:t>
                      </a:r>
                      <a:r>
                        <a:rPr dirty="0" sz="1200" spc="1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datos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estrictamente</a:t>
                      </a:r>
                      <a:r>
                        <a:rPr dirty="0" sz="1200" spc="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por</a:t>
                      </a:r>
                      <a:r>
                        <a:rPr dirty="0" sz="1200" spc="5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la</a:t>
                      </a:r>
                      <a:r>
                        <a:rPr dirty="0" sz="1200" spc="5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empresa</a:t>
                      </a:r>
                      <a:r>
                        <a:rPr dirty="0" sz="1200" spc="5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del</a:t>
                      </a:r>
                      <a:r>
                        <a:rPr dirty="0" sz="1200" spc="5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usuario.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6858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R.33</a:t>
                      </a:r>
                      <a:endParaRPr sz="20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Arquitectura</a:t>
                      </a:r>
                      <a:r>
                        <a:rPr dirty="0" sz="1200" spc="2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hexagonal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No</a:t>
                      </a:r>
                      <a:r>
                        <a:rPr dirty="0" sz="1200" spc="-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Funcional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Sistema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1120">
                        <a:lnSpc>
                          <a:spcPct val="114599"/>
                        </a:lnSpc>
                        <a:spcBef>
                          <a:spcPts val="540"/>
                        </a:spcBef>
                      </a:pP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Estructurar</a:t>
                      </a:r>
                      <a:r>
                        <a:rPr dirty="0" sz="1200" spc="6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el</a:t>
                      </a:r>
                      <a:r>
                        <a:rPr dirty="0" sz="1200" spc="6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backend</a:t>
                      </a:r>
                      <a:r>
                        <a:rPr dirty="0" sz="1200" spc="7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en</a:t>
                      </a:r>
                      <a:r>
                        <a:rPr dirty="0" sz="1200" spc="6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módulos</a:t>
                      </a:r>
                      <a:r>
                        <a:rPr dirty="0" sz="1200" spc="7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desacoplados</a:t>
                      </a:r>
                      <a:r>
                        <a:rPr dirty="0" sz="1200" spc="6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(iam,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tenant,</a:t>
                      </a:r>
                      <a:r>
                        <a:rPr dirty="0" sz="1200" spc="1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catalog,</a:t>
                      </a:r>
                      <a:r>
                        <a:rPr dirty="0" sz="1200" spc="1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warehouse,</a:t>
                      </a:r>
                      <a:r>
                        <a:rPr dirty="0" sz="1200" spc="1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inventory).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6858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R.36</a:t>
                      </a:r>
                      <a:endParaRPr sz="20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1016000">
                        <a:lnSpc>
                          <a:spcPct val="114599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Seguridad</a:t>
                      </a:r>
                      <a:r>
                        <a:rPr dirty="0" sz="1200" spc="14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en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credenciales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6858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No</a:t>
                      </a:r>
                      <a:r>
                        <a:rPr dirty="0" sz="1200" spc="-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Funcional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Sistema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486409">
                        <a:lnSpc>
                          <a:spcPct val="114599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Almacenar</a:t>
                      </a:r>
                      <a:r>
                        <a:rPr dirty="0" sz="1200" spc="1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contraseñas</a:t>
                      </a:r>
                      <a:r>
                        <a:rPr dirty="0" sz="1200" spc="114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mediante</a:t>
                      </a:r>
                      <a:r>
                        <a:rPr dirty="0" sz="1200" spc="114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hashing</a:t>
                      </a:r>
                      <a:r>
                        <a:rPr dirty="0" sz="1200" spc="114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seguro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(BCrypt)</a:t>
                      </a:r>
                      <a:r>
                        <a:rPr dirty="0" sz="1200" spc="6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sin</a:t>
                      </a:r>
                      <a:r>
                        <a:rPr dirty="0" sz="1200" spc="6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exposición</a:t>
                      </a:r>
                      <a:r>
                        <a:rPr dirty="0" sz="1200" spc="7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en</a:t>
                      </a:r>
                      <a:r>
                        <a:rPr dirty="0" sz="1200" spc="6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texto</a:t>
                      </a:r>
                      <a:r>
                        <a:rPr dirty="0" sz="1200" spc="7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plano.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6858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R.42</a:t>
                      </a:r>
                      <a:endParaRPr sz="20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Auditoría</a:t>
                      </a:r>
                      <a:r>
                        <a:rPr dirty="0" sz="1200" spc="1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200" spc="10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inventarios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No</a:t>
                      </a:r>
                      <a:r>
                        <a:rPr dirty="0" sz="1200" spc="-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Funcional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Sistema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247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561340">
                        <a:lnSpc>
                          <a:spcPct val="114599"/>
                        </a:lnSpc>
                        <a:spcBef>
                          <a:spcPts val="540"/>
                        </a:spcBef>
                      </a:pP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Registrar</a:t>
                      </a:r>
                      <a:r>
                        <a:rPr dirty="0" sz="1200" spc="8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automáticamente</a:t>
                      </a:r>
                      <a:r>
                        <a:rPr dirty="0" sz="1200" spc="8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trazabilidad</a:t>
                      </a:r>
                      <a:r>
                        <a:rPr dirty="0" sz="1200" spc="8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200" spc="8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cada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movimiento</a:t>
                      </a:r>
                      <a:r>
                        <a:rPr dirty="0" sz="1200" spc="9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(tipo,</a:t>
                      </a:r>
                      <a:r>
                        <a:rPr dirty="0" sz="1200" spc="9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usuario,</a:t>
                      </a:r>
                      <a:r>
                        <a:rPr dirty="0" sz="1200" spc="9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fecha</a:t>
                      </a:r>
                      <a:r>
                        <a:rPr dirty="0" sz="1200" spc="9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7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y</a:t>
                      </a:r>
                      <a:r>
                        <a:rPr dirty="0" sz="1200" spc="95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cantidad).</a:t>
                      </a:r>
                      <a:endParaRPr sz="1200">
                        <a:latin typeface="Open Sans"/>
                        <a:cs typeface="Open Sans"/>
                      </a:endParaRPr>
                    </a:p>
                  </a:txBody>
                  <a:tcPr marL="0" marR="0" marB="0" marT="6858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0590" y="8612727"/>
            <a:ext cx="3667124" cy="9048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85"/>
              <a:t>M</a:t>
            </a:r>
            <a:r>
              <a:rPr dirty="0" spc="-935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-120"/>
              <a:t>C</a:t>
            </a:r>
            <a:r>
              <a:rPr dirty="0" spc="-930"/>
              <a:t> </a:t>
            </a:r>
            <a:r>
              <a:rPr dirty="0" spc="620"/>
              <a:t>K</a:t>
            </a:r>
            <a:r>
              <a:rPr dirty="0" spc="-930"/>
              <a:t> </a:t>
            </a:r>
            <a:r>
              <a:rPr dirty="0" spc="459"/>
              <a:t>U</a:t>
            </a:r>
            <a:r>
              <a:rPr dirty="0" spc="-930"/>
              <a:t> </a:t>
            </a:r>
            <a:r>
              <a:rPr dirty="0" spc="440"/>
              <a:t>P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274021"/>
            <a:ext cx="6391274" cy="34575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4797" y="2274021"/>
            <a:ext cx="6391274" cy="34575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6146937"/>
            <a:ext cx="6391274" cy="29527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14797" y="6146937"/>
            <a:ext cx="6391274" cy="31337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85"/>
              <a:t>M</a:t>
            </a:r>
            <a:r>
              <a:rPr dirty="0" spc="-935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-120"/>
              <a:t>C</a:t>
            </a:r>
            <a:r>
              <a:rPr dirty="0" spc="-930"/>
              <a:t> </a:t>
            </a:r>
            <a:r>
              <a:rPr dirty="0" spc="620"/>
              <a:t>K</a:t>
            </a:r>
            <a:r>
              <a:rPr dirty="0" spc="-930"/>
              <a:t> </a:t>
            </a:r>
            <a:r>
              <a:rPr dirty="0" spc="459"/>
              <a:t>U</a:t>
            </a:r>
            <a:r>
              <a:rPr dirty="0" spc="-930"/>
              <a:t> </a:t>
            </a:r>
            <a:r>
              <a:rPr dirty="0" spc="440"/>
              <a:t>P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235876"/>
            <a:ext cx="6505574" cy="31527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61826" y="2235876"/>
            <a:ext cx="5714999" cy="3152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5694176"/>
            <a:ext cx="6505574" cy="23336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61826" y="5694176"/>
            <a:ext cx="5714999" cy="26765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85"/>
              <a:t>M</a:t>
            </a:r>
            <a:r>
              <a:rPr dirty="0" spc="-935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-120"/>
              <a:t>C</a:t>
            </a:r>
            <a:r>
              <a:rPr dirty="0" spc="-930"/>
              <a:t> </a:t>
            </a:r>
            <a:r>
              <a:rPr dirty="0" spc="620"/>
              <a:t>K</a:t>
            </a:r>
            <a:r>
              <a:rPr dirty="0" spc="-930"/>
              <a:t> </a:t>
            </a:r>
            <a:r>
              <a:rPr dirty="0" spc="459"/>
              <a:t>U</a:t>
            </a:r>
            <a:r>
              <a:rPr dirty="0" spc="-930"/>
              <a:t> </a:t>
            </a:r>
            <a:r>
              <a:rPr dirty="0" spc="440"/>
              <a:t>P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303555"/>
            <a:ext cx="6610349" cy="3209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83730" y="2303555"/>
            <a:ext cx="6581774" cy="3209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5694203"/>
            <a:ext cx="6610349" cy="3209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83730" y="5694203"/>
            <a:ext cx="5467349" cy="32099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85"/>
              <a:t>M</a:t>
            </a:r>
            <a:r>
              <a:rPr dirty="0" spc="-935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-120"/>
              <a:t>C</a:t>
            </a:r>
            <a:r>
              <a:rPr dirty="0" spc="-930"/>
              <a:t> </a:t>
            </a:r>
            <a:r>
              <a:rPr dirty="0" spc="620"/>
              <a:t>K</a:t>
            </a:r>
            <a:r>
              <a:rPr dirty="0" spc="-930"/>
              <a:t> </a:t>
            </a:r>
            <a:r>
              <a:rPr dirty="0" spc="459"/>
              <a:t>U</a:t>
            </a:r>
            <a:r>
              <a:rPr dirty="0" spc="-930"/>
              <a:t> </a:t>
            </a:r>
            <a:r>
              <a:rPr dirty="0" spc="440"/>
              <a:t>P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407636"/>
            <a:ext cx="6305549" cy="30098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0345" y="2407636"/>
            <a:ext cx="6276974" cy="30098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5701515"/>
            <a:ext cx="6305549" cy="30575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50345" y="5701515"/>
            <a:ext cx="6276974" cy="30289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85"/>
              <a:t>M</a:t>
            </a:r>
            <a:r>
              <a:rPr dirty="0" spc="-935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-120"/>
              <a:t>C</a:t>
            </a:r>
            <a:r>
              <a:rPr dirty="0" spc="-930"/>
              <a:t> </a:t>
            </a:r>
            <a:r>
              <a:rPr dirty="0" spc="620"/>
              <a:t>K</a:t>
            </a:r>
            <a:r>
              <a:rPr dirty="0" spc="-930"/>
              <a:t> </a:t>
            </a:r>
            <a:r>
              <a:rPr dirty="0" spc="459"/>
              <a:t>U</a:t>
            </a:r>
            <a:r>
              <a:rPr dirty="0" spc="-930"/>
              <a:t> </a:t>
            </a:r>
            <a:r>
              <a:rPr dirty="0" spc="440"/>
              <a:t>P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120264"/>
            <a:ext cx="6524624" cy="3171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3176" y="2120264"/>
            <a:ext cx="6572249" cy="3171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5489267"/>
            <a:ext cx="6524624" cy="3143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6189" y="5489267"/>
            <a:ext cx="6543674" cy="31432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85"/>
              <a:t>M</a:t>
            </a:r>
            <a:r>
              <a:rPr dirty="0" spc="-935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-120"/>
              <a:t>C</a:t>
            </a:r>
            <a:r>
              <a:rPr dirty="0" spc="-930"/>
              <a:t> </a:t>
            </a:r>
            <a:r>
              <a:rPr dirty="0" spc="620"/>
              <a:t>K</a:t>
            </a:r>
            <a:r>
              <a:rPr dirty="0" spc="-930"/>
              <a:t> </a:t>
            </a:r>
            <a:r>
              <a:rPr dirty="0" spc="459"/>
              <a:t>U</a:t>
            </a:r>
            <a:r>
              <a:rPr dirty="0" spc="-930"/>
              <a:t> </a:t>
            </a:r>
            <a:r>
              <a:rPr dirty="0" spc="440"/>
              <a:t>P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365608"/>
            <a:ext cx="6181724" cy="29717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52702" y="2365608"/>
            <a:ext cx="6191249" cy="30194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5666711"/>
            <a:ext cx="6181724" cy="2867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52702" y="5666711"/>
            <a:ext cx="5924549" cy="28670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85"/>
              <a:t>M</a:t>
            </a:r>
            <a:r>
              <a:rPr dirty="0" spc="-935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-120"/>
              <a:t>C</a:t>
            </a:r>
            <a:r>
              <a:rPr dirty="0" spc="-930"/>
              <a:t> </a:t>
            </a:r>
            <a:r>
              <a:rPr dirty="0" spc="620"/>
              <a:t>K</a:t>
            </a:r>
            <a:r>
              <a:rPr dirty="0" spc="-930"/>
              <a:t> </a:t>
            </a:r>
            <a:r>
              <a:rPr dirty="0" spc="459"/>
              <a:t>U</a:t>
            </a:r>
            <a:r>
              <a:rPr dirty="0" spc="-930"/>
              <a:t> </a:t>
            </a:r>
            <a:r>
              <a:rPr dirty="0" spc="440"/>
              <a:t>P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315710"/>
            <a:ext cx="6305549" cy="29527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4836" y="2315710"/>
            <a:ext cx="6134099" cy="29527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5472858"/>
            <a:ext cx="6305549" cy="2362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04836" y="5472858"/>
            <a:ext cx="6134099" cy="29813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85"/>
              <a:t>M</a:t>
            </a:r>
            <a:r>
              <a:rPr dirty="0" spc="-935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-120"/>
              <a:t>C</a:t>
            </a:r>
            <a:r>
              <a:rPr dirty="0" spc="-930"/>
              <a:t> </a:t>
            </a:r>
            <a:r>
              <a:rPr dirty="0" spc="620"/>
              <a:t>K</a:t>
            </a:r>
            <a:r>
              <a:rPr dirty="0" spc="-930"/>
              <a:t> </a:t>
            </a:r>
            <a:r>
              <a:rPr dirty="0" spc="459"/>
              <a:t>U</a:t>
            </a:r>
            <a:r>
              <a:rPr dirty="0" spc="-930"/>
              <a:t> </a:t>
            </a:r>
            <a:r>
              <a:rPr dirty="0" spc="440"/>
              <a:t>P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314078"/>
            <a:ext cx="8439149" cy="18954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4402795"/>
            <a:ext cx="8439149" cy="35242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85"/>
              <a:t>M</a:t>
            </a:r>
            <a:r>
              <a:rPr dirty="0" spc="-935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-120"/>
              <a:t>C</a:t>
            </a:r>
            <a:r>
              <a:rPr dirty="0" spc="-930"/>
              <a:t> </a:t>
            </a:r>
            <a:r>
              <a:rPr dirty="0" spc="620"/>
              <a:t>K</a:t>
            </a:r>
            <a:r>
              <a:rPr dirty="0" spc="-930"/>
              <a:t> </a:t>
            </a:r>
            <a:r>
              <a:rPr dirty="0" spc="459"/>
              <a:t>U</a:t>
            </a:r>
            <a:r>
              <a:rPr dirty="0" spc="-930"/>
              <a:t> </a:t>
            </a:r>
            <a:r>
              <a:rPr dirty="0" spc="440"/>
              <a:t>P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656767"/>
            <a:ext cx="4991099" cy="2800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47627" y="2656767"/>
            <a:ext cx="6543674" cy="52863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680145"/>
            <a:ext cx="4991099" cy="40290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85"/>
              <a:t>M</a:t>
            </a:r>
            <a:r>
              <a:rPr dirty="0" spc="-935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-120"/>
              <a:t>C</a:t>
            </a:r>
            <a:r>
              <a:rPr dirty="0" spc="-930"/>
              <a:t> </a:t>
            </a:r>
            <a:r>
              <a:rPr dirty="0" spc="620"/>
              <a:t>K</a:t>
            </a:r>
            <a:r>
              <a:rPr dirty="0" spc="-930"/>
              <a:t> </a:t>
            </a:r>
            <a:r>
              <a:rPr dirty="0" spc="459"/>
              <a:t>U</a:t>
            </a:r>
            <a:r>
              <a:rPr dirty="0" spc="-930"/>
              <a:t> </a:t>
            </a:r>
            <a:r>
              <a:rPr dirty="0" spc="440"/>
              <a:t>P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537762"/>
            <a:ext cx="4505324" cy="31337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988367"/>
            <a:ext cx="4505324" cy="30289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9349" y="2537762"/>
            <a:ext cx="5610224" cy="64865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857486"/>
            <a:ext cx="13308330" cy="3209290"/>
          </a:xfrm>
          <a:prstGeom prst="rect"/>
        </p:spPr>
        <p:txBody>
          <a:bodyPr wrap="square" lIns="0" tIns="12128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5"/>
              </a:spcBef>
            </a:pPr>
            <a:r>
              <a:rPr dirty="0" spc="635"/>
              <a:t>H</a:t>
            </a:r>
            <a:r>
              <a:rPr dirty="0" spc="-935"/>
              <a:t> </a:t>
            </a:r>
            <a:r>
              <a:rPr dirty="0" spc="340"/>
              <a:t>I</a:t>
            </a:r>
            <a:r>
              <a:rPr dirty="0" spc="-930"/>
              <a:t> </a:t>
            </a:r>
            <a:r>
              <a:rPr dirty="0" spc="695"/>
              <a:t>T</a:t>
            </a:r>
            <a:r>
              <a:rPr dirty="0" spc="-935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785"/>
              <a:t>S</a:t>
            </a:r>
            <a:r>
              <a:rPr dirty="0" spc="5"/>
              <a:t>  </a:t>
            </a:r>
            <a:r>
              <a:rPr dirty="0" spc="340"/>
              <a:t>I</a:t>
            </a:r>
            <a:r>
              <a:rPr dirty="0" spc="-930"/>
              <a:t> </a:t>
            </a:r>
            <a:r>
              <a:rPr dirty="0" spc="385"/>
              <a:t>M</a:t>
            </a:r>
            <a:r>
              <a:rPr dirty="0" spc="-935"/>
              <a:t> </a:t>
            </a:r>
            <a:r>
              <a:rPr dirty="0" spc="440"/>
              <a:t>P</a:t>
            </a:r>
            <a:r>
              <a:rPr dirty="0" spc="-930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580"/>
              <a:t>R</a:t>
            </a:r>
            <a:r>
              <a:rPr dirty="0" spc="-935"/>
              <a:t> </a:t>
            </a:r>
            <a:r>
              <a:rPr dirty="0" spc="695"/>
              <a:t>T</a:t>
            </a:r>
            <a:r>
              <a:rPr dirty="0" spc="-930"/>
              <a:t> </a:t>
            </a:r>
            <a:r>
              <a:rPr dirty="0" spc="-114"/>
              <a:t>A</a:t>
            </a:r>
            <a:r>
              <a:rPr dirty="0" spc="-930"/>
              <a:t> </a:t>
            </a:r>
            <a:r>
              <a:rPr dirty="0" spc="475"/>
              <a:t>N</a:t>
            </a:r>
            <a:r>
              <a:rPr dirty="0" spc="-935"/>
              <a:t> </a:t>
            </a:r>
            <a:r>
              <a:rPr dirty="0" spc="695"/>
              <a:t>T</a:t>
            </a:r>
            <a:r>
              <a:rPr dirty="0" spc="-930"/>
              <a:t> </a:t>
            </a:r>
            <a:r>
              <a:rPr dirty="0" spc="260"/>
              <a:t>E</a:t>
            </a:r>
            <a:r>
              <a:rPr dirty="0" spc="-935"/>
              <a:t> </a:t>
            </a:r>
            <a:r>
              <a:rPr dirty="0" spc="735"/>
              <a:t>S</a:t>
            </a:r>
          </a:p>
          <a:p>
            <a:pPr algn="just" marL="12700" marR="5080">
              <a:lnSpc>
                <a:spcPts val="3150"/>
              </a:lnSpc>
            </a:pPr>
            <a:r>
              <a:rPr dirty="0" sz="2250" b="0">
                <a:latin typeface="Open Sans Light"/>
                <a:cs typeface="Open Sans Light"/>
              </a:rPr>
              <a:t>El</a:t>
            </a:r>
            <a:r>
              <a:rPr dirty="0" sz="2250" spc="225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cronograma</a:t>
            </a:r>
            <a:r>
              <a:rPr dirty="0" sz="2250" spc="22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se</a:t>
            </a:r>
            <a:r>
              <a:rPr dirty="0" sz="2250" spc="225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organiza</a:t>
            </a:r>
            <a:r>
              <a:rPr dirty="0" sz="2250" spc="22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en</a:t>
            </a:r>
            <a:r>
              <a:rPr dirty="0" sz="2250" spc="225" b="0">
                <a:latin typeface="Open Sans Light"/>
                <a:cs typeface="Open Sans Light"/>
              </a:rPr>
              <a:t> </a:t>
            </a:r>
            <a:r>
              <a:rPr dirty="0" sz="2250" spc="50" b="0">
                <a:latin typeface="Open Sans Light"/>
                <a:cs typeface="Open Sans Light"/>
              </a:rPr>
              <a:t>un</a:t>
            </a:r>
            <a:r>
              <a:rPr dirty="0" sz="2250" spc="22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ciclo</a:t>
            </a:r>
            <a:r>
              <a:rPr dirty="0" sz="2250" spc="225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de</a:t>
            </a:r>
            <a:r>
              <a:rPr dirty="0" sz="2250" spc="22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18</a:t>
            </a:r>
            <a:r>
              <a:rPr dirty="0" sz="2250" spc="225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semanas</a:t>
            </a:r>
            <a:r>
              <a:rPr dirty="0" sz="2250" spc="22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que</a:t>
            </a:r>
            <a:r>
              <a:rPr dirty="0" sz="2250" spc="225" b="0">
                <a:latin typeface="Open Sans Light"/>
                <a:cs typeface="Open Sans Light"/>
              </a:rPr>
              <a:t> </a:t>
            </a:r>
            <a:r>
              <a:rPr dirty="0" sz="2250" spc="65" b="0">
                <a:latin typeface="Open Sans Light"/>
                <a:cs typeface="Open Sans Light"/>
              </a:rPr>
              <a:t>va</a:t>
            </a:r>
            <a:r>
              <a:rPr dirty="0" sz="2250" spc="22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desde</a:t>
            </a:r>
            <a:r>
              <a:rPr dirty="0" sz="2250" spc="225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el</a:t>
            </a:r>
            <a:r>
              <a:rPr dirty="0" sz="2250" spc="225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13</a:t>
            </a:r>
            <a:r>
              <a:rPr dirty="0" sz="2250" spc="22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de</a:t>
            </a:r>
            <a:r>
              <a:rPr dirty="0" sz="2250" spc="225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agosto</a:t>
            </a:r>
            <a:r>
              <a:rPr dirty="0" sz="2250" spc="22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de</a:t>
            </a:r>
            <a:r>
              <a:rPr dirty="0" sz="2250" spc="225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2026</a:t>
            </a:r>
            <a:r>
              <a:rPr dirty="0" sz="2250" spc="220" b="0">
                <a:latin typeface="Open Sans Light"/>
                <a:cs typeface="Open Sans Light"/>
              </a:rPr>
              <a:t> </a:t>
            </a:r>
            <a:r>
              <a:rPr dirty="0" sz="2250" spc="-10" b="0">
                <a:latin typeface="Open Sans Light"/>
                <a:cs typeface="Open Sans Light"/>
              </a:rPr>
              <a:t>hasta </a:t>
            </a:r>
            <a:r>
              <a:rPr dirty="0" sz="2250" b="0">
                <a:latin typeface="Open Sans Light"/>
                <a:cs typeface="Open Sans Light"/>
              </a:rPr>
              <a:t>el</a:t>
            </a:r>
            <a:r>
              <a:rPr dirty="0" sz="2250" spc="27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10</a:t>
            </a:r>
            <a:r>
              <a:rPr dirty="0" sz="2250" spc="27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de</a:t>
            </a:r>
            <a:r>
              <a:rPr dirty="0" sz="2250" spc="275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diciembre</a:t>
            </a:r>
            <a:r>
              <a:rPr dirty="0" sz="2250" spc="27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de</a:t>
            </a:r>
            <a:r>
              <a:rPr dirty="0" sz="2250" spc="27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2026.</a:t>
            </a:r>
            <a:r>
              <a:rPr dirty="0" sz="2250" spc="27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La</a:t>
            </a:r>
            <a:r>
              <a:rPr dirty="0" sz="2250" spc="27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planificación</a:t>
            </a:r>
            <a:r>
              <a:rPr dirty="0" sz="2250" spc="275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se</a:t>
            </a:r>
            <a:r>
              <a:rPr dirty="0" sz="2250" spc="27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estructura</a:t>
            </a:r>
            <a:r>
              <a:rPr dirty="0" sz="2250" spc="27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en</a:t>
            </a:r>
            <a:r>
              <a:rPr dirty="0" sz="2250" spc="27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tres</a:t>
            </a:r>
            <a:r>
              <a:rPr dirty="0" sz="2250" spc="27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fases</a:t>
            </a:r>
            <a:r>
              <a:rPr dirty="0" sz="2250" spc="275" b="0">
                <a:latin typeface="Open Sans Light"/>
                <a:cs typeface="Open Sans Light"/>
              </a:rPr>
              <a:t> </a:t>
            </a:r>
            <a:r>
              <a:rPr dirty="0" sz="2250" spc="45" b="0">
                <a:latin typeface="Open Sans Light"/>
                <a:cs typeface="Open Sans Light"/>
              </a:rPr>
              <a:t>evaluativas</a:t>
            </a:r>
            <a:r>
              <a:rPr dirty="0" sz="2250" spc="270" b="0">
                <a:latin typeface="Open Sans Light"/>
                <a:cs typeface="Open Sans Light"/>
              </a:rPr>
              <a:t> </a:t>
            </a:r>
            <a:r>
              <a:rPr dirty="0" sz="2250" b="0">
                <a:latin typeface="Open Sans Light"/>
                <a:cs typeface="Open Sans Light"/>
              </a:rPr>
              <a:t>principales</a:t>
            </a:r>
            <a:r>
              <a:rPr dirty="0" sz="2250" spc="270" b="0">
                <a:latin typeface="Open Sans Light"/>
                <a:cs typeface="Open Sans Light"/>
              </a:rPr>
              <a:t> </a:t>
            </a:r>
            <a:r>
              <a:rPr dirty="0" sz="2250" spc="-25" b="0">
                <a:latin typeface="Open Sans Light"/>
                <a:cs typeface="Open Sans Light"/>
              </a:rPr>
              <a:t>que </a:t>
            </a:r>
            <a:r>
              <a:rPr dirty="0" sz="2250" b="0">
                <a:latin typeface="Open Sans Light"/>
                <a:cs typeface="Open Sans Light"/>
              </a:rPr>
              <a:t>abarcan</a:t>
            </a:r>
            <a:r>
              <a:rPr dirty="0" sz="2250" spc="1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desde</a:t>
            </a:r>
            <a:r>
              <a:rPr dirty="0" sz="2250" spc="5" b="0">
                <a:latin typeface="Open Sans Light"/>
                <a:cs typeface="Open Sans Light"/>
              </a:rPr>
              <a:t>  </a:t>
            </a:r>
            <a:r>
              <a:rPr dirty="0" sz="2250" spc="55" b="0">
                <a:latin typeface="Open Sans Light"/>
                <a:cs typeface="Open Sans Light"/>
              </a:rPr>
              <a:t>la</a:t>
            </a:r>
            <a:r>
              <a:rPr dirty="0" sz="2250" spc="1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definición</a:t>
            </a:r>
            <a:r>
              <a:rPr dirty="0" sz="2250" spc="1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de</a:t>
            </a:r>
            <a:r>
              <a:rPr dirty="0" sz="2250" spc="1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requerimientos</a:t>
            </a:r>
            <a:r>
              <a:rPr dirty="0" sz="2250" spc="5" b="0">
                <a:latin typeface="Open Sans Light"/>
                <a:cs typeface="Open Sans Light"/>
              </a:rPr>
              <a:t>  </a:t>
            </a:r>
            <a:r>
              <a:rPr dirty="0" sz="2250" spc="90" b="0">
                <a:latin typeface="Open Sans Light"/>
                <a:cs typeface="Open Sans Light"/>
              </a:rPr>
              <a:t>y</a:t>
            </a:r>
            <a:r>
              <a:rPr dirty="0" sz="2250" spc="1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el</a:t>
            </a:r>
            <a:r>
              <a:rPr dirty="0" sz="2250" spc="1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diseño</a:t>
            </a:r>
            <a:r>
              <a:rPr dirty="0" sz="2250" spc="1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de</a:t>
            </a:r>
            <a:r>
              <a:rPr dirty="0" sz="2250" spc="5" b="0">
                <a:latin typeface="Open Sans Light"/>
                <a:cs typeface="Open Sans Light"/>
              </a:rPr>
              <a:t>  </a:t>
            </a:r>
            <a:r>
              <a:rPr dirty="0" sz="2250" spc="55" b="0">
                <a:latin typeface="Open Sans Light"/>
                <a:cs typeface="Open Sans Light"/>
              </a:rPr>
              <a:t>la</a:t>
            </a:r>
            <a:r>
              <a:rPr dirty="0" sz="2250" spc="1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arquitectura</a:t>
            </a:r>
            <a:r>
              <a:rPr dirty="0" sz="2250" spc="10" b="0">
                <a:latin typeface="Open Sans Light"/>
                <a:cs typeface="Open Sans Light"/>
              </a:rPr>
              <a:t>  </a:t>
            </a:r>
            <a:r>
              <a:rPr dirty="0" sz="2250" spc="50" b="0">
                <a:latin typeface="Open Sans Light"/>
                <a:cs typeface="Open Sans Light"/>
              </a:rPr>
              <a:t>modular,</a:t>
            </a:r>
            <a:r>
              <a:rPr dirty="0" sz="2250" spc="5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hasta</a:t>
            </a:r>
            <a:r>
              <a:rPr dirty="0" sz="2250" spc="10" b="0">
                <a:latin typeface="Open Sans Light"/>
                <a:cs typeface="Open Sans Light"/>
              </a:rPr>
              <a:t>  </a:t>
            </a:r>
            <a:r>
              <a:rPr dirty="0" sz="2250" spc="30" b="0">
                <a:latin typeface="Open Sans Light"/>
                <a:cs typeface="Open Sans Light"/>
              </a:rPr>
              <a:t>la </a:t>
            </a:r>
            <a:r>
              <a:rPr dirty="0" sz="2250" b="0">
                <a:latin typeface="Open Sans Light"/>
                <a:cs typeface="Open Sans Light"/>
              </a:rPr>
              <a:t>construcción</a:t>
            </a:r>
            <a:r>
              <a:rPr dirty="0" sz="2250" spc="2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total</a:t>
            </a:r>
            <a:r>
              <a:rPr dirty="0" sz="2250" spc="2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del</a:t>
            </a:r>
            <a:r>
              <a:rPr dirty="0" sz="2250" spc="2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sistema</a:t>
            </a:r>
            <a:r>
              <a:rPr dirty="0" sz="2250" spc="2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WMS,</a:t>
            </a:r>
            <a:r>
              <a:rPr dirty="0" sz="2250" spc="2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pruebas</a:t>
            </a:r>
            <a:r>
              <a:rPr dirty="0" sz="2250" spc="2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de</a:t>
            </a:r>
            <a:r>
              <a:rPr dirty="0" sz="2250" spc="2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integración,</a:t>
            </a:r>
            <a:r>
              <a:rPr dirty="0" sz="2250" spc="15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documentación</a:t>
            </a:r>
            <a:r>
              <a:rPr dirty="0" sz="2250" spc="20" b="0">
                <a:latin typeface="Open Sans Light"/>
                <a:cs typeface="Open Sans Light"/>
              </a:rPr>
              <a:t>  </a:t>
            </a:r>
            <a:r>
              <a:rPr dirty="0" sz="2250" spc="55" b="0">
                <a:latin typeface="Open Sans Light"/>
                <a:cs typeface="Open Sans Light"/>
              </a:rPr>
              <a:t>final</a:t>
            </a:r>
            <a:r>
              <a:rPr dirty="0" sz="2250" spc="20" b="0">
                <a:latin typeface="Open Sans Light"/>
                <a:cs typeface="Open Sans Light"/>
              </a:rPr>
              <a:t>  </a:t>
            </a:r>
            <a:r>
              <a:rPr dirty="0" sz="2250" spc="90" b="0">
                <a:latin typeface="Open Sans Light"/>
                <a:cs typeface="Open Sans Light"/>
              </a:rPr>
              <a:t>y</a:t>
            </a:r>
            <a:r>
              <a:rPr dirty="0" sz="2250" spc="20" b="0">
                <a:latin typeface="Open Sans Light"/>
                <a:cs typeface="Open Sans Light"/>
              </a:rPr>
              <a:t>  </a:t>
            </a:r>
            <a:r>
              <a:rPr dirty="0" sz="2250" b="0">
                <a:latin typeface="Open Sans Light"/>
                <a:cs typeface="Open Sans Light"/>
              </a:rPr>
              <a:t>defensa</a:t>
            </a:r>
            <a:r>
              <a:rPr dirty="0" sz="2250" spc="20" b="0">
                <a:latin typeface="Open Sans Light"/>
                <a:cs typeface="Open Sans Light"/>
              </a:rPr>
              <a:t>  </a:t>
            </a:r>
            <a:r>
              <a:rPr dirty="0" sz="2250" spc="-25" b="0">
                <a:latin typeface="Open Sans Light"/>
                <a:cs typeface="Open Sans Light"/>
              </a:rPr>
              <a:t>del </a:t>
            </a:r>
            <a:r>
              <a:rPr dirty="0" sz="2250" spc="-10" b="0">
                <a:latin typeface="Open Sans Light"/>
                <a:cs typeface="Open Sans Light"/>
              </a:rPr>
              <a:t>proyecto.</a:t>
            </a:r>
            <a:endParaRPr sz="2250">
              <a:latin typeface="Open Sans Light"/>
              <a:cs typeface="Open Sans Light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23989" y="4231614"/>
          <a:ext cx="11551920" cy="555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0415"/>
                <a:gridCol w="2733040"/>
                <a:gridCol w="2091054"/>
                <a:gridCol w="3320415"/>
              </a:tblGrid>
              <a:tr h="94488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300"/>
                        </a:spcBef>
                      </a:pPr>
                      <a:r>
                        <a:rPr dirty="0" sz="2200" spc="-4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Hito</a:t>
                      </a:r>
                      <a:r>
                        <a:rPr dirty="0" sz="2200" spc="-10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 </a:t>
                      </a:r>
                      <a:r>
                        <a:rPr dirty="0" sz="220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/</a:t>
                      </a:r>
                      <a:r>
                        <a:rPr dirty="0" sz="2200" spc="-95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 </a:t>
                      </a:r>
                      <a:r>
                        <a:rPr dirty="0" sz="2200" spc="-2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Fase</a:t>
                      </a:r>
                      <a:endParaRPr sz="22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2921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300"/>
                        </a:spcBef>
                      </a:pPr>
                      <a:r>
                        <a:rPr dirty="0" sz="2200" spc="-45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Fecha</a:t>
                      </a:r>
                      <a:r>
                        <a:rPr dirty="0" sz="2200" spc="-65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 </a:t>
                      </a:r>
                      <a:r>
                        <a:rPr dirty="0" sz="2200" spc="-1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Límite</a:t>
                      </a:r>
                      <a:endParaRPr sz="22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2921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300"/>
                        </a:spcBef>
                      </a:pPr>
                      <a:r>
                        <a:rPr dirty="0" sz="2200" spc="-1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Ponderación</a:t>
                      </a:r>
                      <a:endParaRPr sz="22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2921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1089025">
                        <a:lnSpc>
                          <a:spcPct val="116500"/>
                        </a:lnSpc>
                        <a:spcBef>
                          <a:spcPts val="365"/>
                        </a:spcBef>
                      </a:pPr>
                      <a:r>
                        <a:rPr dirty="0" sz="2200" spc="-7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Entregables</a:t>
                      </a:r>
                      <a:r>
                        <a:rPr dirty="0" sz="2200" spc="-4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 </a:t>
                      </a:r>
                      <a:r>
                        <a:rPr dirty="0" sz="2200" spc="-5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y </a:t>
                      </a:r>
                      <a:r>
                        <a:rPr dirty="0" sz="2200" spc="-75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Objetivos</a:t>
                      </a:r>
                      <a:r>
                        <a:rPr dirty="0" sz="2200" spc="-1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 </a:t>
                      </a:r>
                      <a:r>
                        <a:rPr dirty="0" sz="2200" spc="-35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Clave</a:t>
                      </a:r>
                      <a:endParaRPr sz="22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4635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</a:tr>
              <a:tr h="1009015">
                <a:tc>
                  <a:txBody>
                    <a:bodyPr/>
                    <a:lstStyle/>
                    <a:p>
                      <a:pPr marL="75565" marR="135255">
                        <a:lnSpc>
                          <a:spcPct val="117200"/>
                        </a:lnSpc>
                        <a:spcBef>
                          <a:spcPts val="1445"/>
                        </a:spcBef>
                      </a:pP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Fase</a:t>
                      </a:r>
                      <a:r>
                        <a:rPr dirty="0" sz="16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1:</a:t>
                      </a:r>
                      <a:r>
                        <a:rPr dirty="0" sz="16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Definición</a:t>
                      </a:r>
                      <a:r>
                        <a:rPr dirty="0" sz="16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6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y</a:t>
                      </a:r>
                      <a:r>
                        <a:rPr dirty="0" sz="16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Presentación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del</a:t>
                      </a:r>
                      <a:r>
                        <a:rPr dirty="0" sz="1600" spc="7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Proyecto</a:t>
                      </a:r>
                      <a:endParaRPr sz="16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18351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10/09/2026</a:t>
                      </a:r>
                      <a:r>
                        <a:rPr dirty="0" sz="1600" spc="-2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i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(Semana</a:t>
                      </a:r>
                      <a:r>
                        <a:rPr dirty="0" sz="1600" spc="-25" i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5)</a:t>
                      </a:r>
                      <a:endParaRPr sz="1600">
                        <a:latin typeface="Open Sans"/>
                        <a:cs typeface="Open Sans"/>
                      </a:endParaRPr>
                    </a:p>
                  </a:txBody>
                  <a:tcPr marL="0" marR="0" marB="0" marT="16827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600" spc="3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20%</a:t>
                      </a:r>
                      <a:endParaRPr sz="1600">
                        <a:latin typeface="Open Sans"/>
                        <a:cs typeface="Open Sans"/>
                      </a:endParaRPr>
                    </a:p>
                  </a:txBody>
                  <a:tcPr marL="0" marR="0" marB="0" marT="1346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82550">
                        <a:lnSpc>
                          <a:spcPct val="117200"/>
                        </a:lnSpc>
                        <a:spcBef>
                          <a:spcPts val="320"/>
                        </a:spcBef>
                      </a:pPr>
                      <a:r>
                        <a:rPr dirty="0" sz="160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Entrega</a:t>
                      </a:r>
                      <a:r>
                        <a:rPr dirty="0" sz="1600" spc="5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600" spc="5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 spc="6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Acta</a:t>
                      </a:r>
                      <a:r>
                        <a:rPr dirty="0" sz="1600" spc="5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 spc="-2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600" spc="50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 spc="1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Constitución,</a:t>
                      </a:r>
                      <a:r>
                        <a:rPr dirty="0" sz="1600" spc="10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 spc="6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ERS,</a:t>
                      </a:r>
                      <a:r>
                        <a:rPr dirty="0" sz="1600" spc="11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 spc="1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Casos</a:t>
                      </a:r>
                      <a:r>
                        <a:rPr dirty="0" sz="1600" spc="11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 spc="1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600" spc="10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 spc="-2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Uso </a:t>
                      </a:r>
                      <a:r>
                        <a:rPr dirty="0" sz="1600" spc="8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y</a:t>
                      </a:r>
                      <a:r>
                        <a:rPr dirty="0" sz="1600" spc="5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Mockups</a:t>
                      </a:r>
                      <a:r>
                        <a:rPr dirty="0" sz="1600" spc="6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del</a:t>
                      </a:r>
                      <a:r>
                        <a:rPr dirty="0" sz="1600" spc="6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 spc="-1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sistema.</a:t>
                      </a:r>
                      <a:endParaRPr sz="1600">
                        <a:latin typeface="Open Sans"/>
                        <a:cs typeface="Open Sans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1294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Fase</a:t>
                      </a:r>
                      <a:r>
                        <a:rPr dirty="0" sz="16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2:</a:t>
                      </a:r>
                      <a:r>
                        <a:rPr dirty="0" sz="16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Modelo</a:t>
                      </a:r>
                      <a:r>
                        <a:rPr dirty="0" sz="16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Arquitectónico</a:t>
                      </a:r>
                      <a:endParaRPr sz="16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01/10/2026</a:t>
                      </a:r>
                      <a:r>
                        <a:rPr dirty="0" sz="1600" spc="-2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i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(Semana</a:t>
                      </a:r>
                      <a:r>
                        <a:rPr dirty="0" sz="1600" spc="-25" i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8)</a:t>
                      </a:r>
                      <a:endParaRPr sz="1600">
                        <a:latin typeface="Open Sans"/>
                        <a:cs typeface="Open Sans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600" spc="3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20%</a:t>
                      </a:r>
                      <a:endParaRPr sz="1600">
                        <a:latin typeface="Open Sans"/>
                        <a:cs typeface="Open Sans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76200" marR="69850">
                        <a:lnSpc>
                          <a:spcPct val="117200"/>
                        </a:lnSpc>
                        <a:spcBef>
                          <a:spcPts val="1445"/>
                        </a:spcBef>
                      </a:pPr>
                      <a:r>
                        <a:rPr dirty="0" sz="160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Definición</a:t>
                      </a:r>
                      <a:r>
                        <a:rPr dirty="0" sz="1600" spc="19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e</a:t>
                      </a:r>
                      <a:r>
                        <a:rPr dirty="0" sz="1600" spc="19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implementación</a:t>
                      </a:r>
                      <a:r>
                        <a:rPr dirty="0" sz="1600" spc="19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 spc="-2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del </a:t>
                      </a:r>
                      <a:r>
                        <a:rPr dirty="0" sz="1600" spc="1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modelo</a:t>
                      </a:r>
                      <a:r>
                        <a:rPr dirty="0" sz="1600" spc="19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 spc="1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arquitectónico</a:t>
                      </a:r>
                      <a:r>
                        <a:rPr dirty="0" sz="1600" spc="20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 spc="-1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modular </a:t>
                      </a:r>
                      <a:r>
                        <a:rPr dirty="0" sz="1600" spc="1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(Arquitectura</a:t>
                      </a:r>
                      <a:r>
                        <a:rPr dirty="0" sz="1600" spc="295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 spc="-1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Hexagonal).</a:t>
                      </a:r>
                      <a:endParaRPr sz="1600">
                        <a:latin typeface="Open Sans"/>
                        <a:cs typeface="Open Sans"/>
                      </a:endParaRPr>
                    </a:p>
                  </a:txBody>
                  <a:tcPr marL="0" marR="0" marB="0" marT="18351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</a:tr>
              <a:tr h="1294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5565" marR="469265">
                        <a:lnSpc>
                          <a:spcPct val="117200"/>
                        </a:lnSpc>
                      </a:pP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Fase</a:t>
                      </a:r>
                      <a:r>
                        <a:rPr dirty="0" sz="1600" spc="7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2:</a:t>
                      </a:r>
                      <a:r>
                        <a:rPr dirty="0" sz="1600" spc="7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Desarrollo</a:t>
                      </a:r>
                      <a:r>
                        <a:rPr dirty="0" sz="1600" spc="7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100%</a:t>
                      </a:r>
                      <a:r>
                        <a:rPr dirty="0" sz="1600" spc="8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</a:t>
                      </a:r>
                      <a:r>
                        <a:rPr dirty="0" sz="1600" spc="7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-2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la </a:t>
                      </a:r>
                      <a:r>
                        <a:rPr dirty="0" sz="16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Aplicación</a:t>
                      </a:r>
                      <a:endParaRPr sz="16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9271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12/11/2026</a:t>
                      </a:r>
                      <a:r>
                        <a:rPr dirty="0" sz="1600" spc="-2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i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(Semana</a:t>
                      </a:r>
                      <a:r>
                        <a:rPr dirty="0" sz="1600" spc="-25" i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14)</a:t>
                      </a:r>
                      <a:endParaRPr sz="1600">
                        <a:latin typeface="Open Sans"/>
                        <a:cs typeface="Open Sans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600" spc="5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30%</a:t>
                      </a:r>
                      <a:endParaRPr sz="1600">
                        <a:latin typeface="Open Sans"/>
                        <a:cs typeface="Open Sans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32740">
                        <a:lnSpc>
                          <a:spcPct val="117200"/>
                        </a:lnSpc>
                        <a:spcBef>
                          <a:spcPts val="320"/>
                        </a:spcBef>
                      </a:pP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Construcción</a:t>
                      </a:r>
                      <a:r>
                        <a:rPr dirty="0" sz="1600" spc="19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completa</a:t>
                      </a:r>
                      <a:r>
                        <a:rPr dirty="0" sz="1600" spc="19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-2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backend</a:t>
                      </a:r>
                      <a:r>
                        <a:rPr dirty="0" sz="1600" spc="13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(FastAPI)</a:t>
                      </a:r>
                      <a:r>
                        <a:rPr dirty="0" sz="1600" spc="13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6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y</a:t>
                      </a:r>
                      <a:r>
                        <a:rPr dirty="0" sz="1600" spc="13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frontend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(React/TS)</a:t>
                      </a:r>
                      <a:r>
                        <a:rPr dirty="0" sz="1600" spc="15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integrados</a:t>
                      </a:r>
                      <a:r>
                        <a:rPr dirty="0" sz="1600" spc="16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con</a:t>
                      </a:r>
                      <a:r>
                        <a:rPr dirty="0" sz="1600" spc="16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-2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base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</a:t>
                      </a:r>
                      <a:r>
                        <a:rPr dirty="0" sz="1600" spc="3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datos.</a:t>
                      </a:r>
                      <a:endParaRPr sz="16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1009015">
                <a:tc>
                  <a:txBody>
                    <a:bodyPr/>
                    <a:lstStyle/>
                    <a:p>
                      <a:pPr marL="75565" marR="124460">
                        <a:lnSpc>
                          <a:spcPct val="117200"/>
                        </a:lnSpc>
                        <a:spcBef>
                          <a:spcPts val="1445"/>
                        </a:spcBef>
                      </a:pP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Fase</a:t>
                      </a:r>
                      <a:r>
                        <a:rPr dirty="0" sz="1600" spc="12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3:</a:t>
                      </a:r>
                      <a:r>
                        <a:rPr dirty="0" sz="1600" spc="13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Entrega</a:t>
                      </a:r>
                      <a:r>
                        <a:rPr dirty="0" sz="1600" spc="13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Final,</a:t>
                      </a:r>
                      <a:r>
                        <a:rPr dirty="0" sz="1600" spc="13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Manuales</a:t>
                      </a:r>
                      <a:r>
                        <a:rPr dirty="0" sz="1600" spc="13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1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y </a:t>
                      </a:r>
                      <a:r>
                        <a:rPr dirty="0" sz="16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Testing</a:t>
                      </a:r>
                      <a:endParaRPr sz="16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18351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03/12/2026</a:t>
                      </a:r>
                      <a:r>
                        <a:rPr dirty="0" sz="1600" spc="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–</a:t>
                      </a:r>
                      <a:r>
                        <a:rPr dirty="0" sz="1600" spc="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10/12/2026</a:t>
                      </a:r>
                      <a:endParaRPr sz="1600">
                        <a:latin typeface="Open Sans Light"/>
                        <a:cs typeface="Open Sans Light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 i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(Semanas</a:t>
                      </a:r>
                      <a:r>
                        <a:rPr dirty="0" sz="1600" spc="-50" i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600" spc="-20" i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17–</a:t>
                      </a:r>
                      <a:r>
                        <a:rPr dirty="0" sz="1600" spc="-25" i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18)</a:t>
                      </a:r>
                      <a:endParaRPr sz="1600">
                        <a:latin typeface="Open Sans"/>
                        <a:cs typeface="Open Sans"/>
                      </a:endParaRPr>
                    </a:p>
                  </a:txBody>
                  <a:tcPr marL="0" marR="0" marB="0" marT="254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600" spc="50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30%</a:t>
                      </a:r>
                      <a:endParaRPr sz="1600">
                        <a:latin typeface="Open Sans"/>
                        <a:cs typeface="Open Sans"/>
                      </a:endParaRPr>
                    </a:p>
                  </a:txBody>
                  <a:tcPr marL="0" marR="0" marB="0" marT="1346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123825">
                        <a:lnSpc>
                          <a:spcPct val="117200"/>
                        </a:lnSpc>
                        <a:spcBef>
                          <a:spcPts val="320"/>
                        </a:spcBef>
                      </a:pPr>
                      <a:r>
                        <a:rPr dirty="0" sz="1600" spc="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Pruebas</a:t>
                      </a:r>
                      <a:r>
                        <a:rPr dirty="0" sz="1600" spc="17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(pytest/build),</a:t>
                      </a:r>
                      <a:r>
                        <a:rPr dirty="0" sz="1600" spc="17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manuales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</a:t>
                      </a:r>
                      <a:r>
                        <a:rPr dirty="0" sz="1600" spc="15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usuario,</a:t>
                      </a:r>
                      <a:r>
                        <a:rPr dirty="0" sz="1600" spc="15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despliegue</a:t>
                      </a:r>
                      <a:r>
                        <a:rPr dirty="0" sz="1600" spc="15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-2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en</a:t>
                      </a:r>
                      <a:r>
                        <a:rPr dirty="0" sz="1600" spc="5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Railway</a:t>
                      </a:r>
                      <a:r>
                        <a:rPr dirty="0" sz="1600" spc="15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6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y</a:t>
                      </a:r>
                      <a:r>
                        <a:rPr dirty="0" sz="1600" spc="16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defensa</a:t>
                      </a:r>
                      <a:r>
                        <a:rPr dirty="0" sz="1600" spc="15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6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académica.</a:t>
                      </a:r>
                      <a:endParaRPr sz="16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0590" y="8806876"/>
            <a:ext cx="3667124" cy="9048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5E7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029795" y="2657395"/>
            <a:ext cx="3369945" cy="6600825"/>
            <a:chOff x="1029795" y="2657395"/>
            <a:chExt cx="3369945" cy="6600825"/>
          </a:xfrm>
        </p:grpSpPr>
        <p:sp>
          <p:nvSpPr>
            <p:cNvPr id="4" name="object 4"/>
            <p:cNvSpPr/>
            <p:nvPr/>
          </p:nvSpPr>
          <p:spPr>
            <a:xfrm>
              <a:off x="1029795" y="8243034"/>
              <a:ext cx="842644" cy="1015365"/>
            </a:xfrm>
            <a:custGeom>
              <a:avLst/>
              <a:gdLst/>
              <a:ahLst/>
              <a:cxnLst/>
              <a:rect l="l" t="t" r="r" b="b"/>
              <a:pathLst>
                <a:path w="842644" h="1015365">
                  <a:moveTo>
                    <a:pt x="0" y="0"/>
                  </a:moveTo>
                  <a:lnTo>
                    <a:pt x="0" y="1015184"/>
                  </a:lnTo>
                  <a:lnTo>
                    <a:pt x="842403" y="507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29795" y="7227431"/>
              <a:ext cx="842644" cy="1015365"/>
            </a:xfrm>
            <a:custGeom>
              <a:avLst/>
              <a:gdLst/>
              <a:ahLst/>
              <a:cxnLst/>
              <a:rect l="l" t="t" r="r" b="b"/>
              <a:pathLst>
                <a:path w="842644" h="1015365">
                  <a:moveTo>
                    <a:pt x="0" y="0"/>
                  </a:moveTo>
                  <a:lnTo>
                    <a:pt x="0" y="1015184"/>
                  </a:lnTo>
                  <a:lnTo>
                    <a:pt x="842403" y="507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29795" y="6211806"/>
              <a:ext cx="842644" cy="1015365"/>
            </a:xfrm>
            <a:custGeom>
              <a:avLst/>
              <a:gdLst/>
              <a:ahLst/>
              <a:cxnLst/>
              <a:rect l="l" t="t" r="r" b="b"/>
              <a:pathLst>
                <a:path w="842644" h="1015365">
                  <a:moveTo>
                    <a:pt x="0" y="0"/>
                  </a:moveTo>
                  <a:lnTo>
                    <a:pt x="0" y="1015206"/>
                  </a:lnTo>
                  <a:lnTo>
                    <a:pt x="842403" y="50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29795" y="5196204"/>
              <a:ext cx="842644" cy="1015365"/>
            </a:xfrm>
            <a:custGeom>
              <a:avLst/>
              <a:gdLst/>
              <a:ahLst/>
              <a:cxnLst/>
              <a:rect l="l" t="t" r="r" b="b"/>
              <a:pathLst>
                <a:path w="842644" h="1015364">
                  <a:moveTo>
                    <a:pt x="0" y="0"/>
                  </a:moveTo>
                  <a:lnTo>
                    <a:pt x="0" y="1015184"/>
                  </a:lnTo>
                  <a:lnTo>
                    <a:pt x="842403" y="50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29795" y="4180601"/>
              <a:ext cx="842644" cy="1015365"/>
            </a:xfrm>
            <a:custGeom>
              <a:avLst/>
              <a:gdLst/>
              <a:ahLst/>
              <a:cxnLst/>
              <a:rect l="l" t="t" r="r" b="b"/>
              <a:pathLst>
                <a:path w="842644" h="1015364">
                  <a:moveTo>
                    <a:pt x="0" y="0"/>
                  </a:moveTo>
                  <a:lnTo>
                    <a:pt x="0" y="1015184"/>
                  </a:lnTo>
                  <a:lnTo>
                    <a:pt x="842403" y="507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29795" y="3164998"/>
              <a:ext cx="842644" cy="1015365"/>
            </a:xfrm>
            <a:custGeom>
              <a:avLst/>
              <a:gdLst/>
              <a:ahLst/>
              <a:cxnLst/>
              <a:rect l="l" t="t" r="r" b="b"/>
              <a:pathLst>
                <a:path w="842644" h="1015364">
                  <a:moveTo>
                    <a:pt x="0" y="0"/>
                  </a:moveTo>
                  <a:lnTo>
                    <a:pt x="0" y="1015184"/>
                  </a:lnTo>
                  <a:lnTo>
                    <a:pt x="842403" y="507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29795" y="2657395"/>
              <a:ext cx="842644" cy="1015365"/>
            </a:xfrm>
            <a:custGeom>
              <a:avLst/>
              <a:gdLst/>
              <a:ahLst/>
              <a:cxnLst/>
              <a:rect l="l" t="t" r="r" b="b"/>
              <a:pathLst>
                <a:path w="842644" h="1015364">
                  <a:moveTo>
                    <a:pt x="842403" y="0"/>
                  </a:moveTo>
                  <a:lnTo>
                    <a:pt x="0" y="507603"/>
                  </a:lnTo>
                  <a:lnTo>
                    <a:pt x="842403" y="1015184"/>
                  </a:lnTo>
                  <a:lnTo>
                    <a:pt x="842403" y="0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29795" y="4688600"/>
              <a:ext cx="842644" cy="1015365"/>
            </a:xfrm>
            <a:custGeom>
              <a:avLst/>
              <a:gdLst/>
              <a:ahLst/>
              <a:cxnLst/>
              <a:rect l="l" t="t" r="r" b="b"/>
              <a:pathLst>
                <a:path w="842644" h="1015364">
                  <a:moveTo>
                    <a:pt x="842403" y="0"/>
                  </a:moveTo>
                  <a:lnTo>
                    <a:pt x="0" y="507603"/>
                  </a:lnTo>
                  <a:lnTo>
                    <a:pt x="842403" y="1015207"/>
                  </a:lnTo>
                  <a:lnTo>
                    <a:pt x="842403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72195" y="6719836"/>
              <a:ext cx="842644" cy="2031364"/>
            </a:xfrm>
            <a:custGeom>
              <a:avLst/>
              <a:gdLst/>
              <a:ahLst/>
              <a:cxnLst/>
              <a:rect l="l" t="t" r="r" b="b"/>
              <a:pathLst>
                <a:path w="842644" h="2031365">
                  <a:moveTo>
                    <a:pt x="842403" y="1523199"/>
                  </a:moveTo>
                  <a:lnTo>
                    <a:pt x="0" y="1015606"/>
                  </a:lnTo>
                  <a:lnTo>
                    <a:pt x="0" y="2030780"/>
                  </a:lnTo>
                  <a:lnTo>
                    <a:pt x="842403" y="1523199"/>
                  </a:lnTo>
                  <a:close/>
                </a:path>
                <a:path w="842644" h="2031365">
                  <a:moveTo>
                    <a:pt x="842403" y="507606"/>
                  </a:moveTo>
                  <a:lnTo>
                    <a:pt x="0" y="0"/>
                  </a:lnTo>
                  <a:lnTo>
                    <a:pt x="0" y="1015187"/>
                  </a:lnTo>
                  <a:lnTo>
                    <a:pt x="842403" y="507606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72199" y="6211806"/>
              <a:ext cx="842644" cy="1015365"/>
            </a:xfrm>
            <a:custGeom>
              <a:avLst/>
              <a:gdLst/>
              <a:ahLst/>
              <a:cxnLst/>
              <a:rect l="l" t="t" r="r" b="b"/>
              <a:pathLst>
                <a:path w="842644" h="1015365">
                  <a:moveTo>
                    <a:pt x="842403" y="0"/>
                  </a:moveTo>
                  <a:lnTo>
                    <a:pt x="0" y="507603"/>
                  </a:lnTo>
                  <a:lnTo>
                    <a:pt x="842403" y="1015206"/>
                  </a:lnTo>
                  <a:lnTo>
                    <a:pt x="842403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72199" y="5196204"/>
              <a:ext cx="842644" cy="1015365"/>
            </a:xfrm>
            <a:custGeom>
              <a:avLst/>
              <a:gdLst/>
              <a:ahLst/>
              <a:cxnLst/>
              <a:rect l="l" t="t" r="r" b="b"/>
              <a:pathLst>
                <a:path w="842644" h="1015364">
                  <a:moveTo>
                    <a:pt x="842403" y="0"/>
                  </a:moveTo>
                  <a:lnTo>
                    <a:pt x="0" y="507603"/>
                  </a:lnTo>
                  <a:lnTo>
                    <a:pt x="842403" y="1015184"/>
                  </a:lnTo>
                  <a:lnTo>
                    <a:pt x="842403" y="0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72195" y="4180610"/>
              <a:ext cx="1685289" cy="5078095"/>
            </a:xfrm>
            <a:custGeom>
              <a:avLst/>
              <a:gdLst/>
              <a:ahLst/>
              <a:cxnLst/>
              <a:rect l="l" t="t" r="r" b="b"/>
              <a:pathLst>
                <a:path w="1685289" h="5078095">
                  <a:moveTo>
                    <a:pt x="842403" y="0"/>
                  </a:moveTo>
                  <a:lnTo>
                    <a:pt x="0" y="507580"/>
                  </a:lnTo>
                  <a:lnTo>
                    <a:pt x="842403" y="1015187"/>
                  </a:lnTo>
                  <a:lnTo>
                    <a:pt x="842403" y="0"/>
                  </a:lnTo>
                  <a:close/>
                </a:path>
                <a:path w="1685289" h="5078095">
                  <a:moveTo>
                    <a:pt x="1684807" y="4570006"/>
                  </a:moveTo>
                  <a:lnTo>
                    <a:pt x="842403" y="4062425"/>
                  </a:lnTo>
                  <a:lnTo>
                    <a:pt x="842403" y="5077612"/>
                  </a:lnTo>
                  <a:lnTo>
                    <a:pt x="1684807" y="4570006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14602" y="6211806"/>
              <a:ext cx="842644" cy="1015365"/>
            </a:xfrm>
            <a:custGeom>
              <a:avLst/>
              <a:gdLst/>
              <a:ahLst/>
              <a:cxnLst/>
              <a:rect l="l" t="t" r="r" b="b"/>
              <a:pathLst>
                <a:path w="842645" h="1015365">
                  <a:moveTo>
                    <a:pt x="0" y="0"/>
                  </a:moveTo>
                  <a:lnTo>
                    <a:pt x="0" y="1015206"/>
                  </a:lnTo>
                  <a:lnTo>
                    <a:pt x="842403" y="50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14599" y="5704229"/>
              <a:ext cx="842644" cy="3046730"/>
            </a:xfrm>
            <a:custGeom>
              <a:avLst/>
              <a:gdLst/>
              <a:ahLst/>
              <a:cxnLst/>
              <a:rect l="l" t="t" r="r" b="b"/>
              <a:pathLst>
                <a:path w="842645" h="3046729">
                  <a:moveTo>
                    <a:pt x="842403" y="2031212"/>
                  </a:moveTo>
                  <a:lnTo>
                    <a:pt x="0" y="2538806"/>
                  </a:lnTo>
                  <a:lnTo>
                    <a:pt x="842403" y="3046387"/>
                  </a:lnTo>
                  <a:lnTo>
                    <a:pt x="842403" y="2031212"/>
                  </a:lnTo>
                  <a:close/>
                </a:path>
                <a:path w="842645" h="3046729">
                  <a:moveTo>
                    <a:pt x="842403" y="0"/>
                  </a:moveTo>
                  <a:lnTo>
                    <a:pt x="0" y="507580"/>
                  </a:lnTo>
                  <a:lnTo>
                    <a:pt x="842403" y="1015187"/>
                  </a:lnTo>
                  <a:lnTo>
                    <a:pt x="842403" y="0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57003" y="6719836"/>
              <a:ext cx="842644" cy="2538730"/>
            </a:xfrm>
            <a:custGeom>
              <a:avLst/>
              <a:gdLst/>
              <a:ahLst/>
              <a:cxnLst/>
              <a:rect l="l" t="t" r="r" b="b"/>
              <a:pathLst>
                <a:path w="842645" h="2538729">
                  <a:moveTo>
                    <a:pt x="842403" y="1523199"/>
                  </a:moveTo>
                  <a:lnTo>
                    <a:pt x="0" y="2030780"/>
                  </a:lnTo>
                  <a:lnTo>
                    <a:pt x="842403" y="2538387"/>
                  </a:lnTo>
                  <a:lnTo>
                    <a:pt x="842403" y="1523199"/>
                  </a:lnTo>
                  <a:close/>
                </a:path>
                <a:path w="842645" h="2538729">
                  <a:moveTo>
                    <a:pt x="842403" y="507606"/>
                  </a:moveTo>
                  <a:lnTo>
                    <a:pt x="0" y="0"/>
                  </a:lnTo>
                  <a:lnTo>
                    <a:pt x="0" y="1015187"/>
                  </a:lnTo>
                  <a:lnTo>
                    <a:pt x="842403" y="507606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557006" y="7227431"/>
              <a:ext cx="842644" cy="1015365"/>
            </a:xfrm>
            <a:custGeom>
              <a:avLst/>
              <a:gdLst/>
              <a:ahLst/>
              <a:cxnLst/>
              <a:rect l="l" t="t" r="r" b="b"/>
              <a:pathLst>
                <a:path w="842645" h="1015365">
                  <a:moveTo>
                    <a:pt x="842403" y="0"/>
                  </a:moveTo>
                  <a:lnTo>
                    <a:pt x="0" y="507581"/>
                  </a:lnTo>
                  <a:lnTo>
                    <a:pt x="842403" y="1015184"/>
                  </a:lnTo>
                  <a:lnTo>
                    <a:pt x="842403" y="0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477201" y="2193774"/>
            <a:ext cx="9989185" cy="2816860"/>
          </a:xfrm>
          <a:prstGeom prst="rect">
            <a:avLst/>
          </a:prstGeom>
        </p:spPr>
        <p:txBody>
          <a:bodyPr wrap="square" lIns="0" tIns="323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50"/>
              </a:spcBef>
            </a:pPr>
            <a:r>
              <a:rPr dirty="0" sz="4000" spc="245" i="1">
                <a:solidFill>
                  <a:srgbClr val="18374D"/>
                </a:solidFill>
                <a:latin typeface="Arial Narrow"/>
                <a:cs typeface="Arial Narrow"/>
              </a:rPr>
              <a:t>Presupuesto</a:t>
            </a:r>
            <a:endParaRPr sz="4000">
              <a:latin typeface="Arial Narrow"/>
              <a:cs typeface="Arial Narrow"/>
            </a:endParaRPr>
          </a:p>
          <a:p>
            <a:pPr algn="just" marL="12700" marR="5080">
              <a:lnSpc>
                <a:spcPct val="115599"/>
              </a:lnSpc>
              <a:spcBef>
                <a:spcPts val="850"/>
              </a:spcBef>
            </a:pPr>
            <a:r>
              <a:rPr dirty="0" sz="2000" spc="75">
                <a:solidFill>
                  <a:srgbClr val="18374D"/>
                </a:solidFill>
                <a:latin typeface="Calibri"/>
                <a:cs typeface="Calibri"/>
              </a:rPr>
              <a:t>El</a:t>
            </a:r>
            <a:r>
              <a:rPr dirty="0" sz="2000" spc="30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00">
                <a:solidFill>
                  <a:srgbClr val="18374D"/>
                </a:solidFill>
                <a:latin typeface="Calibri"/>
                <a:cs typeface="Calibri"/>
              </a:rPr>
              <a:t>presupuesto</a:t>
            </a:r>
            <a:r>
              <a:rPr dirty="0" sz="2000" spc="32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55">
                <a:solidFill>
                  <a:srgbClr val="18374D"/>
                </a:solidFill>
                <a:latin typeface="Calibri"/>
                <a:cs typeface="Calibri"/>
              </a:rPr>
              <a:t>total</a:t>
            </a:r>
            <a:r>
              <a:rPr dirty="0" sz="2000" spc="32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4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000" spc="31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45">
                <a:solidFill>
                  <a:srgbClr val="18374D"/>
                </a:solidFill>
                <a:latin typeface="Calibri"/>
                <a:cs typeface="Calibri"/>
              </a:rPr>
              <a:t>$13.728.000</a:t>
            </a:r>
            <a:r>
              <a:rPr dirty="0" sz="2000" spc="32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240">
                <a:solidFill>
                  <a:srgbClr val="18374D"/>
                </a:solidFill>
                <a:latin typeface="Calibri"/>
                <a:cs typeface="Calibri"/>
              </a:rPr>
              <a:t>CLP</a:t>
            </a:r>
            <a:r>
              <a:rPr dirty="0" sz="2000" spc="32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14">
                <a:solidFill>
                  <a:srgbClr val="18374D"/>
                </a:solidFill>
                <a:latin typeface="Calibri"/>
                <a:cs typeface="Calibri"/>
              </a:rPr>
              <a:t>(calculado</a:t>
            </a:r>
            <a:r>
              <a:rPr dirty="0" sz="2000" spc="31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30">
                <a:solidFill>
                  <a:srgbClr val="18374D"/>
                </a:solidFill>
                <a:latin typeface="Calibri"/>
                <a:cs typeface="Calibri"/>
              </a:rPr>
              <a:t>según</a:t>
            </a:r>
            <a:r>
              <a:rPr dirty="0" sz="2000" spc="32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70">
                <a:solidFill>
                  <a:srgbClr val="18374D"/>
                </a:solidFill>
                <a:latin typeface="Calibri"/>
                <a:cs typeface="Calibri"/>
              </a:rPr>
              <a:t>la</a:t>
            </a:r>
            <a:r>
              <a:rPr dirty="0" sz="2000" spc="32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60">
                <a:solidFill>
                  <a:srgbClr val="18374D"/>
                </a:solidFill>
                <a:latin typeface="Calibri"/>
                <a:cs typeface="Calibri"/>
              </a:rPr>
              <a:t>Matriz</a:t>
            </a:r>
            <a:r>
              <a:rPr dirty="0" sz="2000" spc="31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70">
                <a:solidFill>
                  <a:srgbClr val="18374D"/>
                </a:solidFill>
                <a:latin typeface="Calibri"/>
                <a:cs typeface="Calibri"/>
              </a:rPr>
              <a:t>EDT)</a:t>
            </a:r>
            <a:r>
              <a:rPr dirty="0" sz="2000" spc="32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10">
                <a:solidFill>
                  <a:srgbClr val="18374D"/>
                </a:solidFill>
                <a:latin typeface="Calibri"/>
                <a:cs typeface="Calibri"/>
              </a:rPr>
              <a:t>cubre</a:t>
            </a:r>
            <a:r>
              <a:rPr dirty="0" sz="2000" spc="32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70">
                <a:solidFill>
                  <a:srgbClr val="18374D"/>
                </a:solidFill>
                <a:latin typeface="Calibri"/>
                <a:cs typeface="Calibri"/>
              </a:rPr>
              <a:t>las </a:t>
            </a:r>
            <a:r>
              <a:rPr dirty="0" sz="2000" spc="114">
                <a:solidFill>
                  <a:srgbClr val="18374D"/>
                </a:solidFill>
                <a:latin typeface="Calibri"/>
                <a:cs typeface="Calibri"/>
              </a:rPr>
              <a:t>18</a:t>
            </a:r>
            <a:r>
              <a:rPr dirty="0" sz="2000" spc="2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000" spc="95">
                <a:solidFill>
                  <a:srgbClr val="18374D"/>
                </a:solidFill>
                <a:latin typeface="Calibri"/>
                <a:cs typeface="Calibri"/>
              </a:rPr>
              <a:t>semanas</a:t>
            </a:r>
            <a:r>
              <a:rPr dirty="0" sz="20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000" spc="14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0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000" spc="80">
                <a:solidFill>
                  <a:srgbClr val="18374D"/>
                </a:solidFill>
                <a:latin typeface="Calibri"/>
                <a:cs typeface="Calibri"/>
              </a:rPr>
              <a:t>desarrollo</a:t>
            </a:r>
            <a:r>
              <a:rPr dirty="0" sz="2000" spc="2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000" spc="114">
                <a:solidFill>
                  <a:srgbClr val="18374D"/>
                </a:solidFill>
                <a:latin typeface="Calibri"/>
                <a:cs typeface="Calibri"/>
              </a:rPr>
              <a:t>del</a:t>
            </a:r>
            <a:r>
              <a:rPr dirty="0" sz="20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000" spc="85">
                <a:solidFill>
                  <a:srgbClr val="18374D"/>
                </a:solidFill>
                <a:latin typeface="Calibri"/>
                <a:cs typeface="Calibri"/>
              </a:rPr>
              <a:t>proyecto,</a:t>
            </a:r>
            <a:r>
              <a:rPr dirty="0" sz="20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000" spc="80">
                <a:solidFill>
                  <a:srgbClr val="18374D"/>
                </a:solidFill>
                <a:latin typeface="Calibri"/>
                <a:cs typeface="Calibri"/>
              </a:rPr>
              <a:t>el</a:t>
            </a:r>
            <a:r>
              <a:rPr dirty="0" sz="2000" spc="2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000" spc="120">
                <a:solidFill>
                  <a:srgbClr val="18374D"/>
                </a:solidFill>
                <a:latin typeface="Calibri"/>
                <a:cs typeface="Calibri"/>
              </a:rPr>
              <a:t>costo</a:t>
            </a:r>
            <a:r>
              <a:rPr dirty="0" sz="20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000" spc="14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0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000" spc="95">
                <a:solidFill>
                  <a:srgbClr val="18374D"/>
                </a:solidFill>
                <a:latin typeface="Calibri"/>
                <a:cs typeface="Calibri"/>
              </a:rPr>
              <a:t>las</a:t>
            </a:r>
            <a:r>
              <a:rPr dirty="0" sz="2000" spc="2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000" spc="135">
                <a:solidFill>
                  <a:srgbClr val="18374D"/>
                </a:solidFill>
                <a:latin typeface="Calibri"/>
                <a:cs typeface="Calibri"/>
              </a:rPr>
              <a:t>horas-</a:t>
            </a:r>
            <a:r>
              <a:rPr dirty="0" sz="2000" spc="75">
                <a:solidFill>
                  <a:srgbClr val="18374D"/>
                </a:solidFill>
                <a:latin typeface="Calibri"/>
                <a:cs typeface="Calibri"/>
              </a:rPr>
              <a:t>hombre</a:t>
            </a:r>
            <a:r>
              <a:rPr dirty="0" sz="2000" spc="30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000" spc="114">
                <a:solidFill>
                  <a:srgbClr val="18374D"/>
                </a:solidFill>
                <a:latin typeface="Calibri"/>
                <a:cs typeface="Calibri"/>
              </a:rPr>
              <a:t>del</a:t>
            </a:r>
            <a:r>
              <a:rPr dirty="0" sz="2000" spc="25">
                <a:solidFill>
                  <a:srgbClr val="18374D"/>
                </a:solidFill>
                <a:latin typeface="Calibri"/>
                <a:cs typeface="Calibri"/>
              </a:rPr>
              <a:t>  </a:t>
            </a:r>
            <a:r>
              <a:rPr dirty="0" sz="2000" spc="105">
                <a:solidFill>
                  <a:srgbClr val="18374D"/>
                </a:solidFill>
                <a:latin typeface="Calibri"/>
                <a:cs typeface="Calibri"/>
              </a:rPr>
              <a:t>equipo </a:t>
            </a:r>
            <a:r>
              <a:rPr dirty="0" sz="2000" spc="110">
                <a:solidFill>
                  <a:srgbClr val="18374D"/>
                </a:solidFill>
                <a:latin typeface="Calibri"/>
                <a:cs typeface="Calibri"/>
              </a:rPr>
              <a:t>técnico,</a:t>
            </a:r>
            <a:r>
              <a:rPr dirty="0" sz="2000" spc="2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70">
                <a:solidFill>
                  <a:srgbClr val="18374D"/>
                </a:solidFill>
                <a:latin typeface="Calibri"/>
                <a:cs typeface="Calibri"/>
              </a:rPr>
              <a:t>la</a:t>
            </a:r>
            <a:r>
              <a:rPr dirty="0" sz="2000" spc="2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60">
                <a:solidFill>
                  <a:srgbClr val="18374D"/>
                </a:solidFill>
                <a:latin typeface="Calibri"/>
                <a:cs typeface="Calibri"/>
              </a:rPr>
              <a:t>infraestructura</a:t>
            </a:r>
            <a:r>
              <a:rPr dirty="0" sz="2000" spc="229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30">
                <a:solidFill>
                  <a:srgbClr val="18374D"/>
                </a:solidFill>
                <a:latin typeface="Calibri"/>
                <a:cs typeface="Calibri"/>
              </a:rPr>
              <a:t>cloud</a:t>
            </a:r>
            <a:r>
              <a:rPr dirty="0" sz="2000" spc="2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80">
                <a:solidFill>
                  <a:srgbClr val="18374D"/>
                </a:solidFill>
                <a:latin typeface="Calibri"/>
                <a:cs typeface="Calibri"/>
              </a:rPr>
              <a:t>en</a:t>
            </a:r>
            <a:r>
              <a:rPr dirty="0" sz="2000" spc="2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85">
                <a:solidFill>
                  <a:srgbClr val="18374D"/>
                </a:solidFill>
                <a:latin typeface="Calibri"/>
                <a:cs typeface="Calibri"/>
              </a:rPr>
              <a:t>Railway</a:t>
            </a:r>
            <a:r>
              <a:rPr dirty="0" sz="2000" spc="229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70">
                <a:solidFill>
                  <a:srgbClr val="18374D"/>
                </a:solidFill>
                <a:latin typeface="Calibri"/>
                <a:cs typeface="Calibri"/>
              </a:rPr>
              <a:t>y</a:t>
            </a:r>
            <a:r>
              <a:rPr dirty="0" sz="2000" spc="2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60">
                <a:solidFill>
                  <a:srgbClr val="18374D"/>
                </a:solidFill>
                <a:latin typeface="Calibri"/>
                <a:cs typeface="Calibri"/>
              </a:rPr>
              <a:t>un</a:t>
            </a:r>
            <a:r>
              <a:rPr dirty="0" sz="2000" spc="2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00">
                <a:solidFill>
                  <a:srgbClr val="18374D"/>
                </a:solidFill>
                <a:latin typeface="Calibri"/>
                <a:cs typeface="Calibri"/>
              </a:rPr>
              <a:t>10%</a:t>
            </a:r>
            <a:r>
              <a:rPr dirty="0" sz="2000" spc="229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4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000" spc="2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85">
                <a:solidFill>
                  <a:srgbClr val="18374D"/>
                </a:solidFill>
                <a:latin typeface="Calibri"/>
                <a:cs typeface="Calibri"/>
              </a:rPr>
              <a:t>margen</a:t>
            </a:r>
            <a:r>
              <a:rPr dirty="0" sz="2000" spc="2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4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000" spc="229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20">
                <a:solidFill>
                  <a:srgbClr val="18374D"/>
                </a:solidFill>
                <a:latin typeface="Calibri"/>
                <a:cs typeface="Calibri"/>
              </a:rPr>
              <a:t>contingencia.</a:t>
            </a:r>
            <a:r>
              <a:rPr dirty="0" sz="2000" spc="225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60">
                <a:solidFill>
                  <a:srgbClr val="18374D"/>
                </a:solidFill>
                <a:latin typeface="Calibri"/>
                <a:cs typeface="Calibri"/>
              </a:rPr>
              <a:t>La </a:t>
            </a:r>
            <a:r>
              <a:rPr dirty="0" sz="2000" spc="95">
                <a:solidFill>
                  <a:srgbClr val="18374D"/>
                </a:solidFill>
                <a:latin typeface="Calibri"/>
                <a:cs typeface="Calibri"/>
              </a:rPr>
              <a:t>distribución</a:t>
            </a:r>
            <a:r>
              <a:rPr dirty="0" sz="2000" spc="48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85">
                <a:solidFill>
                  <a:srgbClr val="18374D"/>
                </a:solidFill>
                <a:latin typeface="Calibri"/>
                <a:cs typeface="Calibri"/>
              </a:rPr>
              <a:t>por</a:t>
            </a:r>
            <a:r>
              <a:rPr dirty="0" sz="2000" spc="484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00">
                <a:solidFill>
                  <a:srgbClr val="18374D"/>
                </a:solidFill>
                <a:latin typeface="Calibri"/>
                <a:cs typeface="Calibri"/>
              </a:rPr>
              <a:t>fases</a:t>
            </a:r>
            <a:r>
              <a:rPr dirty="0" sz="2000" spc="48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20">
                <a:solidFill>
                  <a:srgbClr val="18374D"/>
                </a:solidFill>
                <a:latin typeface="Calibri"/>
                <a:cs typeface="Calibri"/>
              </a:rPr>
              <a:t>se</a:t>
            </a:r>
            <a:r>
              <a:rPr dirty="0" sz="2000" spc="484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75">
                <a:solidFill>
                  <a:srgbClr val="18374D"/>
                </a:solidFill>
                <a:latin typeface="Calibri"/>
                <a:cs typeface="Calibri"/>
              </a:rPr>
              <a:t>ajusta</a:t>
            </a:r>
            <a:r>
              <a:rPr dirty="0" sz="2000" spc="48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80">
                <a:solidFill>
                  <a:srgbClr val="18374D"/>
                </a:solidFill>
                <a:latin typeface="Calibri"/>
                <a:cs typeface="Calibri"/>
              </a:rPr>
              <a:t>directamente</a:t>
            </a:r>
            <a:r>
              <a:rPr dirty="0" sz="2000" spc="484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70">
                <a:solidFill>
                  <a:srgbClr val="18374D"/>
                </a:solidFill>
                <a:latin typeface="Calibri"/>
                <a:cs typeface="Calibri"/>
              </a:rPr>
              <a:t>al</a:t>
            </a:r>
            <a:r>
              <a:rPr dirty="0" sz="2000" spc="48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70">
                <a:solidFill>
                  <a:srgbClr val="18374D"/>
                </a:solidFill>
                <a:latin typeface="Calibri"/>
                <a:cs typeface="Calibri"/>
              </a:rPr>
              <a:t>nivel</a:t>
            </a:r>
            <a:r>
              <a:rPr dirty="0" sz="2000" spc="484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40">
                <a:solidFill>
                  <a:srgbClr val="18374D"/>
                </a:solidFill>
                <a:latin typeface="Calibri"/>
                <a:cs typeface="Calibri"/>
              </a:rPr>
              <a:t>de</a:t>
            </a:r>
            <a:r>
              <a:rPr dirty="0" sz="2000" spc="484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85">
                <a:solidFill>
                  <a:srgbClr val="18374D"/>
                </a:solidFill>
                <a:latin typeface="Calibri"/>
                <a:cs typeface="Calibri"/>
              </a:rPr>
              <a:t>esfuerzo</a:t>
            </a:r>
            <a:r>
              <a:rPr dirty="0" sz="2000" spc="48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00">
                <a:solidFill>
                  <a:srgbClr val="18374D"/>
                </a:solidFill>
                <a:latin typeface="Calibri"/>
                <a:cs typeface="Calibri"/>
              </a:rPr>
              <a:t>e</a:t>
            </a:r>
            <a:r>
              <a:rPr dirty="0" sz="2000" spc="484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95">
                <a:solidFill>
                  <a:srgbClr val="18374D"/>
                </a:solidFill>
                <a:latin typeface="Calibri"/>
                <a:cs typeface="Calibri"/>
              </a:rPr>
              <a:t>intensidad</a:t>
            </a:r>
            <a:r>
              <a:rPr dirty="0" sz="2000" spc="48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14">
                <a:solidFill>
                  <a:srgbClr val="18374D"/>
                </a:solidFill>
                <a:latin typeface="Calibri"/>
                <a:cs typeface="Calibri"/>
              </a:rPr>
              <a:t>de </a:t>
            </a:r>
            <a:r>
              <a:rPr dirty="0" sz="2000" spc="145">
                <a:solidFill>
                  <a:srgbClr val="18374D"/>
                </a:solidFill>
                <a:latin typeface="Calibri"/>
                <a:cs typeface="Calibri"/>
              </a:rPr>
              <a:t>cada</a:t>
            </a:r>
            <a:r>
              <a:rPr dirty="0" sz="2000" spc="114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55">
                <a:solidFill>
                  <a:srgbClr val="18374D"/>
                </a:solidFill>
                <a:latin typeface="Calibri"/>
                <a:cs typeface="Calibri"/>
              </a:rPr>
              <a:t>hito</a:t>
            </a:r>
            <a:r>
              <a:rPr dirty="0" sz="2000" spc="114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sz="2000" spc="110">
                <a:solidFill>
                  <a:srgbClr val="18374D"/>
                </a:solidFill>
                <a:latin typeface="Calibri"/>
                <a:cs typeface="Calibri"/>
              </a:rPr>
              <a:t>académico.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1070462" y="980662"/>
            <a:ext cx="5231130" cy="1612900"/>
          </a:xfrm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230"/>
              </a:lnSpc>
              <a:spcBef>
                <a:spcPts val="235"/>
              </a:spcBef>
            </a:pPr>
            <a:r>
              <a:rPr dirty="0" sz="5200" spc="-90"/>
              <a:t>C</a:t>
            </a:r>
            <a:r>
              <a:rPr dirty="0" sz="5200" spc="-670"/>
              <a:t> </a:t>
            </a:r>
            <a:r>
              <a:rPr dirty="0" sz="5200" spc="-180"/>
              <a:t>O</a:t>
            </a:r>
            <a:r>
              <a:rPr dirty="0" sz="5200" spc="-690"/>
              <a:t> </a:t>
            </a:r>
            <a:r>
              <a:rPr dirty="0" sz="5200" spc="1070"/>
              <a:t>S</a:t>
            </a:r>
            <a:r>
              <a:rPr dirty="0" sz="5200" spc="955"/>
              <a:t>T</a:t>
            </a:r>
            <a:r>
              <a:rPr dirty="0" sz="5200" spc="305"/>
              <a:t>O</a:t>
            </a:r>
            <a:r>
              <a:rPr dirty="0" sz="5200" spc="-685"/>
              <a:t> </a:t>
            </a:r>
            <a:r>
              <a:rPr dirty="0" sz="5200" spc="590"/>
              <a:t>S</a:t>
            </a:r>
            <a:r>
              <a:rPr dirty="0" sz="5200" spc="15"/>
              <a:t>  </a:t>
            </a:r>
            <a:r>
              <a:rPr dirty="0" sz="5200" spc="345"/>
              <a:t>P</a:t>
            </a:r>
            <a:r>
              <a:rPr dirty="0" sz="5200" spc="-660"/>
              <a:t> </a:t>
            </a:r>
            <a:r>
              <a:rPr dirty="0" sz="5200" spc="-180"/>
              <a:t>O</a:t>
            </a:r>
            <a:r>
              <a:rPr dirty="0" sz="5200" spc="-670"/>
              <a:t> </a:t>
            </a:r>
            <a:r>
              <a:rPr dirty="0" sz="5200" spc="400"/>
              <a:t>R </a:t>
            </a:r>
            <a:r>
              <a:rPr dirty="0" sz="5200" spc="350"/>
              <a:t>FA</a:t>
            </a:r>
            <a:r>
              <a:rPr dirty="0" sz="5200" spc="-670"/>
              <a:t> </a:t>
            </a:r>
            <a:r>
              <a:rPr dirty="0" sz="5200" spc="590"/>
              <a:t>S</a:t>
            </a:r>
            <a:r>
              <a:rPr dirty="0" sz="5200" spc="-670"/>
              <a:t> </a:t>
            </a:r>
            <a:r>
              <a:rPr dirty="0" sz="5200" spc="165"/>
              <a:t>E</a:t>
            </a:r>
            <a:endParaRPr sz="5200"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4540274" y="5180639"/>
          <a:ext cx="8987790" cy="4174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5760"/>
                <a:gridCol w="3272790"/>
                <a:gridCol w="2722245"/>
              </a:tblGrid>
              <a:tr h="78549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2200" spc="-6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Fase</a:t>
                      </a:r>
                      <a:r>
                        <a:rPr dirty="0" sz="2200" spc="-85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 </a:t>
                      </a:r>
                      <a:r>
                        <a:rPr dirty="0" sz="2200" spc="-2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del</a:t>
                      </a:r>
                      <a:r>
                        <a:rPr dirty="0" sz="2200" spc="-11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 </a:t>
                      </a:r>
                      <a:r>
                        <a:rPr dirty="0" sz="2200" spc="-1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Proyecto</a:t>
                      </a:r>
                      <a:endParaRPr sz="22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2159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2200" spc="-1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Ponderación</a:t>
                      </a:r>
                      <a:endParaRPr sz="22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2159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2200" spc="-2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Costo</a:t>
                      </a:r>
                      <a:r>
                        <a:rPr dirty="0" sz="2200" spc="-9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 </a:t>
                      </a:r>
                      <a:r>
                        <a:rPr dirty="0" sz="2200" spc="-65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Total</a:t>
                      </a:r>
                      <a:r>
                        <a:rPr dirty="0" sz="2200" spc="-75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 </a:t>
                      </a:r>
                      <a:r>
                        <a:rPr dirty="0" sz="2200" spc="-20" b="1">
                          <a:solidFill>
                            <a:srgbClr val="FFFFFF"/>
                          </a:solidFill>
                          <a:latin typeface="Open Sans Extrabold"/>
                          <a:cs typeface="Open Sans Extrabold"/>
                        </a:rPr>
                        <a:t>(CLP)</a:t>
                      </a:r>
                      <a:endParaRPr sz="2200">
                        <a:latin typeface="Open Sans Extrabold"/>
                        <a:cs typeface="Open Sans Extrabold"/>
                      </a:endParaRPr>
                    </a:p>
                  </a:txBody>
                  <a:tcPr marL="0" marR="0" marB="0" marT="2159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06781"/>
                    </a:solidFill>
                  </a:tcPr>
                </a:tc>
              </a:tr>
              <a:tr h="803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4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Fase</a:t>
                      </a:r>
                      <a:r>
                        <a:rPr dirty="0" sz="1400" spc="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1:</a:t>
                      </a:r>
                      <a:r>
                        <a:rPr dirty="0" sz="1400" spc="10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Definición</a:t>
                      </a:r>
                      <a:r>
                        <a:rPr dirty="0" sz="1400" spc="10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del</a:t>
                      </a:r>
                      <a:r>
                        <a:rPr dirty="0" sz="1400" spc="10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Proyecto</a:t>
                      </a:r>
                      <a:endParaRPr sz="14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7493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5565" marR="351155">
                        <a:lnSpc>
                          <a:spcPct val="113599"/>
                        </a:lnSpc>
                      </a:pP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Levantamiento</a:t>
                      </a:r>
                      <a:r>
                        <a:rPr dirty="0" sz="1100" spc="13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</a:t>
                      </a:r>
                      <a:r>
                        <a:rPr dirty="0" sz="1100" spc="13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requerimientos,</a:t>
                      </a:r>
                      <a:r>
                        <a:rPr dirty="0" sz="1100" spc="13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Acta</a:t>
                      </a:r>
                      <a:r>
                        <a:rPr dirty="0" sz="1100" spc="13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spc="-2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Constitución,</a:t>
                      </a:r>
                      <a:r>
                        <a:rPr dirty="0" sz="1100" spc="4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ERS,</a:t>
                      </a:r>
                      <a:r>
                        <a:rPr dirty="0" sz="1100" spc="4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Casos</a:t>
                      </a:r>
                      <a:r>
                        <a:rPr dirty="0" sz="1100" spc="4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</a:t>
                      </a:r>
                      <a:r>
                        <a:rPr dirty="0" sz="1100" spc="4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Uso</a:t>
                      </a:r>
                      <a:r>
                        <a:rPr dirty="0" sz="1100" spc="4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spc="5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y</a:t>
                      </a:r>
                      <a:r>
                        <a:rPr dirty="0" sz="1100" spc="4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Mockups.</a:t>
                      </a:r>
                      <a:endParaRPr sz="11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4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$2.745.600</a:t>
                      </a:r>
                      <a:r>
                        <a:rPr dirty="0" sz="1400" spc="1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spc="-2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CLP</a:t>
                      </a:r>
                      <a:endParaRPr sz="14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7493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803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4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Fase</a:t>
                      </a:r>
                      <a:r>
                        <a:rPr dirty="0" sz="1400" spc="8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2:</a:t>
                      </a:r>
                      <a:r>
                        <a:rPr dirty="0" sz="1400" spc="8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Arquitectura</a:t>
                      </a:r>
                      <a:r>
                        <a:rPr dirty="0" sz="1400" spc="8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spc="6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y</a:t>
                      </a:r>
                      <a:r>
                        <a:rPr dirty="0" sz="1400" spc="8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Desarrollo</a:t>
                      </a:r>
                      <a:endParaRPr sz="14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7493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154940">
                        <a:lnSpc>
                          <a:spcPct val="116500"/>
                        </a:lnSpc>
                        <a:spcBef>
                          <a:spcPts val="630"/>
                        </a:spcBef>
                      </a:pP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Diseño</a:t>
                      </a:r>
                      <a:r>
                        <a:rPr dirty="0" sz="11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del</a:t>
                      </a:r>
                      <a:r>
                        <a:rPr dirty="0" sz="11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modelo</a:t>
                      </a:r>
                      <a:r>
                        <a:rPr dirty="0" sz="11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arquitectónico</a:t>
                      </a:r>
                      <a:r>
                        <a:rPr dirty="0" sz="11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modular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(20%)</a:t>
                      </a:r>
                      <a:r>
                        <a:rPr dirty="0" sz="1100" spc="4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spc="5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y</a:t>
                      </a:r>
                      <a:r>
                        <a:rPr dirty="0" sz="1100" spc="4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desarrollo</a:t>
                      </a:r>
                      <a:r>
                        <a:rPr dirty="0" sz="1100" spc="4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del</a:t>
                      </a:r>
                      <a:r>
                        <a:rPr dirty="0" sz="1100" spc="4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100%</a:t>
                      </a:r>
                      <a:r>
                        <a:rPr dirty="0" sz="1100" spc="4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</a:t>
                      </a:r>
                      <a:r>
                        <a:rPr dirty="0" sz="1100" spc="4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las</a:t>
                      </a:r>
                      <a:r>
                        <a:rPr dirty="0" sz="1100" spc="4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aplicaciones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frontend/backend</a:t>
                      </a:r>
                      <a:r>
                        <a:rPr dirty="0" sz="1100" spc="24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(30%).</a:t>
                      </a:r>
                      <a:endParaRPr sz="11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8001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4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$6.864.000</a:t>
                      </a:r>
                      <a:r>
                        <a:rPr dirty="0" sz="1400" spc="1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spc="-2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CLP</a:t>
                      </a:r>
                      <a:endParaRPr sz="14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7493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</a:tr>
              <a:tr h="9791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5565" marR="882015">
                        <a:lnSpc>
                          <a:spcPct val="116100"/>
                        </a:lnSpc>
                      </a:pPr>
                      <a:r>
                        <a:rPr dirty="0" sz="14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Fase</a:t>
                      </a:r>
                      <a:r>
                        <a:rPr dirty="0" sz="1400" spc="9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3:</a:t>
                      </a:r>
                      <a:r>
                        <a:rPr dirty="0" sz="14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Cierre,</a:t>
                      </a:r>
                      <a:r>
                        <a:rPr dirty="0" sz="14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Testing</a:t>
                      </a:r>
                      <a:r>
                        <a:rPr dirty="0" sz="14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spc="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y </a:t>
                      </a:r>
                      <a:r>
                        <a:rPr dirty="0" sz="14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Despliegue</a:t>
                      </a:r>
                      <a:endParaRPr sz="14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254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5565" marR="81915">
                        <a:lnSpc>
                          <a:spcPct val="116500"/>
                        </a:lnSpc>
                      </a:pPr>
                      <a:r>
                        <a:rPr dirty="0" sz="1100" spc="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Pruebas</a:t>
                      </a:r>
                      <a:r>
                        <a:rPr dirty="0" sz="1100" spc="4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spc="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</a:t>
                      </a:r>
                      <a:r>
                        <a:rPr dirty="0" sz="1100" spc="5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spc="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integración</a:t>
                      </a:r>
                      <a:r>
                        <a:rPr dirty="0" sz="1100" spc="5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spc="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(pytest/build),</a:t>
                      </a:r>
                      <a:r>
                        <a:rPr dirty="0" sz="1100" spc="5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manuales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</a:t>
                      </a:r>
                      <a:r>
                        <a:rPr dirty="0" sz="11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usuario,</a:t>
                      </a:r>
                      <a:r>
                        <a:rPr dirty="0" sz="1100" spc="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despliegue</a:t>
                      </a:r>
                      <a:r>
                        <a:rPr dirty="0" sz="1100" spc="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en</a:t>
                      </a:r>
                      <a:r>
                        <a:rPr dirty="0" sz="1100" spc="9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Railway</a:t>
                      </a:r>
                      <a:r>
                        <a:rPr dirty="0" sz="1100" spc="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y</a:t>
                      </a:r>
                      <a:r>
                        <a:rPr dirty="0" sz="1100" spc="5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presentación</a:t>
                      </a:r>
                      <a:r>
                        <a:rPr dirty="0" sz="1100" spc="13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100" spc="-1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final.</a:t>
                      </a:r>
                      <a:endParaRPr sz="11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14604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400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$4.118.400</a:t>
                      </a:r>
                      <a:r>
                        <a:rPr dirty="0" sz="1400" spc="1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 </a:t>
                      </a:r>
                      <a:r>
                        <a:rPr dirty="0" sz="1400" spc="-25" b="0">
                          <a:solidFill>
                            <a:srgbClr val="18374D"/>
                          </a:solidFill>
                          <a:latin typeface="Open Sans Light"/>
                          <a:cs typeface="Open Sans Light"/>
                        </a:rPr>
                        <a:t>CLP</a:t>
                      </a:r>
                      <a:endParaRPr sz="1400">
                        <a:latin typeface="Open Sans Light"/>
                        <a:cs typeface="Open Sans Light"/>
                      </a:endParaRPr>
                    </a:p>
                  </a:txBody>
                  <a:tcPr marL="0" marR="0" marB="0" marT="16065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803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  <a:r>
                        <a:rPr dirty="0" sz="1400" spc="-45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GENERAL</a:t>
                      </a:r>
                      <a:endParaRPr sz="1400">
                        <a:latin typeface="Open Sans"/>
                        <a:cs typeface="Open Sans"/>
                      </a:endParaRPr>
                    </a:p>
                  </a:txBody>
                  <a:tcPr marL="0" marR="0" marB="0" marT="7493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5565" marR="165100">
                        <a:lnSpc>
                          <a:spcPct val="113599"/>
                        </a:lnSpc>
                      </a:pPr>
                      <a:r>
                        <a:rPr dirty="0" sz="1100" spc="-10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Presupuesto </a:t>
                      </a:r>
                      <a:r>
                        <a:rPr dirty="0" sz="1100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  <a:r>
                        <a:rPr dirty="0" sz="1100" spc="-10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consolidado </a:t>
                      </a:r>
                      <a:r>
                        <a:rPr dirty="0" sz="1100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del</a:t>
                      </a:r>
                      <a:r>
                        <a:rPr dirty="0" sz="1100" spc="-5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proyecto </a:t>
                      </a:r>
                      <a:r>
                        <a:rPr dirty="0" sz="1100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(incluye</a:t>
                      </a:r>
                      <a:r>
                        <a:rPr dirty="0" sz="1100" spc="-40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100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10%</a:t>
                      </a:r>
                      <a:r>
                        <a:rPr dirty="0" sz="1100" spc="-35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100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100" spc="-35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contingencia).</a:t>
                      </a:r>
                      <a:endParaRPr sz="1100">
                        <a:latin typeface="Open Sans"/>
                        <a:cs typeface="Open Sans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$13.728.000</a:t>
                      </a:r>
                      <a:r>
                        <a:rPr dirty="0" sz="1400" spc="-35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18374D"/>
                          </a:solidFill>
                          <a:latin typeface="Open Sans"/>
                          <a:cs typeface="Open Sans"/>
                        </a:rPr>
                        <a:t>CLP</a:t>
                      </a:r>
                      <a:endParaRPr sz="1400">
                        <a:latin typeface="Open Sans"/>
                        <a:cs typeface="Open Sans"/>
                      </a:endParaRPr>
                    </a:p>
                  </a:txBody>
                  <a:tcPr marL="0" marR="0" marB="0" marT="7493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6998AB"/>
                    </a:solidFill>
                  </a:tcPr>
                </a:tc>
              </a:tr>
            </a:tbl>
          </a:graphicData>
        </a:graphic>
      </p:graphicFrame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0590" y="8806876"/>
            <a:ext cx="3667124" cy="9048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95"/>
              <a:t>T</a:t>
            </a:r>
            <a:r>
              <a:rPr dirty="0" spc="-935"/>
              <a:t> </a:t>
            </a:r>
            <a:r>
              <a:rPr dirty="0" spc="260"/>
              <a:t>E</a:t>
            </a:r>
            <a:r>
              <a:rPr dirty="0" spc="-930"/>
              <a:t> </a:t>
            </a:r>
            <a:r>
              <a:rPr dirty="0" spc="-120"/>
              <a:t>C</a:t>
            </a:r>
            <a:r>
              <a:rPr dirty="0" spc="-930"/>
              <a:t> </a:t>
            </a:r>
            <a:r>
              <a:rPr dirty="0" spc="475"/>
              <a:t>N</a:t>
            </a:r>
            <a:r>
              <a:rPr dirty="0" spc="-930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280"/>
              <a:t>L</a:t>
            </a:r>
            <a:r>
              <a:rPr dirty="0" spc="-930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-305"/>
              <a:t>G</a:t>
            </a:r>
            <a:r>
              <a:rPr dirty="0" spc="-930"/>
              <a:t> </a:t>
            </a:r>
            <a:r>
              <a:rPr dirty="0" spc="340"/>
              <a:t>Í</a:t>
            </a:r>
            <a:r>
              <a:rPr dirty="0" spc="-930"/>
              <a:t> </a:t>
            </a:r>
            <a:r>
              <a:rPr dirty="0" spc="-114"/>
              <a:t>A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09699" y="2940574"/>
            <a:ext cx="161925" cy="1619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09699" y="3559699"/>
            <a:ext cx="161925" cy="1619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09699" y="4797948"/>
            <a:ext cx="161925" cy="1619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09699" y="5417073"/>
            <a:ext cx="161925" cy="1619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09699" y="6036199"/>
            <a:ext cx="161925" cy="1619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490534" y="5400141"/>
            <a:ext cx="1252855" cy="1245870"/>
          </a:xfrm>
          <a:custGeom>
            <a:avLst/>
            <a:gdLst/>
            <a:ahLst/>
            <a:cxnLst/>
            <a:rect l="l" t="t" r="r" b="b"/>
            <a:pathLst>
              <a:path w="1252854" h="1245870">
                <a:moveTo>
                  <a:pt x="932662" y="277241"/>
                </a:moveTo>
                <a:lnTo>
                  <a:pt x="932522" y="226275"/>
                </a:lnTo>
                <a:lnTo>
                  <a:pt x="932561" y="203415"/>
                </a:lnTo>
                <a:lnTo>
                  <a:pt x="932611" y="156032"/>
                </a:lnTo>
                <a:lnTo>
                  <a:pt x="924217" y="115074"/>
                </a:lnTo>
                <a:lnTo>
                  <a:pt x="884555" y="62763"/>
                </a:lnTo>
                <a:lnTo>
                  <a:pt x="815162" y="24511"/>
                </a:lnTo>
                <a:lnTo>
                  <a:pt x="773112" y="11811"/>
                </a:lnTo>
                <a:lnTo>
                  <a:pt x="729843" y="4267"/>
                </a:lnTo>
                <a:lnTo>
                  <a:pt x="685800" y="914"/>
                </a:lnTo>
                <a:lnTo>
                  <a:pt x="642404" y="0"/>
                </a:lnTo>
                <a:lnTo>
                  <a:pt x="598957" y="266"/>
                </a:lnTo>
                <a:lnTo>
                  <a:pt x="555510" y="1549"/>
                </a:lnTo>
                <a:lnTo>
                  <a:pt x="512140" y="3721"/>
                </a:lnTo>
                <a:lnTo>
                  <a:pt x="510095" y="3924"/>
                </a:lnTo>
                <a:lnTo>
                  <a:pt x="510095" y="148971"/>
                </a:lnTo>
                <a:lnTo>
                  <a:pt x="505447" y="170002"/>
                </a:lnTo>
                <a:lnTo>
                  <a:pt x="493382" y="187464"/>
                </a:lnTo>
                <a:lnTo>
                  <a:pt x="476008" y="199301"/>
                </a:lnTo>
                <a:lnTo>
                  <a:pt x="455409" y="203415"/>
                </a:lnTo>
                <a:lnTo>
                  <a:pt x="434555" y="198602"/>
                </a:lnTo>
                <a:lnTo>
                  <a:pt x="417245" y="186397"/>
                </a:lnTo>
                <a:lnTo>
                  <a:pt x="405523" y="168884"/>
                </a:lnTo>
                <a:lnTo>
                  <a:pt x="401396" y="148145"/>
                </a:lnTo>
                <a:lnTo>
                  <a:pt x="406171" y="127292"/>
                </a:lnTo>
                <a:lnTo>
                  <a:pt x="418426" y="110070"/>
                </a:lnTo>
                <a:lnTo>
                  <a:pt x="436029" y="98488"/>
                </a:lnTo>
                <a:lnTo>
                  <a:pt x="456907" y="94576"/>
                </a:lnTo>
                <a:lnTo>
                  <a:pt x="477532" y="99402"/>
                </a:lnTo>
                <a:lnTo>
                  <a:pt x="494538" y="111353"/>
                </a:lnTo>
                <a:lnTo>
                  <a:pt x="506018" y="128524"/>
                </a:lnTo>
                <a:lnTo>
                  <a:pt x="510095" y="148971"/>
                </a:lnTo>
                <a:lnTo>
                  <a:pt x="510095" y="3924"/>
                </a:lnTo>
                <a:lnTo>
                  <a:pt x="441172" y="14160"/>
                </a:lnTo>
                <a:lnTo>
                  <a:pt x="374180" y="40627"/>
                </a:lnTo>
                <a:lnTo>
                  <a:pt x="339001" y="70802"/>
                </a:lnTo>
                <a:lnTo>
                  <a:pt x="323951" y="114541"/>
                </a:lnTo>
                <a:lnTo>
                  <a:pt x="323735" y="123990"/>
                </a:lnTo>
                <a:lnTo>
                  <a:pt x="323850" y="128524"/>
                </a:lnTo>
                <a:lnTo>
                  <a:pt x="323977" y="133451"/>
                </a:lnTo>
                <a:lnTo>
                  <a:pt x="324370" y="142938"/>
                </a:lnTo>
                <a:lnTo>
                  <a:pt x="324485" y="148145"/>
                </a:lnTo>
                <a:lnTo>
                  <a:pt x="324612" y="226275"/>
                </a:lnTo>
                <a:lnTo>
                  <a:pt x="324624" y="279336"/>
                </a:lnTo>
                <a:lnTo>
                  <a:pt x="615581" y="279336"/>
                </a:lnTo>
                <a:lnTo>
                  <a:pt x="629564" y="294932"/>
                </a:lnTo>
                <a:lnTo>
                  <a:pt x="629539" y="322059"/>
                </a:lnTo>
                <a:lnTo>
                  <a:pt x="624141" y="322376"/>
                </a:lnTo>
                <a:lnTo>
                  <a:pt x="621017" y="322732"/>
                </a:lnTo>
                <a:lnTo>
                  <a:pt x="189433" y="322732"/>
                </a:lnTo>
                <a:lnTo>
                  <a:pt x="179895" y="323151"/>
                </a:lnTo>
                <a:lnTo>
                  <a:pt x="126492" y="337553"/>
                </a:lnTo>
                <a:lnTo>
                  <a:pt x="90119" y="359384"/>
                </a:lnTo>
                <a:lnTo>
                  <a:pt x="60921" y="388772"/>
                </a:lnTo>
                <a:lnTo>
                  <a:pt x="38049" y="424764"/>
                </a:lnTo>
                <a:lnTo>
                  <a:pt x="20701" y="466407"/>
                </a:lnTo>
                <a:lnTo>
                  <a:pt x="5308" y="532295"/>
                </a:lnTo>
                <a:lnTo>
                  <a:pt x="0" y="599795"/>
                </a:lnTo>
                <a:lnTo>
                  <a:pt x="88" y="655129"/>
                </a:lnTo>
                <a:lnTo>
                  <a:pt x="4267" y="709904"/>
                </a:lnTo>
                <a:lnTo>
                  <a:pt x="14312" y="763816"/>
                </a:lnTo>
                <a:lnTo>
                  <a:pt x="31965" y="816521"/>
                </a:lnTo>
                <a:lnTo>
                  <a:pt x="52362" y="856107"/>
                </a:lnTo>
                <a:lnTo>
                  <a:pt x="78841" y="889482"/>
                </a:lnTo>
                <a:lnTo>
                  <a:pt x="112623" y="914298"/>
                </a:lnTo>
                <a:lnTo>
                  <a:pt x="154990" y="928217"/>
                </a:lnTo>
                <a:lnTo>
                  <a:pt x="217563" y="931735"/>
                </a:lnTo>
                <a:lnTo>
                  <a:pt x="249275" y="930897"/>
                </a:lnTo>
                <a:lnTo>
                  <a:pt x="281597" y="930414"/>
                </a:lnTo>
                <a:lnTo>
                  <a:pt x="282257" y="929373"/>
                </a:lnTo>
                <a:lnTo>
                  <a:pt x="284035" y="927874"/>
                </a:lnTo>
                <a:lnTo>
                  <a:pt x="283921" y="816521"/>
                </a:lnTo>
                <a:lnTo>
                  <a:pt x="284835" y="772185"/>
                </a:lnTo>
                <a:lnTo>
                  <a:pt x="290347" y="733056"/>
                </a:lnTo>
                <a:lnTo>
                  <a:pt x="303276" y="694677"/>
                </a:lnTo>
                <a:lnTo>
                  <a:pt x="323291" y="661962"/>
                </a:lnTo>
                <a:lnTo>
                  <a:pt x="351078" y="635609"/>
                </a:lnTo>
                <a:lnTo>
                  <a:pt x="387362" y="616280"/>
                </a:lnTo>
                <a:lnTo>
                  <a:pt x="428167" y="606158"/>
                </a:lnTo>
                <a:lnTo>
                  <a:pt x="474078" y="603554"/>
                </a:lnTo>
                <a:lnTo>
                  <a:pt x="759574" y="603097"/>
                </a:lnTo>
                <a:lnTo>
                  <a:pt x="776706" y="602145"/>
                </a:lnTo>
                <a:lnTo>
                  <a:pt x="827481" y="591832"/>
                </a:lnTo>
                <a:lnTo>
                  <a:pt x="885063" y="560539"/>
                </a:lnTo>
                <a:lnTo>
                  <a:pt x="920381" y="505853"/>
                </a:lnTo>
                <a:lnTo>
                  <a:pt x="928979" y="468515"/>
                </a:lnTo>
                <a:lnTo>
                  <a:pt x="931938" y="430110"/>
                </a:lnTo>
                <a:lnTo>
                  <a:pt x="931989" y="424764"/>
                </a:lnTo>
                <a:lnTo>
                  <a:pt x="932510" y="379158"/>
                </a:lnTo>
                <a:lnTo>
                  <a:pt x="932586" y="359384"/>
                </a:lnTo>
                <a:lnTo>
                  <a:pt x="932662" y="278587"/>
                </a:lnTo>
                <a:lnTo>
                  <a:pt x="932662" y="277241"/>
                </a:lnTo>
                <a:close/>
              </a:path>
              <a:path w="1252854" h="1245870">
                <a:moveTo>
                  <a:pt x="1252550" y="662698"/>
                </a:moveTo>
                <a:lnTo>
                  <a:pt x="1252435" y="629081"/>
                </a:lnTo>
                <a:lnTo>
                  <a:pt x="1252156" y="596950"/>
                </a:lnTo>
                <a:lnTo>
                  <a:pt x="1252181" y="591959"/>
                </a:lnTo>
                <a:lnTo>
                  <a:pt x="1252347" y="564095"/>
                </a:lnTo>
                <a:lnTo>
                  <a:pt x="1252334" y="563651"/>
                </a:lnTo>
                <a:lnTo>
                  <a:pt x="1251102" y="528624"/>
                </a:lnTo>
                <a:lnTo>
                  <a:pt x="1237132" y="460171"/>
                </a:lnTo>
                <a:lnTo>
                  <a:pt x="1203706" y="387565"/>
                </a:lnTo>
                <a:lnTo>
                  <a:pt x="1176845" y="354253"/>
                </a:lnTo>
                <a:lnTo>
                  <a:pt x="1142568" y="329717"/>
                </a:lnTo>
                <a:lnTo>
                  <a:pt x="1099400" y="316445"/>
                </a:lnTo>
                <a:lnTo>
                  <a:pt x="1038034" y="313448"/>
                </a:lnTo>
                <a:lnTo>
                  <a:pt x="975436" y="314566"/>
                </a:lnTo>
                <a:lnTo>
                  <a:pt x="974763" y="315620"/>
                </a:lnTo>
                <a:lnTo>
                  <a:pt x="973023" y="317080"/>
                </a:lnTo>
                <a:lnTo>
                  <a:pt x="973137" y="354253"/>
                </a:lnTo>
                <a:lnTo>
                  <a:pt x="973188" y="363778"/>
                </a:lnTo>
                <a:lnTo>
                  <a:pt x="973340" y="387565"/>
                </a:lnTo>
                <a:lnTo>
                  <a:pt x="973315" y="429514"/>
                </a:lnTo>
                <a:lnTo>
                  <a:pt x="971448" y="479513"/>
                </a:lnTo>
                <a:lnTo>
                  <a:pt x="961707" y="530174"/>
                </a:lnTo>
                <a:lnTo>
                  <a:pt x="927341" y="591959"/>
                </a:lnTo>
                <a:lnTo>
                  <a:pt x="867346" y="629081"/>
                </a:lnTo>
                <a:lnTo>
                  <a:pt x="827786" y="637692"/>
                </a:lnTo>
                <a:lnTo>
                  <a:pt x="787336" y="640854"/>
                </a:lnTo>
                <a:lnTo>
                  <a:pt x="508304" y="641540"/>
                </a:lnTo>
                <a:lnTo>
                  <a:pt x="490728" y="642073"/>
                </a:lnTo>
                <a:lnTo>
                  <a:pt x="449427" y="647560"/>
                </a:lnTo>
                <a:lnTo>
                  <a:pt x="391426" y="670979"/>
                </a:lnTo>
                <a:lnTo>
                  <a:pt x="347738" y="716089"/>
                </a:lnTo>
                <a:lnTo>
                  <a:pt x="329514" y="762685"/>
                </a:lnTo>
                <a:lnTo>
                  <a:pt x="325018" y="812342"/>
                </a:lnTo>
                <a:lnTo>
                  <a:pt x="325069" y="868883"/>
                </a:lnTo>
                <a:lnTo>
                  <a:pt x="325170" y="892759"/>
                </a:lnTo>
                <a:lnTo>
                  <a:pt x="325297" y="923417"/>
                </a:lnTo>
                <a:lnTo>
                  <a:pt x="325424" y="965619"/>
                </a:lnTo>
                <a:lnTo>
                  <a:pt x="325437" y="969302"/>
                </a:lnTo>
                <a:lnTo>
                  <a:pt x="325234" y="1021613"/>
                </a:lnTo>
                <a:lnTo>
                  <a:pt x="324421" y="1073899"/>
                </a:lnTo>
                <a:lnTo>
                  <a:pt x="324535" y="1074991"/>
                </a:lnTo>
                <a:lnTo>
                  <a:pt x="324612" y="1075575"/>
                </a:lnTo>
                <a:lnTo>
                  <a:pt x="329272" y="1116584"/>
                </a:lnTo>
                <a:lnTo>
                  <a:pt x="345211" y="1151851"/>
                </a:lnTo>
                <a:lnTo>
                  <a:pt x="370992" y="1180617"/>
                </a:lnTo>
                <a:lnTo>
                  <a:pt x="405409" y="1203921"/>
                </a:lnTo>
                <a:lnTo>
                  <a:pt x="445033" y="1221816"/>
                </a:lnTo>
                <a:lnTo>
                  <a:pt x="486257" y="1233893"/>
                </a:lnTo>
                <a:lnTo>
                  <a:pt x="528599" y="1241107"/>
                </a:lnTo>
                <a:lnTo>
                  <a:pt x="571614" y="1244409"/>
                </a:lnTo>
                <a:lnTo>
                  <a:pt x="614984" y="1245311"/>
                </a:lnTo>
                <a:lnTo>
                  <a:pt x="658418" y="1244917"/>
                </a:lnTo>
                <a:lnTo>
                  <a:pt x="701865" y="1243533"/>
                </a:lnTo>
                <a:lnTo>
                  <a:pt x="745248" y="1241463"/>
                </a:lnTo>
                <a:lnTo>
                  <a:pt x="814971" y="1231341"/>
                </a:lnTo>
                <a:lnTo>
                  <a:pt x="880948" y="1206119"/>
                </a:lnTo>
                <a:lnTo>
                  <a:pt x="919581" y="1172857"/>
                </a:lnTo>
                <a:lnTo>
                  <a:pt x="933919" y="1123975"/>
                </a:lnTo>
                <a:lnTo>
                  <a:pt x="933894" y="1117092"/>
                </a:lnTo>
                <a:lnTo>
                  <a:pt x="933792" y="1096314"/>
                </a:lnTo>
                <a:lnTo>
                  <a:pt x="933754" y="1088059"/>
                </a:lnTo>
                <a:lnTo>
                  <a:pt x="933221" y="1041933"/>
                </a:lnTo>
                <a:lnTo>
                  <a:pt x="932980" y="1021613"/>
                </a:lnTo>
                <a:lnTo>
                  <a:pt x="932891" y="968108"/>
                </a:lnTo>
                <a:lnTo>
                  <a:pt x="929411" y="965619"/>
                </a:lnTo>
                <a:lnTo>
                  <a:pt x="929055" y="965377"/>
                </a:lnTo>
                <a:lnTo>
                  <a:pt x="862723" y="965619"/>
                </a:lnTo>
                <a:lnTo>
                  <a:pt x="855649" y="965619"/>
                </a:lnTo>
                <a:lnTo>
                  <a:pt x="855649" y="1095629"/>
                </a:lnTo>
                <a:lnTo>
                  <a:pt x="851623" y="1116584"/>
                </a:lnTo>
                <a:lnTo>
                  <a:pt x="839990" y="1134046"/>
                </a:lnTo>
                <a:lnTo>
                  <a:pt x="822731" y="1146035"/>
                </a:lnTo>
                <a:lnTo>
                  <a:pt x="801878" y="1150505"/>
                </a:lnTo>
                <a:lnTo>
                  <a:pt x="763422" y="1134376"/>
                </a:lnTo>
                <a:lnTo>
                  <a:pt x="747077" y="1096314"/>
                </a:lnTo>
                <a:lnTo>
                  <a:pt x="751547" y="1075575"/>
                </a:lnTo>
                <a:lnTo>
                  <a:pt x="781164" y="1046289"/>
                </a:lnTo>
                <a:lnTo>
                  <a:pt x="822248" y="1046289"/>
                </a:lnTo>
                <a:lnTo>
                  <a:pt x="851027" y="1074991"/>
                </a:lnTo>
                <a:lnTo>
                  <a:pt x="855649" y="1095629"/>
                </a:lnTo>
                <a:lnTo>
                  <a:pt x="855649" y="965619"/>
                </a:lnTo>
                <a:lnTo>
                  <a:pt x="638860" y="965619"/>
                </a:lnTo>
                <a:lnTo>
                  <a:pt x="633768" y="965098"/>
                </a:lnTo>
                <a:lnTo>
                  <a:pt x="628230" y="964793"/>
                </a:lnTo>
                <a:lnTo>
                  <a:pt x="628230" y="923417"/>
                </a:lnTo>
                <a:lnTo>
                  <a:pt x="631647" y="923010"/>
                </a:lnTo>
                <a:lnTo>
                  <a:pt x="633425" y="922629"/>
                </a:lnTo>
                <a:lnTo>
                  <a:pt x="1061262" y="922629"/>
                </a:lnTo>
                <a:lnTo>
                  <a:pt x="1095209" y="919556"/>
                </a:lnTo>
                <a:lnTo>
                  <a:pt x="1158341" y="892759"/>
                </a:lnTo>
                <a:lnTo>
                  <a:pt x="1214043" y="830300"/>
                </a:lnTo>
                <a:lnTo>
                  <a:pt x="1234211" y="788200"/>
                </a:lnTo>
                <a:lnTo>
                  <a:pt x="1246517" y="743102"/>
                </a:lnTo>
                <a:lnTo>
                  <a:pt x="1251800" y="695540"/>
                </a:lnTo>
                <a:lnTo>
                  <a:pt x="1251915" y="690587"/>
                </a:lnTo>
                <a:lnTo>
                  <a:pt x="1252550" y="662698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68068" y="6647363"/>
            <a:ext cx="1400174" cy="124777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767314" y="6649348"/>
            <a:ext cx="1248410" cy="1243965"/>
            <a:chOff x="11767314" y="6649348"/>
            <a:chExt cx="1248410" cy="1243965"/>
          </a:xfrm>
        </p:grpSpPr>
        <p:sp>
          <p:nvSpPr>
            <p:cNvPr id="6" name="object 6"/>
            <p:cNvSpPr/>
            <p:nvPr/>
          </p:nvSpPr>
          <p:spPr>
            <a:xfrm>
              <a:off x="11767314" y="6649348"/>
              <a:ext cx="1248410" cy="1243965"/>
            </a:xfrm>
            <a:custGeom>
              <a:avLst/>
              <a:gdLst/>
              <a:ahLst/>
              <a:cxnLst/>
              <a:rect l="l" t="t" r="r" b="b"/>
              <a:pathLst>
                <a:path w="1248409" h="1243965">
                  <a:moveTo>
                    <a:pt x="623928" y="1243824"/>
                  </a:moveTo>
                  <a:lnTo>
                    <a:pt x="578033" y="1242139"/>
                  </a:lnTo>
                  <a:lnTo>
                    <a:pt x="532377" y="1237093"/>
                  </a:lnTo>
                  <a:lnTo>
                    <a:pt x="487218" y="1228712"/>
                  </a:lnTo>
                  <a:lnTo>
                    <a:pt x="442809" y="1217044"/>
                  </a:lnTo>
                  <a:lnTo>
                    <a:pt x="399381" y="1202153"/>
                  </a:lnTo>
                  <a:lnTo>
                    <a:pt x="357162" y="1184114"/>
                  </a:lnTo>
                  <a:lnTo>
                    <a:pt x="316389" y="1163027"/>
                  </a:lnTo>
                  <a:lnTo>
                    <a:pt x="277289" y="1139012"/>
                  </a:lnTo>
                  <a:lnTo>
                    <a:pt x="240069" y="1112196"/>
                  </a:lnTo>
                  <a:lnTo>
                    <a:pt x="204922" y="1082718"/>
                  </a:lnTo>
                  <a:lnTo>
                    <a:pt x="172046" y="1050742"/>
                  </a:lnTo>
                  <a:lnTo>
                    <a:pt x="141623" y="1016449"/>
                  </a:lnTo>
                  <a:lnTo>
                    <a:pt x="105148" y="967428"/>
                  </a:lnTo>
                  <a:lnTo>
                    <a:pt x="81058" y="928455"/>
                  </a:lnTo>
                  <a:lnTo>
                    <a:pt x="59903" y="887814"/>
                  </a:lnTo>
                  <a:lnTo>
                    <a:pt x="41805" y="845731"/>
                  </a:lnTo>
                  <a:lnTo>
                    <a:pt x="22599" y="787779"/>
                  </a:lnTo>
                  <a:lnTo>
                    <a:pt x="11988" y="743241"/>
                  </a:lnTo>
                  <a:lnTo>
                    <a:pt x="4693" y="698045"/>
                  </a:lnTo>
                  <a:lnTo>
                    <a:pt x="752" y="652427"/>
                  </a:lnTo>
                  <a:lnTo>
                    <a:pt x="0" y="621912"/>
                  </a:lnTo>
                  <a:lnTo>
                    <a:pt x="188" y="606645"/>
                  </a:lnTo>
                  <a:lnTo>
                    <a:pt x="3004" y="560953"/>
                  </a:lnTo>
                  <a:lnTo>
                    <a:pt x="9183" y="515593"/>
                  </a:lnTo>
                  <a:lnTo>
                    <a:pt x="18696" y="470799"/>
                  </a:lnTo>
                  <a:lnTo>
                    <a:pt x="31490" y="426825"/>
                  </a:lnTo>
                  <a:lnTo>
                    <a:pt x="47492" y="383917"/>
                  </a:lnTo>
                  <a:lnTo>
                    <a:pt x="66618" y="342297"/>
                  </a:lnTo>
                  <a:lnTo>
                    <a:pt x="88766" y="302185"/>
                  </a:lnTo>
                  <a:lnTo>
                    <a:pt x="122784" y="251439"/>
                  </a:lnTo>
                  <a:lnTo>
                    <a:pt x="151486" y="215692"/>
                  </a:lnTo>
                  <a:lnTo>
                    <a:pt x="193707" y="171490"/>
                  </a:lnTo>
                  <a:lnTo>
                    <a:pt x="228111" y="141167"/>
                  </a:lnTo>
                  <a:lnTo>
                    <a:pt x="264658" y="113448"/>
                  </a:lnTo>
                  <a:lnTo>
                    <a:pt x="303163" y="88479"/>
                  </a:lnTo>
                  <a:lnTo>
                    <a:pt x="343404" y="66402"/>
                  </a:lnTo>
                  <a:lnTo>
                    <a:pt x="385158" y="47340"/>
                  </a:lnTo>
                  <a:lnTo>
                    <a:pt x="428207" y="31390"/>
                  </a:lnTo>
                  <a:lnTo>
                    <a:pt x="472324" y="18637"/>
                  </a:lnTo>
                  <a:lnTo>
                    <a:pt x="517262" y="9155"/>
                  </a:lnTo>
                  <a:lnTo>
                    <a:pt x="562772" y="2994"/>
                  </a:lnTo>
                  <a:lnTo>
                    <a:pt x="608611" y="187"/>
                  </a:lnTo>
                  <a:lnTo>
                    <a:pt x="623928" y="0"/>
                  </a:lnTo>
                  <a:lnTo>
                    <a:pt x="639244" y="187"/>
                  </a:lnTo>
                  <a:lnTo>
                    <a:pt x="700306" y="4677"/>
                  </a:lnTo>
                  <a:lnTo>
                    <a:pt x="760634" y="15112"/>
                  </a:lnTo>
                  <a:lnTo>
                    <a:pt x="819645" y="31390"/>
                  </a:lnTo>
                  <a:lnTo>
                    <a:pt x="876772" y="53356"/>
                  </a:lnTo>
                  <a:lnTo>
                    <a:pt x="931463" y="80796"/>
                  </a:lnTo>
                  <a:lnTo>
                    <a:pt x="983193" y="113448"/>
                  </a:lnTo>
                  <a:lnTo>
                    <a:pt x="1019742" y="141167"/>
                  </a:lnTo>
                  <a:lnTo>
                    <a:pt x="1054146" y="171490"/>
                  </a:lnTo>
                  <a:lnTo>
                    <a:pt x="1086227" y="204261"/>
                  </a:lnTo>
                  <a:lnTo>
                    <a:pt x="1115801" y="239295"/>
                  </a:lnTo>
                  <a:lnTo>
                    <a:pt x="1151056" y="289194"/>
                  </a:lnTo>
                  <a:lnTo>
                    <a:pt x="1174181" y="328744"/>
                  </a:lnTo>
                  <a:lnTo>
                    <a:pt x="1194325" y="369883"/>
                  </a:lnTo>
                  <a:lnTo>
                    <a:pt x="1211382" y="412396"/>
                  </a:lnTo>
                  <a:lnTo>
                    <a:pt x="1225254" y="456044"/>
                  </a:lnTo>
                  <a:lnTo>
                    <a:pt x="1238670" y="515593"/>
                  </a:lnTo>
                  <a:lnTo>
                    <a:pt x="1244853" y="560953"/>
                  </a:lnTo>
                  <a:lnTo>
                    <a:pt x="1247669" y="606645"/>
                  </a:lnTo>
                  <a:lnTo>
                    <a:pt x="1247856" y="621912"/>
                  </a:lnTo>
                  <a:lnTo>
                    <a:pt x="1247669" y="637179"/>
                  </a:lnTo>
                  <a:lnTo>
                    <a:pt x="1244853" y="682869"/>
                  </a:lnTo>
                  <a:lnTo>
                    <a:pt x="1238670" y="728230"/>
                  </a:lnTo>
                  <a:lnTo>
                    <a:pt x="1229156" y="773024"/>
                  </a:lnTo>
                  <a:lnTo>
                    <a:pt x="1216362" y="816998"/>
                  </a:lnTo>
                  <a:lnTo>
                    <a:pt x="1194325" y="873941"/>
                  </a:lnTo>
                  <a:lnTo>
                    <a:pt x="1174181" y="915079"/>
                  </a:lnTo>
                  <a:lnTo>
                    <a:pt x="1151056" y="954630"/>
                  </a:lnTo>
                  <a:lnTo>
                    <a:pt x="1125071" y="992385"/>
                  </a:lnTo>
                  <a:lnTo>
                    <a:pt x="1096368" y="1028131"/>
                  </a:lnTo>
                  <a:lnTo>
                    <a:pt x="1054146" y="1072333"/>
                  </a:lnTo>
                  <a:lnTo>
                    <a:pt x="1007783" y="1112196"/>
                  </a:lnTo>
                  <a:lnTo>
                    <a:pt x="957722" y="1147339"/>
                  </a:lnTo>
                  <a:lnTo>
                    <a:pt x="904447" y="1177420"/>
                  </a:lnTo>
                  <a:lnTo>
                    <a:pt x="862693" y="1196483"/>
                  </a:lnTo>
                  <a:lnTo>
                    <a:pt x="819646" y="1212433"/>
                  </a:lnTo>
                  <a:lnTo>
                    <a:pt x="775529" y="1225186"/>
                  </a:lnTo>
                  <a:lnTo>
                    <a:pt x="730590" y="1234669"/>
                  </a:lnTo>
                  <a:lnTo>
                    <a:pt x="685083" y="1240829"/>
                  </a:lnTo>
                  <a:lnTo>
                    <a:pt x="639244" y="1243636"/>
                  </a:lnTo>
                  <a:lnTo>
                    <a:pt x="623928" y="1243824"/>
                  </a:lnTo>
                  <a:close/>
                </a:path>
              </a:pathLst>
            </a:custGeom>
            <a:solidFill>
              <a:srgbClr val="009587">
                <a:alpha val="9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041711" y="6930962"/>
              <a:ext cx="699135" cy="680720"/>
            </a:xfrm>
            <a:custGeom>
              <a:avLst/>
              <a:gdLst/>
              <a:ahLst/>
              <a:cxnLst/>
              <a:rect l="l" t="t" r="r" b="b"/>
              <a:pathLst>
                <a:path w="699134" h="680720">
                  <a:moveTo>
                    <a:pt x="0" y="680615"/>
                  </a:moveTo>
                  <a:lnTo>
                    <a:pt x="306482" y="0"/>
                  </a:lnTo>
                  <a:lnTo>
                    <a:pt x="699041" y="0"/>
                  </a:lnTo>
                  <a:lnTo>
                    <a:pt x="304848" y="277010"/>
                  </a:lnTo>
                  <a:lnTo>
                    <a:pt x="574308" y="277010"/>
                  </a:lnTo>
                  <a:lnTo>
                    <a:pt x="0" y="680615"/>
                  </a:lnTo>
                  <a:close/>
                </a:path>
              </a:pathLst>
            </a:custGeom>
            <a:solidFill>
              <a:srgbClr val="FFFFFF">
                <a:alpha val="97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9742487" y="5398964"/>
            <a:ext cx="2496185" cy="2496185"/>
            <a:chOff x="9742487" y="5398964"/>
            <a:chExt cx="2496185" cy="24961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42487" y="6647363"/>
              <a:ext cx="1847849" cy="12477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42487" y="5398964"/>
              <a:ext cx="2496174" cy="1247774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391561" y="5398964"/>
            <a:ext cx="1247774" cy="1247774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772160" marR="5080">
              <a:lnSpc>
                <a:spcPct val="116100"/>
              </a:lnSpc>
              <a:spcBef>
                <a:spcPts val="95"/>
              </a:spcBef>
              <a:tabLst>
                <a:tab pos="2976245" algn="l"/>
                <a:tab pos="5099685" algn="l"/>
                <a:tab pos="7045959" algn="l"/>
                <a:tab pos="7989570" algn="l"/>
                <a:tab pos="9879330" algn="l"/>
              </a:tabLst>
            </a:pPr>
            <a:r>
              <a:rPr dirty="0" sz="3500" spc="55"/>
              <a:t>Frontend</a:t>
            </a:r>
            <a:r>
              <a:rPr dirty="0" sz="3500" spc="25"/>
              <a:t> </a:t>
            </a:r>
            <a:r>
              <a:rPr dirty="0" sz="3500" spc="70"/>
              <a:t>(Interfaz):</a:t>
            </a:r>
            <a:r>
              <a:rPr dirty="0" sz="3500" spc="30"/>
              <a:t> </a:t>
            </a:r>
            <a:r>
              <a:rPr dirty="0" sz="3500" spc="50"/>
              <a:t>React</a:t>
            </a:r>
            <a:r>
              <a:rPr dirty="0" sz="3500" spc="25"/>
              <a:t> </a:t>
            </a:r>
            <a:r>
              <a:rPr dirty="0" sz="3500" spc="60"/>
              <a:t>TypeScript</a:t>
            </a:r>
            <a:r>
              <a:rPr dirty="0" sz="3500" spc="30"/>
              <a:t> </a:t>
            </a:r>
            <a:r>
              <a:rPr dirty="0" sz="3500" spc="50"/>
              <a:t>(con</a:t>
            </a:r>
            <a:r>
              <a:rPr dirty="0" sz="3500" spc="30"/>
              <a:t> </a:t>
            </a:r>
            <a:r>
              <a:rPr dirty="0" sz="3500" spc="70"/>
              <a:t>TailwindCSS) </a:t>
            </a:r>
            <a:r>
              <a:rPr dirty="0" sz="3500" spc="55"/>
              <a:t>Backend</a:t>
            </a:r>
            <a:r>
              <a:rPr dirty="0" sz="3500"/>
              <a:t>	</a:t>
            </a:r>
            <a:r>
              <a:rPr dirty="0" sz="3500" spc="55"/>
              <a:t>(Lógica):</a:t>
            </a:r>
            <a:r>
              <a:rPr dirty="0" sz="3500"/>
              <a:t>	</a:t>
            </a:r>
            <a:r>
              <a:rPr dirty="0" sz="3500" spc="60"/>
              <a:t>FastAPI</a:t>
            </a:r>
            <a:r>
              <a:rPr dirty="0" sz="3500"/>
              <a:t>	</a:t>
            </a:r>
            <a:r>
              <a:rPr dirty="0" sz="3500" spc="30"/>
              <a:t>en</a:t>
            </a:r>
            <a:r>
              <a:rPr dirty="0" sz="3500"/>
              <a:t>	</a:t>
            </a:r>
            <a:r>
              <a:rPr dirty="0" sz="3500" spc="70"/>
              <a:t>Python</a:t>
            </a:r>
            <a:r>
              <a:rPr dirty="0" sz="3500"/>
              <a:t>	</a:t>
            </a:r>
            <a:r>
              <a:rPr dirty="0" sz="3500" spc="55"/>
              <a:t>(Arquitectura </a:t>
            </a:r>
            <a:r>
              <a:rPr dirty="0" sz="3500" spc="65"/>
              <a:t>Hexagonal)</a:t>
            </a:r>
            <a:endParaRPr sz="3500"/>
          </a:p>
          <a:p>
            <a:pPr marL="772160" marR="6142990">
              <a:lnSpc>
                <a:spcPts val="4870"/>
              </a:lnSpc>
              <a:spcBef>
                <a:spcPts val="114"/>
              </a:spcBef>
            </a:pPr>
            <a:r>
              <a:rPr dirty="0" sz="3500" spc="55"/>
              <a:t>Base</a:t>
            </a:r>
            <a:r>
              <a:rPr dirty="0" sz="3500" spc="35"/>
              <a:t> </a:t>
            </a:r>
            <a:r>
              <a:rPr dirty="0" sz="3500"/>
              <a:t>de</a:t>
            </a:r>
            <a:r>
              <a:rPr dirty="0" sz="3500" spc="35"/>
              <a:t> </a:t>
            </a:r>
            <a:r>
              <a:rPr dirty="0" sz="3500" spc="65"/>
              <a:t>Datos:</a:t>
            </a:r>
            <a:r>
              <a:rPr dirty="0" sz="3500" spc="40"/>
              <a:t> </a:t>
            </a:r>
            <a:r>
              <a:rPr dirty="0" sz="3500" spc="75"/>
              <a:t>MySQL</a:t>
            </a:r>
            <a:r>
              <a:rPr dirty="0" sz="3500" spc="35"/>
              <a:t> </a:t>
            </a:r>
            <a:r>
              <a:rPr dirty="0" sz="3500" spc="-50"/>
              <a:t>8 </a:t>
            </a:r>
            <a:r>
              <a:rPr dirty="0" sz="3500" spc="65"/>
              <a:t>Seguridad:</a:t>
            </a:r>
            <a:r>
              <a:rPr dirty="0" sz="3500" spc="15"/>
              <a:t> </a:t>
            </a:r>
            <a:r>
              <a:rPr dirty="0" sz="3500" spc="90"/>
              <a:t>JWT</a:t>
            </a:r>
            <a:r>
              <a:rPr dirty="0" sz="3500" spc="20"/>
              <a:t> </a:t>
            </a:r>
            <a:r>
              <a:rPr dirty="0" sz="3500" spc="160"/>
              <a:t>y</a:t>
            </a:r>
            <a:r>
              <a:rPr dirty="0" sz="3500" spc="15"/>
              <a:t> </a:t>
            </a:r>
            <a:r>
              <a:rPr dirty="0" sz="3500" spc="60"/>
              <a:t>BCrypt Despliegue</a:t>
            </a:r>
            <a:r>
              <a:rPr dirty="0" sz="3500" spc="20"/>
              <a:t> </a:t>
            </a:r>
            <a:r>
              <a:rPr dirty="0" sz="3500" spc="160"/>
              <a:t>y</a:t>
            </a:r>
            <a:r>
              <a:rPr dirty="0" sz="3500" spc="25"/>
              <a:t> </a:t>
            </a:r>
            <a:r>
              <a:rPr dirty="0" sz="3500" spc="75"/>
              <a:t>Nube:</a:t>
            </a:r>
            <a:r>
              <a:rPr dirty="0" sz="3500" spc="20"/>
              <a:t> </a:t>
            </a:r>
            <a:r>
              <a:rPr dirty="0" sz="3500" spc="105"/>
              <a:t>Railway</a:t>
            </a:r>
            <a:endParaRPr sz="350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0590" y="8806876"/>
            <a:ext cx="3667124" cy="9048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95"/>
              <a:t>T</a:t>
            </a:r>
            <a:r>
              <a:rPr dirty="0" spc="-935"/>
              <a:t> </a:t>
            </a:r>
            <a:r>
              <a:rPr dirty="0" spc="260"/>
              <a:t>E</a:t>
            </a:r>
            <a:r>
              <a:rPr dirty="0" spc="-930"/>
              <a:t> </a:t>
            </a:r>
            <a:r>
              <a:rPr dirty="0" spc="-120"/>
              <a:t>C</a:t>
            </a:r>
            <a:r>
              <a:rPr dirty="0" spc="-930"/>
              <a:t> </a:t>
            </a:r>
            <a:r>
              <a:rPr dirty="0" spc="475"/>
              <a:t>N</a:t>
            </a:r>
            <a:r>
              <a:rPr dirty="0" spc="-930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280"/>
              <a:t>L</a:t>
            </a:r>
            <a:r>
              <a:rPr dirty="0" spc="-930"/>
              <a:t> </a:t>
            </a:r>
            <a:r>
              <a:rPr dirty="0" spc="-250"/>
              <a:t>O</a:t>
            </a:r>
            <a:r>
              <a:rPr dirty="0" spc="-930"/>
              <a:t> </a:t>
            </a:r>
            <a:r>
              <a:rPr dirty="0" spc="-305"/>
              <a:t>G</a:t>
            </a:r>
            <a:r>
              <a:rPr dirty="0" spc="-930"/>
              <a:t> </a:t>
            </a:r>
            <a:r>
              <a:rPr dirty="0" spc="340"/>
              <a:t>Í</a:t>
            </a:r>
            <a:r>
              <a:rPr dirty="0" spc="-930"/>
              <a:t> </a:t>
            </a:r>
            <a:r>
              <a:rPr dirty="0" spc="-114"/>
              <a:t>A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/>
              <a:t>En</a:t>
            </a:r>
            <a:r>
              <a:rPr dirty="0" spc="380"/>
              <a:t> </a:t>
            </a:r>
            <a:r>
              <a:rPr dirty="0"/>
              <a:t>conclusión,</a:t>
            </a:r>
            <a:r>
              <a:rPr dirty="0" spc="385"/>
              <a:t> </a:t>
            </a:r>
            <a:r>
              <a:rPr dirty="0"/>
              <a:t>el</a:t>
            </a:r>
            <a:r>
              <a:rPr dirty="0" spc="385"/>
              <a:t> </a:t>
            </a:r>
            <a:r>
              <a:rPr dirty="0"/>
              <a:t>proyecto</a:t>
            </a:r>
            <a:r>
              <a:rPr dirty="0" spc="385"/>
              <a:t> </a:t>
            </a:r>
            <a:r>
              <a:rPr dirty="0"/>
              <a:t>Khepri</a:t>
            </a:r>
            <a:r>
              <a:rPr dirty="0" spc="385"/>
              <a:t> </a:t>
            </a:r>
            <a:r>
              <a:rPr dirty="0"/>
              <a:t>se</a:t>
            </a:r>
            <a:r>
              <a:rPr dirty="0" spc="385"/>
              <a:t> </a:t>
            </a:r>
            <a:r>
              <a:rPr dirty="0"/>
              <a:t>consolida</a:t>
            </a:r>
            <a:r>
              <a:rPr dirty="0" spc="380"/>
              <a:t> </a:t>
            </a:r>
            <a:r>
              <a:rPr dirty="0"/>
              <a:t>como</a:t>
            </a:r>
            <a:r>
              <a:rPr dirty="0" spc="385"/>
              <a:t> </a:t>
            </a:r>
            <a:r>
              <a:rPr dirty="0" spc="50"/>
              <a:t>una</a:t>
            </a:r>
            <a:r>
              <a:rPr dirty="0" spc="385"/>
              <a:t> </a:t>
            </a:r>
            <a:r>
              <a:rPr dirty="0"/>
              <a:t>solución</a:t>
            </a:r>
            <a:r>
              <a:rPr dirty="0" spc="385"/>
              <a:t> </a:t>
            </a:r>
            <a:r>
              <a:rPr dirty="0" spc="50"/>
              <a:t>WMS</a:t>
            </a:r>
            <a:r>
              <a:rPr dirty="0" spc="385"/>
              <a:t> </a:t>
            </a:r>
            <a:r>
              <a:rPr dirty="0" spc="-10"/>
              <a:t>robusta, </a:t>
            </a:r>
            <a:r>
              <a:rPr dirty="0"/>
              <a:t>escalable </a:t>
            </a:r>
            <a:r>
              <a:rPr dirty="0" spc="114"/>
              <a:t>y</a:t>
            </a:r>
            <a:r>
              <a:rPr dirty="0" spc="114"/>
              <a:t> </a:t>
            </a:r>
            <a:r>
              <a:rPr dirty="0"/>
              <a:t>eficiente para </a:t>
            </a:r>
            <a:r>
              <a:rPr dirty="0" spc="60"/>
              <a:t>la</a:t>
            </a:r>
            <a:r>
              <a:rPr dirty="0" spc="60"/>
              <a:t> </a:t>
            </a:r>
            <a:r>
              <a:rPr dirty="0"/>
              <a:t>gestión </a:t>
            </a:r>
            <a:r>
              <a:rPr dirty="0" spc="45"/>
              <a:t>integral</a:t>
            </a:r>
            <a:r>
              <a:rPr dirty="0" spc="45"/>
              <a:t> </a:t>
            </a:r>
            <a:r>
              <a:rPr dirty="0"/>
              <a:t>de almacenes en entornos </a:t>
            </a:r>
            <a:r>
              <a:rPr dirty="0" spc="-10"/>
              <a:t>multi-</a:t>
            </a:r>
            <a:r>
              <a:rPr dirty="0" spc="45"/>
              <a:t>empresa.</a:t>
            </a:r>
            <a:r>
              <a:rPr dirty="0" spc="405"/>
              <a:t> </a:t>
            </a:r>
            <a:r>
              <a:rPr dirty="0"/>
              <a:t>Gracias</a:t>
            </a:r>
            <a:r>
              <a:rPr dirty="0" spc="405"/>
              <a:t> </a:t>
            </a:r>
            <a:r>
              <a:rPr dirty="0" spc="65"/>
              <a:t>a</a:t>
            </a:r>
            <a:r>
              <a:rPr dirty="0" spc="409"/>
              <a:t> </a:t>
            </a:r>
            <a:r>
              <a:rPr dirty="0" spc="50"/>
              <a:t>una</a:t>
            </a:r>
            <a:r>
              <a:rPr dirty="0" spc="405"/>
              <a:t> </a:t>
            </a:r>
            <a:r>
              <a:rPr dirty="0"/>
              <a:t>arquitectura</a:t>
            </a:r>
            <a:r>
              <a:rPr dirty="0" spc="409"/>
              <a:t> </a:t>
            </a:r>
            <a:r>
              <a:rPr dirty="0" spc="45"/>
              <a:t>hexagonal</a:t>
            </a:r>
            <a:r>
              <a:rPr dirty="0" spc="405"/>
              <a:t> </a:t>
            </a:r>
            <a:r>
              <a:rPr dirty="0"/>
              <a:t>desacoplada,</a:t>
            </a:r>
            <a:r>
              <a:rPr dirty="0" spc="405"/>
              <a:t> </a:t>
            </a:r>
            <a:r>
              <a:rPr dirty="0"/>
              <a:t>el</a:t>
            </a:r>
            <a:r>
              <a:rPr dirty="0" spc="409"/>
              <a:t> </a:t>
            </a:r>
            <a:r>
              <a:rPr dirty="0"/>
              <a:t>uso</a:t>
            </a:r>
            <a:r>
              <a:rPr dirty="0" spc="405"/>
              <a:t> </a:t>
            </a:r>
            <a:r>
              <a:rPr dirty="0"/>
              <a:t>de</a:t>
            </a:r>
            <a:r>
              <a:rPr dirty="0" spc="409"/>
              <a:t> </a:t>
            </a:r>
            <a:r>
              <a:rPr dirty="0"/>
              <a:t>un</a:t>
            </a:r>
            <a:r>
              <a:rPr dirty="0" spc="405"/>
              <a:t> </a:t>
            </a:r>
            <a:r>
              <a:rPr dirty="0" spc="-10"/>
              <a:t>stack </a:t>
            </a:r>
            <a:r>
              <a:rPr dirty="0"/>
              <a:t>moderno</a:t>
            </a:r>
            <a:r>
              <a:rPr dirty="0" spc="459"/>
              <a:t> </a:t>
            </a:r>
            <a:r>
              <a:rPr dirty="0" spc="45"/>
              <a:t>(FastAPI,</a:t>
            </a:r>
            <a:r>
              <a:rPr dirty="0" spc="465"/>
              <a:t> </a:t>
            </a:r>
            <a:r>
              <a:rPr dirty="0"/>
              <a:t>React</a:t>
            </a:r>
            <a:r>
              <a:rPr dirty="0" spc="459"/>
              <a:t> </a:t>
            </a:r>
            <a:r>
              <a:rPr dirty="0" spc="114"/>
              <a:t>y</a:t>
            </a:r>
            <a:r>
              <a:rPr dirty="0" spc="465"/>
              <a:t> </a:t>
            </a:r>
            <a:r>
              <a:rPr dirty="0"/>
              <a:t>MySQL</a:t>
            </a:r>
            <a:r>
              <a:rPr dirty="0" spc="459"/>
              <a:t> </a:t>
            </a:r>
            <a:r>
              <a:rPr dirty="0"/>
              <a:t>8)</a:t>
            </a:r>
            <a:r>
              <a:rPr dirty="0" spc="465"/>
              <a:t> </a:t>
            </a:r>
            <a:r>
              <a:rPr dirty="0" spc="114"/>
              <a:t>y</a:t>
            </a:r>
            <a:r>
              <a:rPr dirty="0" spc="459"/>
              <a:t> </a:t>
            </a:r>
            <a:r>
              <a:rPr dirty="0" spc="50"/>
              <a:t>una</a:t>
            </a:r>
            <a:r>
              <a:rPr dirty="0" spc="465"/>
              <a:t> </a:t>
            </a:r>
            <a:r>
              <a:rPr dirty="0"/>
              <a:t>estricta</a:t>
            </a:r>
            <a:r>
              <a:rPr dirty="0" spc="459"/>
              <a:t> </a:t>
            </a:r>
            <a:r>
              <a:rPr dirty="0"/>
              <a:t>seguridad</a:t>
            </a:r>
            <a:r>
              <a:rPr dirty="0" spc="465"/>
              <a:t> </a:t>
            </a:r>
            <a:r>
              <a:rPr dirty="0"/>
              <a:t>basada</a:t>
            </a:r>
            <a:r>
              <a:rPr dirty="0" spc="459"/>
              <a:t> </a:t>
            </a:r>
            <a:r>
              <a:rPr dirty="0"/>
              <a:t>en</a:t>
            </a:r>
            <a:r>
              <a:rPr dirty="0" spc="465"/>
              <a:t> </a:t>
            </a:r>
            <a:r>
              <a:rPr dirty="0"/>
              <a:t>roles</a:t>
            </a:r>
            <a:r>
              <a:rPr dirty="0" spc="459"/>
              <a:t> </a:t>
            </a:r>
            <a:r>
              <a:rPr dirty="0" spc="65"/>
              <a:t>y </a:t>
            </a:r>
            <a:r>
              <a:rPr dirty="0" spc="50"/>
              <a:t>aislamiento</a:t>
            </a:r>
            <a:r>
              <a:rPr dirty="0" spc="254"/>
              <a:t> </a:t>
            </a:r>
            <a:r>
              <a:rPr dirty="0"/>
              <a:t>de</a:t>
            </a:r>
            <a:r>
              <a:rPr dirty="0" spc="254"/>
              <a:t> </a:t>
            </a:r>
            <a:r>
              <a:rPr dirty="0"/>
              <a:t>datos</a:t>
            </a:r>
            <a:r>
              <a:rPr dirty="0" spc="260"/>
              <a:t> </a:t>
            </a:r>
            <a:r>
              <a:rPr dirty="0" spc="55"/>
              <a:t>(JWT</a:t>
            </a:r>
            <a:r>
              <a:rPr dirty="0" spc="254"/>
              <a:t> </a:t>
            </a:r>
            <a:r>
              <a:rPr dirty="0" spc="114"/>
              <a:t>y</a:t>
            </a:r>
            <a:r>
              <a:rPr dirty="0" spc="254"/>
              <a:t> </a:t>
            </a:r>
            <a:r>
              <a:rPr dirty="0"/>
              <a:t>RBAC),</a:t>
            </a:r>
            <a:r>
              <a:rPr dirty="0" spc="260"/>
              <a:t> </a:t>
            </a:r>
            <a:r>
              <a:rPr dirty="0" spc="60"/>
              <a:t>la</a:t>
            </a:r>
            <a:r>
              <a:rPr dirty="0" spc="254"/>
              <a:t> </a:t>
            </a:r>
            <a:r>
              <a:rPr dirty="0" spc="55"/>
              <a:t>plataforma</a:t>
            </a:r>
            <a:r>
              <a:rPr dirty="0" spc="260"/>
              <a:t> </a:t>
            </a:r>
            <a:r>
              <a:rPr dirty="0"/>
              <a:t>resuelve</a:t>
            </a:r>
            <a:r>
              <a:rPr dirty="0" spc="254"/>
              <a:t> </a:t>
            </a:r>
            <a:r>
              <a:rPr dirty="0"/>
              <a:t>eficazmente</a:t>
            </a:r>
            <a:r>
              <a:rPr dirty="0" spc="254"/>
              <a:t> </a:t>
            </a:r>
            <a:r>
              <a:rPr dirty="0" spc="60"/>
              <a:t>la</a:t>
            </a:r>
            <a:r>
              <a:rPr dirty="0" spc="260"/>
              <a:t> </a:t>
            </a:r>
            <a:r>
              <a:rPr dirty="0" spc="60"/>
              <a:t>falta</a:t>
            </a:r>
            <a:r>
              <a:rPr dirty="0" spc="254"/>
              <a:t> </a:t>
            </a:r>
            <a:r>
              <a:rPr dirty="0" spc="-25"/>
              <a:t>de </a:t>
            </a:r>
            <a:r>
              <a:rPr dirty="0"/>
              <a:t>trazabilidad</a:t>
            </a:r>
            <a:r>
              <a:rPr dirty="0" spc="575"/>
              <a:t> </a:t>
            </a:r>
            <a:r>
              <a:rPr dirty="0" spc="114"/>
              <a:t>y</a:t>
            </a:r>
            <a:r>
              <a:rPr dirty="0" spc="580"/>
              <a:t> </a:t>
            </a:r>
            <a:r>
              <a:rPr dirty="0" spc="60"/>
              <a:t>la</a:t>
            </a:r>
            <a:r>
              <a:rPr dirty="0" spc="575"/>
              <a:t> </a:t>
            </a:r>
            <a:r>
              <a:rPr dirty="0"/>
              <a:t>dispersión</a:t>
            </a:r>
            <a:r>
              <a:rPr dirty="0" spc="580"/>
              <a:t> </a:t>
            </a:r>
            <a:r>
              <a:rPr dirty="0"/>
              <a:t>de</a:t>
            </a:r>
            <a:r>
              <a:rPr dirty="0" spc="580"/>
              <a:t> </a:t>
            </a:r>
            <a:r>
              <a:rPr dirty="0" spc="50"/>
              <a:t>información</a:t>
            </a:r>
            <a:r>
              <a:rPr dirty="0" spc="575"/>
              <a:t> </a:t>
            </a:r>
            <a:r>
              <a:rPr dirty="0"/>
              <a:t>en</a:t>
            </a:r>
            <a:r>
              <a:rPr dirty="0" spc="580"/>
              <a:t> </a:t>
            </a:r>
            <a:r>
              <a:rPr dirty="0"/>
              <a:t>bodega.</a:t>
            </a:r>
            <a:r>
              <a:rPr dirty="0" spc="580"/>
              <a:t> </a:t>
            </a:r>
            <a:r>
              <a:rPr dirty="0"/>
              <a:t>Con</a:t>
            </a:r>
            <a:r>
              <a:rPr dirty="0" spc="575"/>
              <a:t> </a:t>
            </a:r>
            <a:r>
              <a:rPr dirty="0"/>
              <a:t>un</a:t>
            </a:r>
            <a:r>
              <a:rPr dirty="0" spc="580"/>
              <a:t> </a:t>
            </a:r>
            <a:r>
              <a:rPr dirty="0"/>
              <a:t>plan</a:t>
            </a:r>
            <a:r>
              <a:rPr dirty="0" spc="575"/>
              <a:t> </a:t>
            </a:r>
            <a:r>
              <a:rPr dirty="0"/>
              <a:t>de</a:t>
            </a:r>
            <a:r>
              <a:rPr dirty="0" spc="580"/>
              <a:t> </a:t>
            </a:r>
            <a:r>
              <a:rPr dirty="0" spc="-10"/>
              <a:t>trabajo </a:t>
            </a:r>
            <a:r>
              <a:rPr dirty="0"/>
              <a:t>riguroso</a:t>
            </a:r>
            <a:r>
              <a:rPr dirty="0" spc="15"/>
              <a:t>  </a:t>
            </a:r>
            <a:r>
              <a:rPr dirty="0"/>
              <a:t>de</a:t>
            </a:r>
            <a:r>
              <a:rPr dirty="0" spc="15"/>
              <a:t>  </a:t>
            </a:r>
            <a:r>
              <a:rPr dirty="0"/>
              <a:t>18</a:t>
            </a:r>
            <a:r>
              <a:rPr dirty="0" spc="15"/>
              <a:t>  </a:t>
            </a:r>
            <a:r>
              <a:rPr dirty="0" spc="50"/>
              <a:t>semanas,</a:t>
            </a:r>
            <a:r>
              <a:rPr dirty="0" spc="15"/>
              <a:t>  </a:t>
            </a:r>
            <a:r>
              <a:rPr dirty="0"/>
              <a:t>un</a:t>
            </a:r>
            <a:r>
              <a:rPr dirty="0" spc="20"/>
              <a:t>  </a:t>
            </a:r>
            <a:r>
              <a:rPr dirty="0"/>
              <a:t>presupuesto</a:t>
            </a:r>
            <a:r>
              <a:rPr dirty="0" spc="15"/>
              <a:t>  </a:t>
            </a:r>
            <a:r>
              <a:rPr dirty="0"/>
              <a:t>controlado</a:t>
            </a:r>
            <a:r>
              <a:rPr dirty="0" spc="15"/>
              <a:t>  </a:t>
            </a:r>
            <a:r>
              <a:rPr dirty="0"/>
              <a:t>de</a:t>
            </a:r>
            <a:r>
              <a:rPr dirty="0" spc="15"/>
              <a:t>  </a:t>
            </a:r>
            <a:r>
              <a:rPr dirty="0"/>
              <a:t>$13.728.000</a:t>
            </a:r>
            <a:r>
              <a:rPr dirty="0" spc="15"/>
              <a:t>  </a:t>
            </a:r>
            <a:r>
              <a:rPr dirty="0"/>
              <a:t>CLP</a:t>
            </a:r>
            <a:r>
              <a:rPr dirty="0" spc="20"/>
              <a:t>  </a:t>
            </a:r>
            <a:r>
              <a:rPr dirty="0" spc="114"/>
              <a:t>y</a:t>
            </a:r>
            <a:r>
              <a:rPr dirty="0" spc="15"/>
              <a:t>  </a:t>
            </a:r>
            <a:r>
              <a:rPr dirty="0" spc="-25"/>
              <a:t>el </a:t>
            </a:r>
            <a:r>
              <a:rPr dirty="0" spc="45"/>
              <a:t>cumplimiento</a:t>
            </a:r>
            <a:r>
              <a:rPr dirty="0" spc="325"/>
              <a:t>   </a:t>
            </a:r>
            <a:r>
              <a:rPr dirty="0"/>
              <a:t>de</a:t>
            </a:r>
            <a:r>
              <a:rPr dirty="0" spc="325"/>
              <a:t>   </a:t>
            </a:r>
            <a:r>
              <a:rPr dirty="0"/>
              <a:t>sus</a:t>
            </a:r>
            <a:r>
              <a:rPr dirty="0" spc="330"/>
              <a:t>   </a:t>
            </a:r>
            <a:r>
              <a:rPr dirty="0"/>
              <a:t>requerimientos</a:t>
            </a:r>
            <a:r>
              <a:rPr dirty="0" spc="325"/>
              <a:t>   </a:t>
            </a:r>
            <a:r>
              <a:rPr dirty="0"/>
              <a:t>principales,</a:t>
            </a:r>
            <a:r>
              <a:rPr dirty="0" spc="330"/>
              <a:t>   </a:t>
            </a:r>
            <a:r>
              <a:rPr dirty="0"/>
              <a:t>Khepri</a:t>
            </a:r>
            <a:r>
              <a:rPr dirty="0" spc="325"/>
              <a:t>   </a:t>
            </a:r>
            <a:r>
              <a:rPr dirty="0"/>
              <a:t>ofrece</a:t>
            </a:r>
            <a:r>
              <a:rPr dirty="0" spc="330"/>
              <a:t>   </a:t>
            </a:r>
            <a:r>
              <a:rPr dirty="0" spc="65"/>
              <a:t>a</a:t>
            </a:r>
            <a:r>
              <a:rPr dirty="0" spc="325"/>
              <a:t>   </a:t>
            </a:r>
            <a:r>
              <a:rPr dirty="0" spc="-25"/>
              <a:t>las </a:t>
            </a:r>
            <a:r>
              <a:rPr dirty="0"/>
              <a:t>organizaciones</a:t>
            </a:r>
            <a:r>
              <a:rPr dirty="0" spc="220"/>
              <a:t> </a:t>
            </a:r>
            <a:r>
              <a:rPr dirty="0"/>
              <a:t>el</a:t>
            </a:r>
            <a:r>
              <a:rPr dirty="0" spc="220"/>
              <a:t> </a:t>
            </a:r>
            <a:r>
              <a:rPr dirty="0"/>
              <a:t>control</a:t>
            </a:r>
            <a:r>
              <a:rPr dirty="0" spc="220"/>
              <a:t> </a:t>
            </a:r>
            <a:r>
              <a:rPr dirty="0"/>
              <a:t>total</a:t>
            </a:r>
            <a:r>
              <a:rPr dirty="0" spc="220"/>
              <a:t> </a:t>
            </a:r>
            <a:r>
              <a:rPr dirty="0"/>
              <a:t>de</a:t>
            </a:r>
            <a:r>
              <a:rPr dirty="0" spc="220"/>
              <a:t> </a:t>
            </a:r>
            <a:r>
              <a:rPr dirty="0"/>
              <a:t>sus</a:t>
            </a:r>
            <a:r>
              <a:rPr dirty="0" spc="220"/>
              <a:t> </a:t>
            </a:r>
            <a:r>
              <a:rPr dirty="0"/>
              <a:t>operaciones</a:t>
            </a:r>
            <a:r>
              <a:rPr dirty="0" spc="220"/>
              <a:t> </a:t>
            </a:r>
            <a:r>
              <a:rPr dirty="0"/>
              <a:t>logísticas</a:t>
            </a:r>
            <a:r>
              <a:rPr dirty="0" spc="220"/>
              <a:t> </a:t>
            </a:r>
            <a:r>
              <a:rPr dirty="0"/>
              <a:t>en</a:t>
            </a:r>
            <a:r>
              <a:rPr dirty="0" spc="220"/>
              <a:t> </a:t>
            </a:r>
            <a:r>
              <a:rPr dirty="0"/>
              <a:t>tiempo</a:t>
            </a:r>
            <a:r>
              <a:rPr dirty="0" spc="220"/>
              <a:t> </a:t>
            </a:r>
            <a:r>
              <a:rPr dirty="0" spc="40"/>
              <a:t>real.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0590" y="8806876"/>
            <a:ext cx="3667124" cy="9048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5E7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918" y="0"/>
            <a:ext cx="1355725" cy="1631950"/>
          </a:xfrm>
          <a:custGeom>
            <a:avLst/>
            <a:gdLst/>
            <a:ahLst/>
            <a:cxnLst/>
            <a:rect l="l" t="t" r="r" b="b"/>
            <a:pathLst>
              <a:path w="1355725" h="1631950">
                <a:moveTo>
                  <a:pt x="0" y="1631913"/>
                </a:moveTo>
                <a:lnTo>
                  <a:pt x="0" y="0"/>
                </a:lnTo>
                <a:lnTo>
                  <a:pt x="1355335" y="815974"/>
                </a:lnTo>
                <a:lnTo>
                  <a:pt x="0" y="1631913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18" y="3265170"/>
            <a:ext cx="1355725" cy="1631950"/>
          </a:xfrm>
          <a:custGeom>
            <a:avLst/>
            <a:gdLst/>
            <a:ahLst/>
            <a:cxnLst/>
            <a:rect l="l" t="t" r="r" b="b"/>
            <a:pathLst>
              <a:path w="1355725" h="1631950">
                <a:moveTo>
                  <a:pt x="0" y="1631948"/>
                </a:moveTo>
                <a:lnTo>
                  <a:pt x="0" y="0"/>
                </a:lnTo>
                <a:lnTo>
                  <a:pt x="1355335" y="815974"/>
                </a:lnTo>
                <a:lnTo>
                  <a:pt x="0" y="1631948"/>
                </a:lnTo>
                <a:close/>
              </a:path>
            </a:pathLst>
          </a:custGeom>
          <a:solidFill>
            <a:srgbClr val="6998A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3918" y="815974"/>
            <a:ext cx="1355725" cy="3265170"/>
            <a:chOff x="3918" y="815974"/>
            <a:chExt cx="1355725" cy="3265170"/>
          </a:xfrm>
        </p:grpSpPr>
        <p:sp>
          <p:nvSpPr>
            <p:cNvPr id="11" name="object 11"/>
            <p:cNvSpPr/>
            <p:nvPr/>
          </p:nvSpPr>
          <p:spPr>
            <a:xfrm>
              <a:off x="3918" y="2449231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1355335" y="1631913"/>
                  </a:moveTo>
                  <a:lnTo>
                    <a:pt x="0" y="815938"/>
                  </a:lnTo>
                  <a:lnTo>
                    <a:pt x="1355335" y="0"/>
                  </a:lnTo>
                  <a:lnTo>
                    <a:pt x="1355335" y="1631913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918" y="815974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1355335" y="1631913"/>
                  </a:moveTo>
                  <a:lnTo>
                    <a:pt x="0" y="815938"/>
                  </a:lnTo>
                  <a:lnTo>
                    <a:pt x="1355335" y="0"/>
                  </a:lnTo>
                  <a:lnTo>
                    <a:pt x="1355335" y="1631913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3918" y="5713729"/>
            <a:ext cx="1355725" cy="4573270"/>
            <a:chOff x="3918" y="5713729"/>
            <a:chExt cx="1355725" cy="4573270"/>
          </a:xfrm>
        </p:grpSpPr>
        <p:sp>
          <p:nvSpPr>
            <p:cNvPr id="7" name="object 7"/>
            <p:cNvSpPr/>
            <p:nvPr/>
          </p:nvSpPr>
          <p:spPr>
            <a:xfrm>
              <a:off x="3918" y="6530376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0" y="1631913"/>
                  </a:moveTo>
                  <a:lnTo>
                    <a:pt x="0" y="0"/>
                  </a:lnTo>
                  <a:lnTo>
                    <a:pt x="1355335" y="815974"/>
                  </a:lnTo>
                  <a:lnTo>
                    <a:pt x="0" y="1631913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918" y="8162960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0" y="1631913"/>
                  </a:moveTo>
                  <a:lnTo>
                    <a:pt x="0" y="0"/>
                  </a:lnTo>
                  <a:lnTo>
                    <a:pt x="1355335" y="815974"/>
                  </a:lnTo>
                  <a:lnTo>
                    <a:pt x="0" y="1631913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911" y="5713729"/>
              <a:ext cx="1355725" cy="4573905"/>
            </a:xfrm>
            <a:custGeom>
              <a:avLst/>
              <a:gdLst/>
              <a:ahLst/>
              <a:cxnLst/>
              <a:rect l="l" t="t" r="r" b="b"/>
              <a:pathLst>
                <a:path w="1355725" h="4573905">
                  <a:moveTo>
                    <a:pt x="1355331" y="3265208"/>
                  </a:moveTo>
                  <a:lnTo>
                    <a:pt x="0" y="4081145"/>
                  </a:lnTo>
                  <a:lnTo>
                    <a:pt x="817422" y="4573282"/>
                  </a:lnTo>
                  <a:lnTo>
                    <a:pt x="1355331" y="4573282"/>
                  </a:lnTo>
                  <a:lnTo>
                    <a:pt x="1355331" y="3265208"/>
                  </a:lnTo>
                  <a:close/>
                </a:path>
                <a:path w="1355725" h="4573905">
                  <a:moveTo>
                    <a:pt x="1355331" y="0"/>
                  </a:moveTo>
                  <a:lnTo>
                    <a:pt x="0" y="815975"/>
                  </a:lnTo>
                  <a:lnTo>
                    <a:pt x="1355331" y="1631950"/>
                  </a:lnTo>
                  <a:lnTo>
                    <a:pt x="1355331" y="0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1359253" y="0"/>
            <a:ext cx="4066540" cy="8978265"/>
            <a:chOff x="1359253" y="0"/>
            <a:chExt cx="4066540" cy="8978265"/>
          </a:xfrm>
        </p:grpSpPr>
        <p:sp>
          <p:nvSpPr>
            <p:cNvPr id="14" name="object 14"/>
            <p:cNvSpPr/>
            <p:nvPr/>
          </p:nvSpPr>
          <p:spPr>
            <a:xfrm>
              <a:off x="1359242" y="5713729"/>
              <a:ext cx="1355725" cy="3264535"/>
            </a:xfrm>
            <a:custGeom>
              <a:avLst/>
              <a:gdLst/>
              <a:ahLst/>
              <a:cxnLst/>
              <a:rect l="l" t="t" r="r" b="b"/>
              <a:pathLst>
                <a:path w="1355725" h="3264534">
                  <a:moveTo>
                    <a:pt x="1355344" y="2448560"/>
                  </a:moveTo>
                  <a:lnTo>
                    <a:pt x="0" y="1632623"/>
                  </a:lnTo>
                  <a:lnTo>
                    <a:pt x="0" y="3264535"/>
                  </a:lnTo>
                  <a:lnTo>
                    <a:pt x="1355344" y="2448560"/>
                  </a:lnTo>
                  <a:close/>
                </a:path>
                <a:path w="1355725" h="3264534">
                  <a:moveTo>
                    <a:pt x="1355344" y="815975"/>
                  </a:moveTo>
                  <a:lnTo>
                    <a:pt x="0" y="0"/>
                  </a:lnTo>
                  <a:lnTo>
                    <a:pt x="0" y="1631950"/>
                  </a:lnTo>
                  <a:lnTo>
                    <a:pt x="1355344" y="815975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59253" y="4081144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0" y="1631913"/>
                  </a:moveTo>
                  <a:lnTo>
                    <a:pt x="0" y="0"/>
                  </a:lnTo>
                  <a:lnTo>
                    <a:pt x="1355335" y="815974"/>
                  </a:lnTo>
                  <a:lnTo>
                    <a:pt x="0" y="1631913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359253" y="2448559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0" y="1631913"/>
                  </a:moveTo>
                  <a:lnTo>
                    <a:pt x="0" y="0"/>
                  </a:lnTo>
                  <a:lnTo>
                    <a:pt x="1355335" y="815938"/>
                  </a:lnTo>
                  <a:lnTo>
                    <a:pt x="0" y="1631913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59253" y="815974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0" y="1631913"/>
                  </a:moveTo>
                  <a:lnTo>
                    <a:pt x="0" y="0"/>
                  </a:lnTo>
                  <a:lnTo>
                    <a:pt x="1355335" y="815938"/>
                  </a:lnTo>
                  <a:lnTo>
                    <a:pt x="0" y="1631913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359242" y="11"/>
              <a:ext cx="2710815" cy="8162290"/>
            </a:xfrm>
            <a:custGeom>
              <a:avLst/>
              <a:gdLst/>
              <a:ahLst/>
              <a:cxnLst/>
              <a:rect l="l" t="t" r="r" b="b"/>
              <a:pathLst>
                <a:path w="2710815" h="8162290">
                  <a:moveTo>
                    <a:pt x="1355344" y="6530365"/>
                  </a:moveTo>
                  <a:lnTo>
                    <a:pt x="0" y="7346340"/>
                  </a:lnTo>
                  <a:lnTo>
                    <a:pt x="1355344" y="8162277"/>
                  </a:lnTo>
                  <a:lnTo>
                    <a:pt x="1355344" y="6530365"/>
                  </a:lnTo>
                  <a:close/>
                </a:path>
                <a:path w="2710815" h="8162290">
                  <a:moveTo>
                    <a:pt x="1355344" y="0"/>
                  </a:moveTo>
                  <a:lnTo>
                    <a:pt x="0" y="815962"/>
                  </a:lnTo>
                  <a:lnTo>
                    <a:pt x="1355344" y="1631911"/>
                  </a:lnTo>
                  <a:lnTo>
                    <a:pt x="1355344" y="0"/>
                  </a:lnTo>
                  <a:close/>
                </a:path>
                <a:path w="2710815" h="8162290">
                  <a:moveTo>
                    <a:pt x="2710675" y="2448547"/>
                  </a:moveTo>
                  <a:lnTo>
                    <a:pt x="1355344" y="1632585"/>
                  </a:lnTo>
                  <a:lnTo>
                    <a:pt x="1355344" y="3264497"/>
                  </a:lnTo>
                  <a:lnTo>
                    <a:pt x="2710675" y="2448547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14589" y="4897791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0" y="1631913"/>
                  </a:moveTo>
                  <a:lnTo>
                    <a:pt x="0" y="0"/>
                  </a:lnTo>
                  <a:lnTo>
                    <a:pt x="1355335" y="815938"/>
                  </a:lnTo>
                  <a:lnTo>
                    <a:pt x="0" y="1631913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714589" y="5713729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1355335" y="1631949"/>
                  </a:moveTo>
                  <a:lnTo>
                    <a:pt x="0" y="815974"/>
                  </a:lnTo>
                  <a:lnTo>
                    <a:pt x="1355335" y="0"/>
                  </a:lnTo>
                  <a:lnTo>
                    <a:pt x="1355335" y="1631949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714589" y="2448559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1355335" y="1631913"/>
                  </a:moveTo>
                  <a:lnTo>
                    <a:pt x="0" y="815938"/>
                  </a:lnTo>
                  <a:lnTo>
                    <a:pt x="1355335" y="0"/>
                  </a:lnTo>
                  <a:lnTo>
                    <a:pt x="1355335" y="1631913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14589" y="815974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1355335" y="1631913"/>
                  </a:moveTo>
                  <a:lnTo>
                    <a:pt x="0" y="815938"/>
                  </a:lnTo>
                  <a:lnTo>
                    <a:pt x="1355335" y="0"/>
                  </a:lnTo>
                  <a:lnTo>
                    <a:pt x="1355335" y="1631913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069925" y="2448559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0" y="1631913"/>
                  </a:moveTo>
                  <a:lnTo>
                    <a:pt x="0" y="0"/>
                  </a:lnTo>
                  <a:lnTo>
                    <a:pt x="1355335" y="815938"/>
                  </a:lnTo>
                  <a:lnTo>
                    <a:pt x="0" y="1631913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069925" y="815974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0" y="1631913"/>
                  </a:moveTo>
                  <a:lnTo>
                    <a:pt x="0" y="0"/>
                  </a:lnTo>
                  <a:lnTo>
                    <a:pt x="1355335" y="815938"/>
                  </a:lnTo>
                  <a:lnTo>
                    <a:pt x="0" y="1631913"/>
                  </a:lnTo>
                  <a:close/>
                </a:path>
              </a:pathLst>
            </a:custGeom>
            <a:solidFill>
              <a:srgbClr val="406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069925" y="0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1355335" y="1631913"/>
                  </a:moveTo>
                  <a:lnTo>
                    <a:pt x="0" y="815974"/>
                  </a:lnTo>
                  <a:lnTo>
                    <a:pt x="1355335" y="0"/>
                  </a:lnTo>
                  <a:lnTo>
                    <a:pt x="1355335" y="1631913"/>
                  </a:lnTo>
                  <a:close/>
                </a:path>
              </a:pathLst>
            </a:custGeom>
            <a:solidFill>
              <a:srgbClr val="699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069925" y="3265170"/>
              <a:ext cx="1355725" cy="1631950"/>
            </a:xfrm>
            <a:custGeom>
              <a:avLst/>
              <a:gdLst/>
              <a:ahLst/>
              <a:cxnLst/>
              <a:rect l="l" t="t" r="r" b="b"/>
              <a:pathLst>
                <a:path w="1355725" h="1631950">
                  <a:moveTo>
                    <a:pt x="1355335" y="1631948"/>
                  </a:moveTo>
                  <a:lnTo>
                    <a:pt x="0" y="815974"/>
                  </a:lnTo>
                  <a:lnTo>
                    <a:pt x="1355335" y="0"/>
                  </a:lnTo>
                  <a:lnTo>
                    <a:pt x="1355335" y="1631948"/>
                  </a:lnTo>
                  <a:close/>
                </a:path>
              </a:pathLst>
            </a:custGeom>
            <a:solidFill>
              <a:srgbClr val="1837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xfrm>
            <a:off x="8792977" y="3413597"/>
            <a:ext cx="510032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5"/>
              <a:t>G</a:t>
            </a:r>
            <a:r>
              <a:rPr dirty="0" spc="-930"/>
              <a:t> </a:t>
            </a:r>
            <a:r>
              <a:rPr dirty="0" spc="580"/>
              <a:t>R</a:t>
            </a:r>
            <a:r>
              <a:rPr dirty="0" spc="-930"/>
              <a:t> </a:t>
            </a:r>
            <a:r>
              <a:rPr dirty="0" spc="-114"/>
              <a:t>A</a:t>
            </a:r>
            <a:r>
              <a:rPr dirty="0" spc="-930"/>
              <a:t> </a:t>
            </a:r>
            <a:r>
              <a:rPr dirty="0" spc="-120"/>
              <a:t>C</a:t>
            </a:r>
            <a:r>
              <a:rPr dirty="0" spc="-930"/>
              <a:t> </a:t>
            </a:r>
            <a:r>
              <a:rPr dirty="0" spc="340"/>
              <a:t>I</a:t>
            </a:r>
            <a:r>
              <a:rPr dirty="0" spc="-930"/>
              <a:t> </a:t>
            </a:r>
            <a:r>
              <a:rPr dirty="0" spc="-114"/>
              <a:t>A</a:t>
            </a:r>
            <a:r>
              <a:rPr dirty="0" spc="-930"/>
              <a:t> </a:t>
            </a:r>
            <a:r>
              <a:rPr dirty="0" spc="735"/>
              <a:t>S</a:t>
            </a: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1016" y="6866503"/>
            <a:ext cx="1028699" cy="1028699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8245715" y="7062213"/>
            <a:ext cx="1372870" cy="60642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 marR="5080">
              <a:lnSpc>
                <a:spcPts val="2080"/>
              </a:lnSpc>
              <a:spcBef>
                <a:spcPts val="515"/>
              </a:spcBef>
            </a:pPr>
            <a:r>
              <a:rPr dirty="0" sz="2050" spc="40" b="1">
                <a:solidFill>
                  <a:srgbClr val="18374D"/>
                </a:solidFill>
                <a:latin typeface="Century Gothic"/>
                <a:cs typeface="Century Gothic"/>
              </a:rPr>
              <a:t>KHEPRI </a:t>
            </a:r>
            <a:r>
              <a:rPr dirty="0" sz="2050" spc="-10" b="1">
                <a:solidFill>
                  <a:srgbClr val="18374D"/>
                </a:solidFill>
                <a:latin typeface="Century Gothic"/>
                <a:cs typeface="Century Gothic"/>
              </a:rPr>
              <a:t>SOFTWARE</a:t>
            </a:r>
            <a:endParaRPr sz="2050">
              <a:latin typeface="Century Gothic"/>
              <a:cs typeface="Century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20405" y="6751508"/>
            <a:ext cx="38100" cy="3535679"/>
          </a:xfrm>
          <a:custGeom>
            <a:avLst/>
            <a:gdLst/>
            <a:ahLst/>
            <a:cxnLst/>
            <a:rect l="l" t="t" r="r" b="b"/>
            <a:pathLst>
              <a:path w="38100" h="3535679">
                <a:moveTo>
                  <a:pt x="38099" y="0"/>
                </a:moveTo>
                <a:lnTo>
                  <a:pt x="38099" y="3535490"/>
                </a:lnTo>
                <a:lnTo>
                  <a:pt x="0" y="3535490"/>
                </a:lnTo>
                <a:lnTo>
                  <a:pt x="0" y="0"/>
                </a:lnTo>
                <a:lnTo>
                  <a:pt x="38099" y="0"/>
                </a:lnTo>
                <a:close/>
              </a:path>
            </a:pathLst>
          </a:custGeom>
          <a:solidFill>
            <a:srgbClr val="1837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1924034" y="6707133"/>
            <a:ext cx="4114165" cy="129032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59"/>
              </a:spcBef>
            </a:pPr>
            <a:r>
              <a:rPr dirty="0" sz="2800" spc="90">
                <a:solidFill>
                  <a:srgbClr val="18374D"/>
                </a:solidFill>
                <a:latin typeface="Calibri"/>
                <a:cs typeface="Calibri"/>
              </a:rPr>
              <a:t>@khepri </a:t>
            </a:r>
            <a:r>
              <a:rPr dirty="0" sz="2800" spc="130">
                <a:solidFill>
                  <a:srgbClr val="18374D"/>
                </a:solidFill>
                <a:latin typeface="Calibri"/>
                <a:cs typeface="Calibri"/>
                <a:hlinkClick r:id="rId3"/>
              </a:rPr>
              <a:t>warehouses@khepri.com</a:t>
            </a:r>
            <a:r>
              <a:rPr dirty="0" sz="2800" spc="130">
                <a:solidFill>
                  <a:srgbClr val="18374D"/>
                </a:solidFill>
                <a:latin typeface="Calibri"/>
                <a:cs typeface="Calibri"/>
              </a:rPr>
              <a:t> </a:t>
            </a:r>
            <a:r>
              <a:rPr dirty="0" u="heavy" sz="2800" spc="155">
                <a:solidFill>
                  <a:srgbClr val="18374D"/>
                </a:solidFill>
                <a:uFill>
                  <a:solidFill>
                    <a:srgbClr val="18374D"/>
                  </a:solidFill>
                </a:uFill>
                <a:latin typeface="Calibri"/>
                <a:cs typeface="Calibri"/>
                <a:hlinkClick r:id="rId4"/>
              </a:rPr>
              <a:t>www.khepri.com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90590" y="8806876"/>
            <a:ext cx="3667124" cy="9048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8374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GARY ROLANDO VILLEGAS BURGOS</dc:creator>
  <cp:keywords>DAHUMcHHqIA,BAF-kbP-qyI</cp:keywords>
  <dc:title>Presentación Capstone 1</dc:title>
  <dcterms:created xsi:type="dcterms:W3CDTF">2026-09-14T15:37:02Z</dcterms:created>
  <dcterms:modified xsi:type="dcterms:W3CDTF">2026-09-14T15:37:02Z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2026-09-10T00:00:00Z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2026-09-14T00:00:00Z</vt:filetime>
  </property>
  <property fmtid="{D5CDD505-2E9C-101B-9397-08002B2CF9AE}" pid="6" name="Producer">
    <vt:lpwstr>Canva</vt:lpwstr>
  </property>
</Properties>
</file>